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4" r:id="rId3"/>
    <p:sldId id="262" r:id="rId4"/>
    <p:sldId id="259" r:id="rId5"/>
    <p:sldId id="258" r:id="rId6"/>
    <p:sldId id="265" r:id="rId7"/>
    <p:sldId id="266" r:id="rId8"/>
    <p:sldId id="267" r:id="rId9"/>
    <p:sldId id="268" r:id="rId10"/>
    <p:sldId id="257" r:id="rId11"/>
    <p:sldId id="261"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A6A213FF-BE92-4A70-8D4E-D97CD1235A98}">
          <p14:sldIdLst>
            <p14:sldId id="256"/>
            <p14:sldId id="264"/>
            <p14:sldId id="262"/>
            <p14:sldId id="259"/>
            <p14:sldId id="258"/>
            <p14:sldId id="265"/>
            <p14:sldId id="266"/>
            <p14:sldId id="267"/>
            <p14:sldId id="268"/>
          </p14:sldIdLst>
        </p14:section>
        <p14:section name="Archive" id="{4874AD55-2B85-4AC4-9C5D-3D40E2B08882}">
          <p14:sldIdLst>
            <p14:sldId id="257"/>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660B"/>
    <a:srgbClr val="0FA3B1"/>
    <a:srgbClr val="F0FB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0784" autoAdjust="0"/>
  </p:normalViewPr>
  <p:slideViewPr>
    <p:cSldViewPr snapToGrid="0" snapToObjects="1">
      <p:cViewPr>
        <p:scale>
          <a:sx n="88" d="100"/>
          <a:sy n="88" d="100"/>
        </p:scale>
        <p:origin x="466" y="-4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9328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que la cible n'est pas de créer une nouvelle plateforme isolée pour chaque besoin. La logique est de construire progressivement un même backbone de livraison : d'abord accélérer les traitements Data, puis les industrialiser, publier des services, et enfin intégrer le cycle de vie ML — qui sert ensuite de socle aux usages d'IA. Le message pour le board : un seul investissement structurant, réutilisé par toutes les initiatives Data, Digital et IA, plutôt que des outillages dupliqués à chaque projet.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que les 8 paliers (0 à 7) ne sont pas des projets indépendants : chaque étape réutilise les capacités construites précédemment. Le palier 1 (Accélérer) est déjà en cours — c'est une preuve de traction, pas une promesse. Le volet ML est désormais scindé en deux paliers de delivery : ML Products (industrialiser la production des modèles) et ML Services (les servir et les opérer) — détaillés dans le slide de zoom suivant. Donner l'exemple de platformctl : aujourd'hui, accélération et standardisation du développement Data ; ensuite, utilisation dans les pipelines CI/CD ; puis intégration avec DataOps/GitOps/gouvernance ; à terme, même logique de delivery pour les services et les modèles. Chaque ligne du tableau doit être lue comme une décision d'investissement : un livrable identifiable, une valeur business associée.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slide zoome sur le socle Data Engineering de la trajectoire principale (paliers 0 à 4). M0 est livré (architecture cible et fondations posées), M1 est en cours (standardisation et CLI platformctl). M2 industrialise le delivery (CI/CD, DataOps, GitOps) ; M3 fédère et ouvre le self-service via le portail ; M4 expose la donnée en services consommables. Le message pour le board : ce socle Data Engineering est la fondation sur laquelle s'appuient ensuite les paliers ML détaillés dans le slide suivant.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slide zoome sur le palier ML de la trajectoire principale (paliers 5 et 6 fusionnés en vue globale). M5 industrialise la production des modèles (cycle de vie, reproductibilité, CI/CD ML), M6 les met en service et les opère (déploiement, monitoring, gestion du drift). M7 n'est volontairement pas un jalon à durée fixe : c'est un effort continu de convergence, commun avec la trajectoire Data Engineering déjà présentée — il unifie les patterns, les outils et l'expérience Data Engineer / Data Scientist, et boucle l'amélioration continue de la plateforme. Le message pour le board : le ML n'est pas une trajectoire séparée, il rejoint le même backbone et la même logique de convergence.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le fait qu'il ne s'agit pas d'un programme 'Big Bang'. Chaque étape doit être suffisamment petite pour être livrée, mesurée et adoptée. La phase d'exploration est volontairement prévue dans le planning afin d'éviter de figer trop tôt des choix techniques. L'onboarding est une composante du delivery, pas une activité postérieure au projet. Terminer sur l'idée que la maturité cible sera atteinte par accumulation de capacités réutilisables, et non par multiplication de projets techniques.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que les 7 paliers (0 à 6) ne sont pas des projets indépendants : chaque étape réutilise les capacités construites précédemment. Le palier 1 (Accélérer) est déjà en cours — c'est une preuve de traction, pas une promesse. Donner l'exemple de platformctl : aujourd'hui, accélération et standardisation du développement Data ; ensuite, utilisation dans les pipelines CI/CD ; puis intégration avec DataOps/GitOps/gouvernance ; à terme, même logique de delivery pour les services et les modèles. Chaque ligne du tableau doit être lue comme une décision d'investissement : un livrable identifiable, une valeur business associée.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planning est indicatif, pas un engagement calendaire : il montre la logique de dépendance et de chevauchement entre Data Engineering et ML, pas une séquence stricte. Le socle Data Engineering (M0-M4) avance en continu ; les paliers ML (M5-M6) démarrent dès que les fondations nécessaires sont posées, sans attendre la fin complète du socle Data. Le scénario présenté ici est la baseline à 2 développeurs plateforme. Le nombre de ressources allouées fait varier la durée de chaque palier : un scénario dynamique à 1, 2 ou 3 développeurs peut être présenté séparément pour illustrer l'effet sur le calendrier global.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lIns="0" tIns="0" rIns="0" bIns="0" rtlCol="0" anchor="t"/>
          <a:lstStyle/>
          <a:p>
            <a:pPr marL="0" indent="0" algn="l">
              <a:buNone/>
            </a:pPr>
            <a:r>
              <a:rPr lang="en-US" sz="3000" b="1" dirty="0">
                <a:solidFill>
                  <a:srgbClr val="FFFFFF"/>
                </a:solidFill>
                <a:latin typeface="Cambria" pitchFamily="34" charset="0"/>
                <a:ea typeface="Cambria" pitchFamily="34" charset="-122"/>
                <a:cs typeface="Cambria" pitchFamily="34" charset="-120"/>
              </a:rPr>
              <a:t>Une plateforme unifiée pour livrer Data, Services et ML</a:t>
            </a:r>
            <a:endParaRPr lang="en-US" sz="3000" dirty="0"/>
          </a:p>
        </p:txBody>
      </p:sp>
      <p:sp>
        <p:nvSpPr>
          <p:cNvPr id="3" name="Text 1"/>
          <p:cNvSpPr/>
          <p:nvPr/>
        </p:nvSpPr>
        <p:spPr>
          <a:xfrm>
            <a:off x="548640" y="1170432"/>
            <a:ext cx="11094415" cy="457200"/>
          </a:xfrm>
          <a:prstGeom prst="rect">
            <a:avLst/>
          </a:prstGeom>
          <a:noFill/>
          <a:ln/>
        </p:spPr>
        <p:txBody>
          <a:bodyPr wrap="square" lIns="0" tIns="0" rIns="0" bIns="0" rtlCol="0" anchor="t"/>
          <a:lstStyle/>
          <a:p>
            <a:pPr marL="0" indent="0" algn="l">
              <a:buNone/>
            </a:pPr>
            <a:r>
              <a:rPr lang="en-US" sz="1400" i="1" dirty="0">
                <a:solidFill>
                  <a:srgbClr val="CADCFC"/>
                </a:solidFill>
                <a:latin typeface="Calibri" pitchFamily="34" charset="0"/>
                <a:ea typeface="Calibri" pitchFamily="34" charset="-122"/>
                <a:cs typeface="Calibri" pitchFamily="34" charset="-120"/>
              </a:rPr>
              <a:t>Un seul backbone de delivery — chaque livrable est produit plus vite, moins cher, et mieux gouverné.</a:t>
            </a:r>
            <a:endParaRPr lang="en-US" sz="1400" dirty="0"/>
          </a:p>
        </p:txBody>
      </p:sp>
      <p:sp>
        <p:nvSpPr>
          <p:cNvPr id="4" name="Shape 2"/>
          <p:cNvSpPr/>
          <p:nvPr/>
        </p:nvSpPr>
        <p:spPr>
          <a:xfrm>
            <a:off x="700888" y="1965960"/>
            <a:ext cx="3383280" cy="2788920"/>
          </a:xfrm>
          <a:prstGeom prst="roundRect">
            <a:avLst>
              <a:gd name="adj" fmla="val 2623"/>
            </a:avLst>
          </a:prstGeom>
          <a:solidFill>
            <a:srgbClr val="141B45"/>
          </a:solidFill>
          <a:ln/>
        </p:spPr>
        <p:txBody>
          <a:bodyPr/>
          <a:lstStyle/>
          <a:p>
            <a:endParaRPr lang="fr-FR"/>
          </a:p>
        </p:txBody>
      </p:sp>
      <p:sp>
        <p:nvSpPr>
          <p:cNvPr id="5" name="Text 3"/>
          <p:cNvSpPr/>
          <p:nvPr/>
        </p:nvSpPr>
        <p:spPr>
          <a:xfrm>
            <a:off x="929488" y="2167128"/>
            <a:ext cx="2926080" cy="365760"/>
          </a:xfrm>
          <a:prstGeom prst="rect">
            <a:avLst/>
          </a:prstGeom>
          <a:noFill/>
          <a:ln/>
        </p:spPr>
        <p:txBody>
          <a:bodyPr wrap="square" lIns="0" tIns="0" rIns="0" bIns="0" rtlCol="0" anchor="ctr"/>
          <a:lstStyle/>
          <a:p>
            <a:pPr marL="0" indent="0" algn="l">
              <a:buNone/>
            </a:pPr>
            <a:r>
              <a:rPr lang="en-US" sz="1600" b="1" dirty="0">
                <a:solidFill>
                  <a:srgbClr val="0FA3B1"/>
                </a:solidFill>
                <a:latin typeface="Cambria" pitchFamily="34" charset="0"/>
                <a:ea typeface="Cambria" pitchFamily="34" charset="-122"/>
                <a:cs typeface="Cambria" pitchFamily="34" charset="-120"/>
              </a:rPr>
              <a:t>DATA</a:t>
            </a:r>
            <a:endParaRPr lang="en-US" sz="1600" dirty="0"/>
          </a:p>
        </p:txBody>
      </p:sp>
      <p:sp>
        <p:nvSpPr>
          <p:cNvPr id="6" name="Text 4"/>
          <p:cNvSpPr/>
          <p:nvPr/>
        </p:nvSpPr>
        <p:spPr>
          <a:xfrm>
            <a:off x="929488" y="2624328"/>
            <a:ext cx="2926080" cy="274320"/>
          </a:xfrm>
          <a:prstGeom prst="rect">
            <a:avLst/>
          </a:prstGeom>
          <a:noFill/>
          <a:ln/>
        </p:spPr>
        <p:txBody>
          <a:bodyPr wrap="square" lIns="0" tIns="0" rIns="0" bIns="0" rtlCol="0" anchor="ctr"/>
          <a:lstStyle/>
          <a:p>
            <a:pPr marL="0" indent="0" algn="l">
              <a:buNone/>
            </a:pPr>
            <a:r>
              <a:rPr lang="en-US" sz="1000" b="1" kern="0" spc="100" dirty="0">
                <a:solidFill>
                  <a:srgbClr val="CADCFC"/>
                </a:solidFill>
                <a:latin typeface="Calibri" pitchFamily="34" charset="0"/>
                <a:ea typeface="Calibri" pitchFamily="34" charset="-122"/>
                <a:cs typeface="Calibri" pitchFamily="34" charset="-120"/>
              </a:rPr>
              <a:t>LIVRABLE CONCRET</a:t>
            </a:r>
            <a:endParaRPr lang="en-US" sz="1000" dirty="0"/>
          </a:p>
        </p:txBody>
      </p:sp>
      <p:sp>
        <p:nvSpPr>
          <p:cNvPr id="7" name="Text 5"/>
          <p:cNvSpPr/>
          <p:nvPr/>
        </p:nvSpPr>
        <p:spPr>
          <a:xfrm>
            <a:off x="929488" y="2898648"/>
            <a:ext cx="2926080" cy="777240"/>
          </a:xfrm>
          <a:prstGeom prst="rect">
            <a:avLst/>
          </a:prstGeom>
          <a:noFill/>
          <a:ln/>
        </p:spPr>
        <p:txBody>
          <a:bodyPr wrap="square" lIns="0" tIns="0" rIns="0" bIns="0" rtlCol="0" anchor="t"/>
          <a:lstStyle/>
          <a:p>
            <a:pPr marL="0" indent="0" algn="l">
              <a:buNone/>
            </a:pPr>
            <a:r>
              <a:rPr lang="en-US" sz="1300" dirty="0">
                <a:solidFill>
                  <a:srgbClr val="FFFFFF"/>
                </a:solidFill>
                <a:latin typeface="Calibri" pitchFamily="34" charset="0"/>
                <a:ea typeface="Calibri" pitchFamily="34" charset="-122"/>
                <a:cs typeface="Calibri" pitchFamily="34" charset="-120"/>
              </a:rPr>
              <a:t>Data Products</a:t>
            </a:r>
            <a:endParaRPr lang="en-US" sz="1300" dirty="0"/>
          </a:p>
          <a:p>
            <a:pPr marL="0" indent="0" algn="l">
              <a:buNone/>
            </a:pPr>
            <a:r>
              <a:rPr lang="en-US" sz="1300" dirty="0">
                <a:solidFill>
                  <a:srgbClr val="FFFFFF"/>
                </a:solidFill>
                <a:latin typeface="Calibri" pitchFamily="34" charset="0"/>
                <a:ea typeface="Calibri" pitchFamily="34" charset="-122"/>
                <a:cs typeface="Calibri" pitchFamily="34" charset="-120"/>
              </a:rPr>
              <a:t>(données fiables, versionnées)</a:t>
            </a:r>
            <a:endParaRPr lang="en-US" sz="1300" dirty="0"/>
          </a:p>
        </p:txBody>
      </p:sp>
      <p:sp>
        <p:nvSpPr>
          <p:cNvPr id="8" name="Shape 6"/>
          <p:cNvSpPr/>
          <p:nvPr/>
        </p:nvSpPr>
        <p:spPr>
          <a:xfrm>
            <a:off x="929488" y="3721608"/>
            <a:ext cx="2926080" cy="0"/>
          </a:xfrm>
          <a:prstGeom prst="line">
            <a:avLst/>
          </a:prstGeom>
          <a:noFill/>
          <a:ln w="9525">
            <a:solidFill>
              <a:srgbClr val="3A4380"/>
            </a:solidFill>
            <a:prstDash val="solid"/>
          </a:ln>
        </p:spPr>
        <p:txBody>
          <a:bodyPr/>
          <a:lstStyle/>
          <a:p>
            <a:endParaRPr lang="fr-FR"/>
          </a:p>
        </p:txBody>
      </p:sp>
      <p:sp>
        <p:nvSpPr>
          <p:cNvPr id="9" name="Text 7"/>
          <p:cNvSpPr/>
          <p:nvPr/>
        </p:nvSpPr>
        <p:spPr>
          <a:xfrm>
            <a:off x="929488" y="3840480"/>
            <a:ext cx="2926080" cy="274320"/>
          </a:xfrm>
          <a:prstGeom prst="rect">
            <a:avLst/>
          </a:prstGeom>
          <a:noFill/>
          <a:ln/>
        </p:spPr>
        <p:txBody>
          <a:bodyPr wrap="square" lIns="0" tIns="0" rIns="0" bIns="0" rtlCol="0" anchor="ctr"/>
          <a:lstStyle/>
          <a:p>
            <a:pPr marL="0" indent="0" algn="l">
              <a:buNone/>
            </a:pPr>
            <a:r>
              <a:rPr lang="en-US" sz="1000" b="1" kern="0" spc="100" dirty="0">
                <a:solidFill>
                  <a:srgbClr val="C9A24B"/>
                </a:solidFill>
                <a:latin typeface="Calibri" pitchFamily="34" charset="0"/>
                <a:ea typeface="Calibri" pitchFamily="34" charset="-122"/>
                <a:cs typeface="Calibri" pitchFamily="34" charset="-120"/>
              </a:rPr>
              <a:t>BÉNÉFICE BUSINESS</a:t>
            </a:r>
            <a:endParaRPr lang="en-US" sz="1000" dirty="0"/>
          </a:p>
        </p:txBody>
      </p:sp>
      <p:sp>
        <p:nvSpPr>
          <p:cNvPr id="10" name="Text 8"/>
          <p:cNvSpPr/>
          <p:nvPr/>
        </p:nvSpPr>
        <p:spPr>
          <a:xfrm>
            <a:off x="929488" y="4114800"/>
            <a:ext cx="2926080" cy="548640"/>
          </a:xfrm>
          <a:prstGeom prst="rect">
            <a:avLst/>
          </a:prstGeom>
          <a:noFill/>
          <a:ln/>
        </p:spPr>
        <p:txBody>
          <a:bodyPr wrap="square" lIns="0" tIns="0" rIns="0" bIns="0" rtlCol="0" anchor="t"/>
          <a:lstStyle/>
          <a:p>
            <a:pPr marL="0" indent="0" algn="l">
              <a:buNone/>
            </a:pPr>
            <a:r>
              <a:rPr lang="en-US" sz="1300" dirty="0">
                <a:solidFill>
                  <a:srgbClr val="FFFFFF"/>
                </a:solidFill>
                <a:latin typeface="Calibri" pitchFamily="34" charset="0"/>
                <a:ea typeface="Calibri" pitchFamily="34" charset="-122"/>
                <a:cs typeface="Calibri" pitchFamily="34" charset="-120"/>
              </a:rPr>
              <a:t>Décisions plus rapides et plus sûres</a:t>
            </a:r>
            <a:endParaRPr lang="en-US" sz="1300" dirty="0"/>
          </a:p>
        </p:txBody>
      </p:sp>
      <p:sp>
        <p:nvSpPr>
          <p:cNvPr id="11" name="Shape 9"/>
          <p:cNvSpPr/>
          <p:nvPr/>
        </p:nvSpPr>
        <p:spPr>
          <a:xfrm>
            <a:off x="4404208" y="1965960"/>
            <a:ext cx="3383280" cy="2788920"/>
          </a:xfrm>
          <a:prstGeom prst="roundRect">
            <a:avLst>
              <a:gd name="adj" fmla="val 2623"/>
            </a:avLst>
          </a:prstGeom>
          <a:solidFill>
            <a:srgbClr val="141B45"/>
          </a:solidFill>
          <a:ln/>
        </p:spPr>
        <p:txBody>
          <a:bodyPr/>
          <a:lstStyle/>
          <a:p>
            <a:endParaRPr lang="fr-FR"/>
          </a:p>
        </p:txBody>
      </p:sp>
      <p:sp>
        <p:nvSpPr>
          <p:cNvPr id="12" name="Text 10"/>
          <p:cNvSpPr/>
          <p:nvPr/>
        </p:nvSpPr>
        <p:spPr>
          <a:xfrm>
            <a:off x="4632808" y="2167128"/>
            <a:ext cx="2926080" cy="365760"/>
          </a:xfrm>
          <a:prstGeom prst="rect">
            <a:avLst/>
          </a:prstGeom>
          <a:noFill/>
          <a:ln/>
        </p:spPr>
        <p:txBody>
          <a:bodyPr wrap="square" lIns="0" tIns="0" rIns="0" bIns="0" rtlCol="0" anchor="ctr"/>
          <a:lstStyle/>
          <a:p>
            <a:pPr marL="0" indent="0" algn="l">
              <a:buNone/>
            </a:pPr>
            <a:r>
              <a:rPr lang="en-US" sz="1600" b="1" dirty="0">
                <a:solidFill>
                  <a:srgbClr val="0FA3B1"/>
                </a:solidFill>
                <a:latin typeface="Cambria" pitchFamily="34" charset="0"/>
                <a:ea typeface="Cambria" pitchFamily="34" charset="-122"/>
                <a:cs typeface="Cambria" pitchFamily="34" charset="-120"/>
              </a:rPr>
              <a:t>SERVICES</a:t>
            </a:r>
            <a:endParaRPr lang="en-US" sz="1600" dirty="0"/>
          </a:p>
        </p:txBody>
      </p:sp>
      <p:sp>
        <p:nvSpPr>
          <p:cNvPr id="13" name="Text 11"/>
          <p:cNvSpPr/>
          <p:nvPr/>
        </p:nvSpPr>
        <p:spPr>
          <a:xfrm>
            <a:off x="4632808" y="2624328"/>
            <a:ext cx="2926080" cy="274320"/>
          </a:xfrm>
          <a:prstGeom prst="rect">
            <a:avLst/>
          </a:prstGeom>
          <a:noFill/>
          <a:ln/>
        </p:spPr>
        <p:txBody>
          <a:bodyPr wrap="square" lIns="0" tIns="0" rIns="0" bIns="0" rtlCol="0" anchor="ctr"/>
          <a:lstStyle/>
          <a:p>
            <a:pPr marL="0" indent="0" algn="l">
              <a:buNone/>
            </a:pPr>
            <a:r>
              <a:rPr lang="en-US" sz="1000" b="1" kern="0" spc="100" dirty="0">
                <a:solidFill>
                  <a:srgbClr val="CADCFC"/>
                </a:solidFill>
                <a:latin typeface="Calibri" pitchFamily="34" charset="0"/>
                <a:ea typeface="Calibri" pitchFamily="34" charset="-122"/>
                <a:cs typeface="Calibri" pitchFamily="34" charset="-120"/>
              </a:rPr>
              <a:t>LIVRABLE CONCRET</a:t>
            </a:r>
            <a:endParaRPr lang="en-US" sz="1000" dirty="0"/>
          </a:p>
        </p:txBody>
      </p:sp>
      <p:sp>
        <p:nvSpPr>
          <p:cNvPr id="14" name="Text 12"/>
          <p:cNvSpPr/>
          <p:nvPr/>
        </p:nvSpPr>
        <p:spPr>
          <a:xfrm>
            <a:off x="4632808" y="2898648"/>
            <a:ext cx="2926080" cy="777240"/>
          </a:xfrm>
          <a:prstGeom prst="rect">
            <a:avLst/>
          </a:prstGeom>
          <a:noFill/>
          <a:ln/>
        </p:spPr>
        <p:txBody>
          <a:bodyPr wrap="square" lIns="0" tIns="0" rIns="0" bIns="0" rtlCol="0" anchor="t"/>
          <a:lstStyle/>
          <a:p>
            <a:pPr marL="0" indent="0" algn="l">
              <a:buNone/>
            </a:pPr>
            <a:r>
              <a:rPr lang="en-US" sz="1300" dirty="0">
                <a:solidFill>
                  <a:srgbClr val="FFFFFF"/>
                </a:solidFill>
                <a:latin typeface="Calibri" pitchFamily="34" charset="0"/>
                <a:ea typeface="Calibri" pitchFamily="34" charset="-122"/>
                <a:cs typeface="Calibri" pitchFamily="34" charset="-120"/>
              </a:rPr>
              <a:t>API / flux de données</a:t>
            </a:r>
            <a:endParaRPr lang="en-US" sz="1300" dirty="0"/>
          </a:p>
          <a:p>
            <a:pPr marL="0" indent="0" algn="l">
              <a:buNone/>
            </a:pPr>
            <a:r>
              <a:rPr lang="en-US" sz="1300" dirty="0">
                <a:solidFill>
                  <a:srgbClr val="FFFFFF"/>
                </a:solidFill>
                <a:latin typeface="Calibri" pitchFamily="34" charset="0"/>
                <a:ea typeface="Calibri" pitchFamily="34" charset="-122"/>
                <a:cs typeface="Calibri" pitchFamily="34" charset="-120"/>
              </a:rPr>
              <a:t>consommables</a:t>
            </a:r>
            <a:endParaRPr lang="en-US" sz="1300" dirty="0"/>
          </a:p>
        </p:txBody>
      </p:sp>
      <p:sp>
        <p:nvSpPr>
          <p:cNvPr id="15" name="Shape 13"/>
          <p:cNvSpPr/>
          <p:nvPr/>
        </p:nvSpPr>
        <p:spPr>
          <a:xfrm>
            <a:off x="4632808" y="3721608"/>
            <a:ext cx="2926080" cy="0"/>
          </a:xfrm>
          <a:prstGeom prst="line">
            <a:avLst/>
          </a:prstGeom>
          <a:noFill/>
          <a:ln w="9525">
            <a:solidFill>
              <a:srgbClr val="3A4380"/>
            </a:solidFill>
            <a:prstDash val="solid"/>
          </a:ln>
        </p:spPr>
        <p:txBody>
          <a:bodyPr/>
          <a:lstStyle/>
          <a:p>
            <a:endParaRPr lang="fr-FR"/>
          </a:p>
        </p:txBody>
      </p:sp>
      <p:sp>
        <p:nvSpPr>
          <p:cNvPr id="16" name="Text 14"/>
          <p:cNvSpPr/>
          <p:nvPr/>
        </p:nvSpPr>
        <p:spPr>
          <a:xfrm>
            <a:off x="4632808" y="3840480"/>
            <a:ext cx="2926080" cy="274320"/>
          </a:xfrm>
          <a:prstGeom prst="rect">
            <a:avLst/>
          </a:prstGeom>
          <a:noFill/>
          <a:ln/>
        </p:spPr>
        <p:txBody>
          <a:bodyPr wrap="square" lIns="0" tIns="0" rIns="0" bIns="0" rtlCol="0" anchor="ctr"/>
          <a:lstStyle/>
          <a:p>
            <a:pPr marL="0" indent="0" algn="l">
              <a:buNone/>
            </a:pPr>
            <a:r>
              <a:rPr lang="en-US" sz="1000" b="1" kern="0" spc="100" dirty="0">
                <a:solidFill>
                  <a:srgbClr val="C9A24B"/>
                </a:solidFill>
                <a:latin typeface="Calibri" pitchFamily="34" charset="0"/>
                <a:ea typeface="Calibri" pitchFamily="34" charset="-122"/>
                <a:cs typeface="Calibri" pitchFamily="34" charset="-120"/>
              </a:rPr>
              <a:t>BÉNÉFICE BUSINESS</a:t>
            </a:r>
            <a:endParaRPr lang="en-US" sz="1000" dirty="0"/>
          </a:p>
        </p:txBody>
      </p:sp>
      <p:sp>
        <p:nvSpPr>
          <p:cNvPr id="17" name="Text 15"/>
          <p:cNvSpPr/>
          <p:nvPr/>
        </p:nvSpPr>
        <p:spPr>
          <a:xfrm>
            <a:off x="4632808" y="4114800"/>
            <a:ext cx="2926080" cy="548640"/>
          </a:xfrm>
          <a:prstGeom prst="rect">
            <a:avLst/>
          </a:prstGeom>
          <a:noFill/>
          <a:ln/>
        </p:spPr>
        <p:txBody>
          <a:bodyPr wrap="square" lIns="0" tIns="0" rIns="0" bIns="0" rtlCol="0" anchor="t"/>
          <a:lstStyle/>
          <a:p>
            <a:pPr marL="0" indent="0" algn="l">
              <a:buNone/>
            </a:pPr>
            <a:r>
              <a:rPr lang="en-US" sz="1300" dirty="0">
                <a:solidFill>
                  <a:srgbClr val="FFFFFF"/>
                </a:solidFill>
                <a:latin typeface="Calibri" pitchFamily="34" charset="0"/>
                <a:ea typeface="Calibri" pitchFamily="34" charset="-122"/>
                <a:cs typeface="Calibri" pitchFamily="34" charset="-120"/>
              </a:rPr>
              <a:t>Nouveaux usages digitaux, sans dépendre de l'IT à chaque fois</a:t>
            </a:r>
            <a:endParaRPr lang="en-US" sz="1300" dirty="0"/>
          </a:p>
        </p:txBody>
      </p:sp>
      <p:sp>
        <p:nvSpPr>
          <p:cNvPr id="18" name="Shape 16"/>
          <p:cNvSpPr/>
          <p:nvPr/>
        </p:nvSpPr>
        <p:spPr>
          <a:xfrm>
            <a:off x="8107528" y="1965960"/>
            <a:ext cx="3383280" cy="2788920"/>
          </a:xfrm>
          <a:prstGeom prst="roundRect">
            <a:avLst>
              <a:gd name="adj" fmla="val 2623"/>
            </a:avLst>
          </a:prstGeom>
          <a:solidFill>
            <a:srgbClr val="141B45"/>
          </a:solidFill>
          <a:ln/>
        </p:spPr>
        <p:txBody>
          <a:bodyPr/>
          <a:lstStyle/>
          <a:p>
            <a:endParaRPr lang="fr-FR"/>
          </a:p>
        </p:txBody>
      </p:sp>
      <p:sp>
        <p:nvSpPr>
          <p:cNvPr id="19" name="Text 17"/>
          <p:cNvSpPr/>
          <p:nvPr/>
        </p:nvSpPr>
        <p:spPr>
          <a:xfrm>
            <a:off x="8336128" y="2167128"/>
            <a:ext cx="2926080" cy="365760"/>
          </a:xfrm>
          <a:prstGeom prst="rect">
            <a:avLst/>
          </a:prstGeom>
          <a:noFill/>
          <a:ln/>
        </p:spPr>
        <p:txBody>
          <a:bodyPr wrap="square" lIns="0" tIns="0" rIns="0" bIns="0" rtlCol="0" anchor="ctr"/>
          <a:lstStyle/>
          <a:p>
            <a:pPr marL="0" indent="0" algn="l">
              <a:buNone/>
            </a:pPr>
            <a:r>
              <a:rPr lang="en-US" sz="1600" b="1" dirty="0">
                <a:solidFill>
                  <a:srgbClr val="0FA3B1"/>
                </a:solidFill>
                <a:latin typeface="Cambria" pitchFamily="34" charset="0"/>
                <a:ea typeface="Cambria" pitchFamily="34" charset="-122"/>
                <a:cs typeface="Cambria" pitchFamily="34" charset="-120"/>
              </a:rPr>
              <a:t>ML</a:t>
            </a:r>
            <a:endParaRPr lang="en-US" sz="1600" dirty="0"/>
          </a:p>
        </p:txBody>
      </p:sp>
      <p:sp>
        <p:nvSpPr>
          <p:cNvPr id="20" name="Text 18"/>
          <p:cNvSpPr/>
          <p:nvPr/>
        </p:nvSpPr>
        <p:spPr>
          <a:xfrm>
            <a:off x="8336128" y="2624328"/>
            <a:ext cx="2926080" cy="274320"/>
          </a:xfrm>
          <a:prstGeom prst="rect">
            <a:avLst/>
          </a:prstGeom>
          <a:noFill/>
          <a:ln/>
        </p:spPr>
        <p:txBody>
          <a:bodyPr wrap="square" lIns="0" tIns="0" rIns="0" bIns="0" rtlCol="0" anchor="ctr"/>
          <a:lstStyle/>
          <a:p>
            <a:pPr marL="0" indent="0" algn="l">
              <a:buNone/>
            </a:pPr>
            <a:r>
              <a:rPr lang="en-US" sz="1000" b="1" kern="0" spc="100" dirty="0">
                <a:solidFill>
                  <a:srgbClr val="CADCFC"/>
                </a:solidFill>
                <a:latin typeface="Calibri" pitchFamily="34" charset="0"/>
                <a:ea typeface="Calibri" pitchFamily="34" charset="-122"/>
                <a:cs typeface="Calibri" pitchFamily="34" charset="-120"/>
              </a:rPr>
              <a:t>LIVRABLE CONCRET</a:t>
            </a:r>
            <a:endParaRPr lang="en-US" sz="1000" dirty="0"/>
          </a:p>
        </p:txBody>
      </p:sp>
      <p:sp>
        <p:nvSpPr>
          <p:cNvPr id="21" name="Text 19"/>
          <p:cNvSpPr/>
          <p:nvPr/>
        </p:nvSpPr>
        <p:spPr>
          <a:xfrm>
            <a:off x="8336128" y="2898648"/>
            <a:ext cx="2926080" cy="777240"/>
          </a:xfrm>
          <a:prstGeom prst="rect">
            <a:avLst/>
          </a:prstGeom>
          <a:noFill/>
          <a:ln/>
        </p:spPr>
        <p:txBody>
          <a:bodyPr wrap="square" lIns="0" tIns="0" rIns="0" bIns="0" rtlCol="0" anchor="t"/>
          <a:lstStyle/>
          <a:p>
            <a:pPr marL="0" indent="0" algn="l">
              <a:buNone/>
            </a:pPr>
            <a:r>
              <a:rPr lang="en-US" sz="1300" dirty="0">
                <a:solidFill>
                  <a:srgbClr val="FFFFFF"/>
                </a:solidFill>
                <a:latin typeface="Calibri" pitchFamily="34" charset="0"/>
                <a:ea typeface="Calibri" pitchFamily="34" charset="-122"/>
                <a:cs typeface="Calibri" pitchFamily="34" charset="-120"/>
              </a:rPr>
              <a:t>Modèles entraînés, déployés,</a:t>
            </a:r>
            <a:endParaRPr lang="en-US" sz="1300" dirty="0"/>
          </a:p>
          <a:p>
            <a:pPr marL="0" indent="0" algn="l">
              <a:buNone/>
            </a:pPr>
            <a:r>
              <a:rPr lang="en-US" sz="1300" dirty="0">
                <a:solidFill>
                  <a:srgbClr val="FFFFFF"/>
                </a:solidFill>
                <a:latin typeface="Calibri" pitchFamily="34" charset="0"/>
                <a:ea typeface="Calibri" pitchFamily="34" charset="-122"/>
                <a:cs typeface="Calibri" pitchFamily="34" charset="-120"/>
              </a:rPr>
              <a:t>surveillés — socle de l'IA</a:t>
            </a:r>
            <a:endParaRPr lang="en-US" sz="1300" dirty="0"/>
          </a:p>
        </p:txBody>
      </p:sp>
      <p:sp>
        <p:nvSpPr>
          <p:cNvPr id="22" name="Shape 20"/>
          <p:cNvSpPr/>
          <p:nvPr/>
        </p:nvSpPr>
        <p:spPr>
          <a:xfrm>
            <a:off x="8336128" y="3721608"/>
            <a:ext cx="2926080" cy="0"/>
          </a:xfrm>
          <a:prstGeom prst="line">
            <a:avLst/>
          </a:prstGeom>
          <a:noFill/>
          <a:ln w="9525">
            <a:solidFill>
              <a:srgbClr val="3A4380"/>
            </a:solidFill>
            <a:prstDash val="solid"/>
          </a:ln>
        </p:spPr>
        <p:txBody>
          <a:bodyPr/>
          <a:lstStyle/>
          <a:p>
            <a:endParaRPr lang="fr-FR"/>
          </a:p>
        </p:txBody>
      </p:sp>
      <p:sp>
        <p:nvSpPr>
          <p:cNvPr id="23" name="Text 21"/>
          <p:cNvSpPr/>
          <p:nvPr/>
        </p:nvSpPr>
        <p:spPr>
          <a:xfrm>
            <a:off x="8336128" y="3840480"/>
            <a:ext cx="2926080" cy="274320"/>
          </a:xfrm>
          <a:prstGeom prst="rect">
            <a:avLst/>
          </a:prstGeom>
          <a:noFill/>
          <a:ln/>
        </p:spPr>
        <p:txBody>
          <a:bodyPr wrap="square" lIns="0" tIns="0" rIns="0" bIns="0" rtlCol="0" anchor="ctr"/>
          <a:lstStyle/>
          <a:p>
            <a:pPr marL="0" indent="0" algn="l">
              <a:buNone/>
            </a:pPr>
            <a:r>
              <a:rPr lang="en-US" sz="1000" b="1" kern="0" spc="100" dirty="0">
                <a:solidFill>
                  <a:srgbClr val="C9A24B"/>
                </a:solidFill>
                <a:latin typeface="Calibri" pitchFamily="34" charset="0"/>
                <a:ea typeface="Calibri" pitchFamily="34" charset="-122"/>
                <a:cs typeface="Calibri" pitchFamily="34" charset="-120"/>
              </a:rPr>
              <a:t>BÉNÉFICE BUSINESS</a:t>
            </a:r>
            <a:endParaRPr lang="en-US" sz="1000" dirty="0"/>
          </a:p>
        </p:txBody>
      </p:sp>
      <p:sp>
        <p:nvSpPr>
          <p:cNvPr id="24" name="Text 22"/>
          <p:cNvSpPr/>
          <p:nvPr/>
        </p:nvSpPr>
        <p:spPr>
          <a:xfrm>
            <a:off x="8336128" y="4114800"/>
            <a:ext cx="2926080" cy="548640"/>
          </a:xfrm>
          <a:prstGeom prst="rect">
            <a:avLst/>
          </a:prstGeom>
          <a:noFill/>
          <a:ln/>
        </p:spPr>
        <p:txBody>
          <a:bodyPr wrap="square" lIns="0" tIns="0" rIns="0" bIns="0" rtlCol="0" anchor="t"/>
          <a:lstStyle/>
          <a:p>
            <a:pPr marL="0" indent="0" algn="l">
              <a:buNone/>
            </a:pPr>
            <a:r>
              <a:rPr lang="en-US" sz="1300" dirty="0">
                <a:solidFill>
                  <a:srgbClr val="FFFFFF"/>
                </a:solidFill>
                <a:latin typeface="Calibri" pitchFamily="34" charset="0"/>
                <a:ea typeface="Calibri" pitchFamily="34" charset="-122"/>
                <a:cs typeface="Calibri" pitchFamily="34" charset="-120"/>
              </a:rPr>
              <a:t>Passer du pilote à un impact mesurable sur le P&amp;L</a:t>
            </a:r>
            <a:endParaRPr lang="en-US" sz="1300" dirty="0"/>
          </a:p>
        </p:txBody>
      </p:sp>
      <p:sp>
        <p:nvSpPr>
          <p:cNvPr id="25" name="Text 23"/>
          <p:cNvSpPr/>
          <p:nvPr/>
        </p:nvSpPr>
        <p:spPr>
          <a:xfrm>
            <a:off x="548640" y="4983480"/>
            <a:ext cx="11094415" cy="365760"/>
          </a:xfrm>
          <a:prstGeom prst="rect">
            <a:avLst/>
          </a:prstGeom>
          <a:noFill/>
          <a:ln/>
        </p:spPr>
        <p:txBody>
          <a:bodyPr wrap="square" lIns="0" tIns="0" rIns="0" bIns="0" rtlCol="0" anchor="ctr"/>
          <a:lstStyle/>
          <a:p>
            <a:pPr marL="0" indent="0" algn="ctr">
              <a:buNone/>
            </a:pPr>
            <a:r>
              <a:rPr lang="en-US" sz="1200" b="1" dirty="0">
                <a:solidFill>
                  <a:srgbClr val="CADCFC"/>
                </a:solidFill>
                <a:latin typeface="Calibri" pitchFamily="34" charset="0"/>
                <a:ea typeface="Calibri" pitchFamily="34" charset="-122"/>
                <a:cs typeface="Calibri" pitchFamily="34" charset="-120"/>
              </a:rPr>
              <a:t>DataOps  ·  DevOps / SRE  ·  GitOps  ·  MLOps   </a:t>
            </a:r>
            <a:r>
              <a:rPr lang="en-US" sz="1200" i="1" dirty="0">
                <a:solidFill>
                  <a:srgbClr val="8E9BC9"/>
                </a:solidFill>
                <a:latin typeface="Calibri" pitchFamily="34" charset="0"/>
                <a:ea typeface="Calibri" pitchFamily="34" charset="-122"/>
                <a:cs typeface="Calibri" pitchFamily="34" charset="-120"/>
              </a:rPr>
              <a:t>— l'usine qui rend ces livrables reproductibles</a:t>
            </a:r>
            <a:endParaRPr lang="en-US" sz="1200" dirty="0"/>
          </a:p>
        </p:txBody>
      </p:sp>
      <p:sp>
        <p:nvSpPr>
          <p:cNvPr id="26" name="Shape 24"/>
          <p:cNvSpPr/>
          <p:nvPr/>
        </p:nvSpPr>
        <p:spPr>
          <a:xfrm>
            <a:off x="0" y="6080760"/>
            <a:ext cx="12191695" cy="777240"/>
          </a:xfrm>
          <a:prstGeom prst="rect">
            <a:avLst/>
          </a:prstGeom>
          <a:solidFill>
            <a:srgbClr val="141B45"/>
          </a:solidFill>
          <a:ln/>
        </p:spPr>
        <p:txBody>
          <a:bodyPr/>
          <a:lstStyle/>
          <a:p>
            <a:endParaRPr lang="fr-FR"/>
          </a:p>
        </p:txBody>
      </p:sp>
      <p:sp>
        <p:nvSpPr>
          <p:cNvPr id="27" name="Text 25"/>
          <p:cNvSpPr/>
          <p:nvPr/>
        </p:nvSpPr>
        <p:spPr>
          <a:xfrm>
            <a:off x="548640" y="6080760"/>
            <a:ext cx="11094415" cy="777240"/>
          </a:xfrm>
          <a:prstGeom prst="rect">
            <a:avLst/>
          </a:prstGeom>
          <a:noFill/>
          <a:ln/>
        </p:spPr>
        <p:txBody>
          <a:bodyPr wrap="square" lIns="0" tIns="0" rIns="0" bIns="0" rtlCol="0" anchor="ctr"/>
          <a:lstStyle/>
          <a:p>
            <a:pPr marL="0" indent="0" algn="ctr">
              <a:buNone/>
            </a:pPr>
            <a:r>
              <a:rPr lang="en-US" sz="1500" i="1" dirty="0">
                <a:solidFill>
                  <a:srgbClr val="FFFFFF"/>
                </a:solidFill>
                <a:latin typeface="Cambria" pitchFamily="34" charset="0"/>
                <a:ea typeface="Cambria" pitchFamily="34" charset="-122"/>
                <a:cs typeface="Cambria" pitchFamily="34" charset="-120"/>
              </a:rPr>
              <a:t>Un même socle, trois livrables — la banque cesse de reconstruire son outillage à chaque initiative.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1094415" cy="502920"/>
          </a:xfrm>
          <a:prstGeom prst="rect">
            <a:avLst/>
          </a:prstGeom>
          <a:noFill/>
          <a:ln/>
        </p:spPr>
        <p:txBody>
          <a:bodyPr wrap="square" lIns="0" tIns="0" rIns="0" bIns="0" rtlCol="0" anchor="ctr"/>
          <a:lstStyle/>
          <a:p>
            <a:pPr marL="0" indent="0" algn="l">
              <a:buNone/>
            </a:pPr>
            <a:r>
              <a:rPr lang="en-US" sz="2700" b="1" dirty="0">
                <a:solidFill>
                  <a:srgbClr val="1E2761"/>
                </a:solidFill>
                <a:latin typeface="Cambria" pitchFamily="34" charset="0"/>
                <a:ea typeface="Cambria" pitchFamily="34" charset="-122"/>
                <a:cs typeface="Cambria" pitchFamily="34" charset="-120"/>
              </a:rPr>
              <a:t>Une trajectoire d'industrialisation par paliers</a:t>
            </a:r>
            <a:endParaRPr lang="en-US" sz="2700" dirty="0"/>
          </a:p>
        </p:txBody>
      </p:sp>
      <p:sp>
        <p:nvSpPr>
          <p:cNvPr id="3" name="Text 1"/>
          <p:cNvSpPr/>
          <p:nvPr/>
        </p:nvSpPr>
        <p:spPr>
          <a:xfrm>
            <a:off x="548640" y="795528"/>
            <a:ext cx="11094415" cy="320040"/>
          </a:xfrm>
          <a:prstGeom prst="rect">
            <a:avLst/>
          </a:prstGeom>
          <a:noFill/>
          <a:ln/>
        </p:spPr>
        <p:txBody>
          <a:bodyPr wrap="square" lIns="0" tIns="0" rIns="0" bIns="0" rtlCol="0" anchor="ctr"/>
          <a:lstStyle/>
          <a:p>
            <a:pPr marL="0" indent="0" algn="l">
              <a:buNone/>
            </a:pPr>
            <a:r>
              <a:rPr lang="en-US" sz="1300" i="1" dirty="0">
                <a:solidFill>
                  <a:srgbClr val="3A3F4B"/>
                </a:solidFill>
                <a:latin typeface="Calibri" pitchFamily="34" charset="0"/>
                <a:ea typeface="Calibri" pitchFamily="34" charset="-122"/>
                <a:cs typeface="Calibri" pitchFamily="34" charset="-120"/>
              </a:rPr>
              <a:t>Un livrable concret et une valeur business à chaque étape</a:t>
            </a:r>
            <a:endParaRPr lang="en-US" sz="1300" dirty="0"/>
          </a:p>
        </p:txBody>
      </p:sp>
      <p:sp>
        <p:nvSpPr>
          <p:cNvPr id="4" name="Shape 2"/>
          <p:cNvSpPr/>
          <p:nvPr/>
        </p:nvSpPr>
        <p:spPr>
          <a:xfrm>
            <a:off x="1143000" y="3703320"/>
            <a:ext cx="9905695" cy="0"/>
          </a:xfrm>
          <a:prstGeom prst="line">
            <a:avLst/>
          </a:prstGeom>
          <a:noFill/>
          <a:ln w="31750">
            <a:solidFill>
              <a:srgbClr val="D9DEE8"/>
            </a:solidFill>
            <a:prstDash val="solid"/>
          </a:ln>
        </p:spPr>
        <p:txBody>
          <a:bodyPr/>
          <a:lstStyle/>
          <a:p>
            <a:endParaRPr lang="fr-FR"/>
          </a:p>
        </p:txBody>
      </p:sp>
      <p:sp>
        <p:nvSpPr>
          <p:cNvPr id="5" name="Shape 3"/>
          <p:cNvSpPr/>
          <p:nvPr/>
        </p:nvSpPr>
        <p:spPr>
          <a:xfrm>
            <a:off x="1143000" y="3703320"/>
            <a:ext cx="1415099" cy="0"/>
          </a:xfrm>
          <a:prstGeom prst="line">
            <a:avLst/>
          </a:prstGeom>
          <a:noFill/>
          <a:ln w="31750">
            <a:solidFill>
              <a:srgbClr val="E8A33D"/>
            </a:solidFill>
            <a:prstDash val="solid"/>
          </a:ln>
        </p:spPr>
        <p:txBody>
          <a:bodyPr/>
          <a:lstStyle/>
          <a:p>
            <a:endParaRPr lang="fr-FR"/>
          </a:p>
        </p:txBody>
      </p:sp>
      <p:sp>
        <p:nvSpPr>
          <p:cNvPr id="28" name="Shape 26"/>
          <p:cNvSpPr/>
          <p:nvPr/>
        </p:nvSpPr>
        <p:spPr>
          <a:xfrm>
            <a:off x="3790319" y="3520440"/>
            <a:ext cx="365760" cy="365760"/>
          </a:xfrm>
          <a:prstGeom prst="ellipse">
            <a:avLst/>
          </a:prstGeom>
          <a:solidFill>
            <a:srgbClr val="1E2761"/>
          </a:solidFill>
          <a:ln w="25400">
            <a:solidFill>
              <a:srgbClr val="FFFFFF"/>
            </a:solidFill>
            <a:prstDash val="solid"/>
          </a:ln>
        </p:spPr>
        <p:txBody>
          <a:bodyPr/>
          <a:lstStyle/>
          <a:p>
            <a:endParaRPr lang="fr-FR"/>
          </a:p>
        </p:txBody>
      </p:sp>
      <p:sp>
        <p:nvSpPr>
          <p:cNvPr id="29" name="Text 27"/>
          <p:cNvSpPr/>
          <p:nvPr/>
        </p:nvSpPr>
        <p:spPr>
          <a:xfrm>
            <a:off x="3790319" y="35204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30" name="Shape 28"/>
          <p:cNvSpPr/>
          <p:nvPr/>
        </p:nvSpPr>
        <p:spPr>
          <a:xfrm>
            <a:off x="3973199" y="3200400"/>
            <a:ext cx="0" cy="320040"/>
          </a:xfrm>
          <a:prstGeom prst="line">
            <a:avLst/>
          </a:prstGeom>
          <a:noFill/>
          <a:ln w="19050">
            <a:solidFill>
              <a:srgbClr val="D9DEE8"/>
            </a:solidFill>
            <a:prstDash val="dash"/>
          </a:ln>
        </p:spPr>
        <p:txBody>
          <a:bodyPr/>
          <a:lstStyle/>
          <a:p>
            <a:endParaRPr lang="fr-FR"/>
          </a:p>
        </p:txBody>
      </p:sp>
      <p:sp>
        <p:nvSpPr>
          <p:cNvPr id="31" name="Shape 29"/>
          <p:cNvSpPr/>
          <p:nvPr/>
        </p:nvSpPr>
        <p:spPr>
          <a:xfrm>
            <a:off x="3287399" y="1417320"/>
            <a:ext cx="1371600" cy="1783080"/>
          </a:xfrm>
          <a:prstGeom prst="roundRect">
            <a:avLst>
              <a:gd name="adj" fmla="val 4667"/>
            </a:avLst>
          </a:prstGeom>
          <a:solidFill>
            <a:srgbClr val="F2F4F8"/>
          </a:solidFill>
          <a:ln w="9525">
            <a:solidFill>
              <a:srgbClr val="D9DEE8"/>
            </a:solidFill>
            <a:prstDash val="solid"/>
          </a:ln>
          <a:effectLst>
            <a:outerShdw blurRad="63500" dist="25400" dir="5400000" algn="bl" rotWithShape="0">
              <a:srgbClr val="9AA3B5">
                <a:alpha val="25000"/>
              </a:srgbClr>
            </a:outerShdw>
          </a:effectLst>
        </p:spPr>
        <p:txBody>
          <a:bodyPr/>
          <a:lstStyle/>
          <a:p>
            <a:endParaRPr lang="fr-FR"/>
          </a:p>
        </p:txBody>
      </p:sp>
      <p:sp>
        <p:nvSpPr>
          <p:cNvPr id="32" name="Text 30"/>
          <p:cNvSpPr/>
          <p:nvPr/>
        </p:nvSpPr>
        <p:spPr>
          <a:xfrm>
            <a:off x="3415415" y="1527048"/>
            <a:ext cx="1115568" cy="365760"/>
          </a:xfrm>
          <a:prstGeom prst="rect">
            <a:avLst/>
          </a:prstGeom>
          <a:noFill/>
          <a:ln/>
        </p:spPr>
        <p:txBody>
          <a:bodyPr wrap="square" lIns="0" tIns="0" rIns="0" bIns="0" rtlCol="0" anchor="t"/>
          <a:lstStyle/>
          <a:p>
            <a:pPr marL="0" indent="0" algn="l">
              <a:buNone/>
            </a:pPr>
            <a:r>
              <a:rPr lang="en-US" sz="1250" b="1" dirty="0">
                <a:solidFill>
                  <a:srgbClr val="1E2761"/>
                </a:solidFill>
                <a:latin typeface="Calibri" pitchFamily="34" charset="0"/>
                <a:ea typeface="Calibri" pitchFamily="34" charset="-122"/>
                <a:cs typeface="Calibri" pitchFamily="34" charset="-120"/>
              </a:rPr>
              <a:t>Industrialiser Data Products</a:t>
            </a:r>
            <a:endParaRPr lang="en-US" sz="1250" dirty="0"/>
          </a:p>
        </p:txBody>
      </p:sp>
      <p:sp>
        <p:nvSpPr>
          <p:cNvPr id="33" name="Shape 31"/>
          <p:cNvSpPr/>
          <p:nvPr/>
        </p:nvSpPr>
        <p:spPr>
          <a:xfrm>
            <a:off x="3415415" y="1929384"/>
            <a:ext cx="1115568" cy="0"/>
          </a:xfrm>
          <a:prstGeom prst="line">
            <a:avLst/>
          </a:prstGeom>
          <a:noFill/>
          <a:ln w="9525">
            <a:solidFill>
              <a:srgbClr val="D9DEE8"/>
            </a:solidFill>
            <a:prstDash val="solid"/>
          </a:ln>
        </p:spPr>
        <p:txBody>
          <a:bodyPr/>
          <a:lstStyle/>
          <a:p>
            <a:endParaRPr lang="fr-FR"/>
          </a:p>
        </p:txBody>
      </p:sp>
      <p:sp>
        <p:nvSpPr>
          <p:cNvPr id="34" name="Text 32"/>
          <p:cNvSpPr/>
          <p:nvPr/>
        </p:nvSpPr>
        <p:spPr>
          <a:xfrm>
            <a:off x="3415415" y="2002536"/>
            <a:ext cx="1115568" cy="548640"/>
          </a:xfrm>
          <a:prstGeom prst="rect">
            <a:avLst/>
          </a:prstGeom>
          <a:noFill/>
          <a:ln/>
        </p:spPr>
        <p:txBody>
          <a:bodyPr wrap="square" lIns="0" tIns="0" rIns="0" bIns="0" rtlCol="0" anchor="t"/>
          <a:lstStyle/>
          <a:p>
            <a:pPr marL="0" indent="0" algn="l">
              <a:buNone/>
            </a:pPr>
            <a:r>
              <a:rPr lang="en-US" sz="1000" dirty="0">
                <a:solidFill>
                  <a:srgbClr val="3A3F4B"/>
                </a:solidFill>
                <a:latin typeface="Calibri" pitchFamily="34" charset="0"/>
                <a:ea typeface="Calibri" pitchFamily="34" charset="-122"/>
                <a:cs typeface="Calibri" pitchFamily="34" charset="-120"/>
              </a:rPr>
              <a:t>CI/CD, DataOps, </a:t>
            </a:r>
            <a:r>
              <a:rPr lang="en-US" sz="1000" dirty="0" err="1">
                <a:solidFill>
                  <a:srgbClr val="3A3F4B"/>
                </a:solidFill>
                <a:latin typeface="Calibri" pitchFamily="34" charset="0"/>
                <a:ea typeface="Calibri" pitchFamily="34" charset="-122"/>
                <a:cs typeface="Calibri" pitchFamily="34" charset="-120"/>
              </a:rPr>
              <a:t>GitOps</a:t>
            </a:r>
            <a:r>
              <a:rPr lang="en-US" sz="1000" dirty="0">
                <a:solidFill>
                  <a:srgbClr val="3A3F4B"/>
                </a:solidFill>
                <a:latin typeface="Calibri" pitchFamily="34" charset="0"/>
                <a:ea typeface="Calibri" pitchFamily="34" charset="-122"/>
                <a:cs typeface="Calibri" pitchFamily="34" charset="-120"/>
              </a:rPr>
              <a:t>, MR Git flow, Data Products</a:t>
            </a:r>
            <a:endParaRPr lang="en-US" sz="1000" dirty="0"/>
          </a:p>
        </p:txBody>
      </p:sp>
      <p:sp>
        <p:nvSpPr>
          <p:cNvPr id="35" name="Text 33"/>
          <p:cNvSpPr/>
          <p:nvPr/>
        </p:nvSpPr>
        <p:spPr>
          <a:xfrm>
            <a:off x="3415415" y="2542032"/>
            <a:ext cx="1115568" cy="621792"/>
          </a:xfrm>
          <a:prstGeom prst="rect">
            <a:avLst/>
          </a:prstGeom>
          <a:noFill/>
          <a:ln/>
        </p:spPr>
        <p:txBody>
          <a:bodyPr wrap="square" lIns="0" tIns="0" rIns="0" bIns="0" rtlCol="0" anchor="t"/>
          <a:lstStyle/>
          <a:p>
            <a:pPr marL="0" indent="0" algn="l">
              <a:buNone/>
            </a:pPr>
            <a:r>
              <a:rPr lang="en-US" sz="950" i="1" dirty="0">
                <a:solidFill>
                  <a:srgbClr val="141B45"/>
                </a:solidFill>
                <a:latin typeface="Calibri" pitchFamily="34" charset="0"/>
                <a:ea typeface="Calibri" pitchFamily="34" charset="-122"/>
                <a:cs typeface="Calibri" pitchFamily="34" charset="-120"/>
              </a:rPr>
              <a:t>Des données </a:t>
            </a:r>
            <a:r>
              <a:rPr lang="en-US" sz="950" i="1" dirty="0" err="1">
                <a:solidFill>
                  <a:srgbClr val="141B45"/>
                </a:solidFill>
                <a:latin typeface="Calibri" pitchFamily="34" charset="0"/>
                <a:ea typeface="Calibri" pitchFamily="34" charset="-122"/>
                <a:cs typeface="Calibri" pitchFamily="34" charset="-120"/>
              </a:rPr>
              <a:t>fiables</a:t>
            </a:r>
            <a:r>
              <a:rPr lang="en-US" sz="950" i="1" dirty="0">
                <a:solidFill>
                  <a:srgbClr val="141B45"/>
                </a:solidFill>
                <a:latin typeface="Calibri" pitchFamily="34" charset="0"/>
                <a:ea typeface="Calibri" pitchFamily="34" charset="-122"/>
                <a:cs typeface="Calibri" pitchFamily="34" charset="-120"/>
              </a:rPr>
              <a:t> et </a:t>
            </a:r>
            <a:r>
              <a:rPr lang="en-US" sz="950" i="1" dirty="0" err="1">
                <a:solidFill>
                  <a:srgbClr val="141B45"/>
                </a:solidFill>
                <a:latin typeface="Calibri" pitchFamily="34" charset="0"/>
                <a:ea typeface="Calibri" pitchFamily="34" charset="-122"/>
                <a:cs typeface="Calibri" pitchFamily="34" charset="-120"/>
              </a:rPr>
              <a:t>gouvernées</a:t>
            </a:r>
            <a:endParaRPr lang="en-US" sz="950" i="1" dirty="0">
              <a:solidFill>
                <a:srgbClr val="141B45"/>
              </a:solidFill>
              <a:latin typeface="Calibri" pitchFamily="34" charset="0"/>
              <a:ea typeface="Calibri" pitchFamily="34" charset="-122"/>
              <a:cs typeface="Calibri" pitchFamily="34" charset="-120"/>
            </a:endParaRPr>
          </a:p>
          <a:p>
            <a:pPr marL="0" indent="0" algn="l">
              <a:buNone/>
            </a:pPr>
            <a:endParaRPr lang="en-US" sz="950" dirty="0"/>
          </a:p>
        </p:txBody>
      </p:sp>
      <p:sp>
        <p:nvSpPr>
          <p:cNvPr id="36" name="Shape 34"/>
          <p:cNvSpPr/>
          <p:nvPr/>
        </p:nvSpPr>
        <p:spPr>
          <a:xfrm>
            <a:off x="3689735" y="4198774"/>
            <a:ext cx="566928" cy="237744"/>
          </a:xfrm>
          <a:prstGeom prst="roundRect">
            <a:avLst>
              <a:gd name="adj" fmla="val 50000"/>
            </a:avLst>
          </a:prstGeom>
          <a:solidFill>
            <a:srgbClr val="F7F8FA"/>
          </a:solidFill>
          <a:ln w="6350">
            <a:solidFill>
              <a:srgbClr val="D9DEE8"/>
            </a:solidFill>
            <a:prstDash val="solid"/>
          </a:ln>
        </p:spPr>
        <p:txBody>
          <a:bodyPr/>
          <a:lstStyle/>
          <a:p>
            <a:endParaRPr lang="fr-FR"/>
          </a:p>
        </p:txBody>
      </p:sp>
      <p:sp>
        <p:nvSpPr>
          <p:cNvPr id="37" name="Text 35"/>
          <p:cNvSpPr/>
          <p:nvPr/>
        </p:nvSpPr>
        <p:spPr>
          <a:xfrm>
            <a:off x="3689735" y="4198774"/>
            <a:ext cx="566928" cy="237744"/>
          </a:xfrm>
          <a:prstGeom prst="rect">
            <a:avLst/>
          </a:prstGeom>
          <a:noFill/>
          <a:ln/>
        </p:spPr>
        <p:txBody>
          <a:bodyPr wrap="square" lIns="0" tIns="0" rIns="0" bIns="0" rtlCol="0" anchor="ctr"/>
          <a:lstStyle/>
          <a:p>
            <a:pPr marL="0" indent="0" algn="ctr">
              <a:buNone/>
            </a:pPr>
            <a:r>
              <a:rPr lang="en-US" sz="800" b="1" dirty="0">
                <a:solidFill>
                  <a:srgbClr val="6B7280"/>
                </a:solidFill>
                <a:latin typeface="Calibri" pitchFamily="34" charset="0"/>
                <a:ea typeface="Calibri" pitchFamily="34" charset="-122"/>
                <a:cs typeface="Calibri" pitchFamily="34" charset="-120"/>
              </a:rPr>
              <a:t>6 - 8 sem.</a:t>
            </a:r>
            <a:endParaRPr lang="en-US" sz="800" dirty="0"/>
          </a:p>
        </p:txBody>
      </p:sp>
      <p:sp>
        <p:nvSpPr>
          <p:cNvPr id="38" name="Shape 36"/>
          <p:cNvSpPr/>
          <p:nvPr/>
        </p:nvSpPr>
        <p:spPr>
          <a:xfrm>
            <a:off x="5205418" y="3520440"/>
            <a:ext cx="365760" cy="365760"/>
          </a:xfrm>
          <a:prstGeom prst="ellipse">
            <a:avLst/>
          </a:prstGeom>
          <a:solidFill>
            <a:srgbClr val="1E2761"/>
          </a:solidFill>
          <a:ln w="25400">
            <a:solidFill>
              <a:srgbClr val="FFFFFF"/>
            </a:solidFill>
            <a:prstDash val="solid"/>
          </a:ln>
        </p:spPr>
        <p:txBody>
          <a:bodyPr/>
          <a:lstStyle/>
          <a:p>
            <a:endParaRPr lang="fr-FR"/>
          </a:p>
        </p:txBody>
      </p:sp>
      <p:sp>
        <p:nvSpPr>
          <p:cNvPr id="39" name="Text 37"/>
          <p:cNvSpPr/>
          <p:nvPr/>
        </p:nvSpPr>
        <p:spPr>
          <a:xfrm>
            <a:off x="5205418" y="35204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40" name="Shape 38"/>
          <p:cNvSpPr/>
          <p:nvPr/>
        </p:nvSpPr>
        <p:spPr>
          <a:xfrm>
            <a:off x="5388298" y="3886200"/>
            <a:ext cx="0" cy="320040"/>
          </a:xfrm>
          <a:prstGeom prst="line">
            <a:avLst/>
          </a:prstGeom>
          <a:noFill/>
          <a:ln w="19050">
            <a:solidFill>
              <a:srgbClr val="D9DEE8"/>
            </a:solidFill>
            <a:prstDash val="dash"/>
          </a:ln>
        </p:spPr>
        <p:txBody>
          <a:bodyPr/>
          <a:lstStyle/>
          <a:p>
            <a:endParaRPr lang="fr-FR"/>
          </a:p>
        </p:txBody>
      </p:sp>
      <p:sp>
        <p:nvSpPr>
          <p:cNvPr id="41" name="Shape 39"/>
          <p:cNvSpPr/>
          <p:nvPr/>
        </p:nvSpPr>
        <p:spPr>
          <a:xfrm>
            <a:off x="4702498" y="4206240"/>
            <a:ext cx="1371600" cy="1783080"/>
          </a:xfrm>
          <a:prstGeom prst="roundRect">
            <a:avLst>
              <a:gd name="adj" fmla="val 4667"/>
            </a:avLst>
          </a:prstGeom>
          <a:solidFill>
            <a:srgbClr val="F2F4F8"/>
          </a:solidFill>
          <a:ln w="9525">
            <a:solidFill>
              <a:srgbClr val="D9DEE8"/>
            </a:solidFill>
            <a:prstDash val="solid"/>
          </a:ln>
          <a:effectLst>
            <a:outerShdw blurRad="63500" dist="25400" dir="5400000" algn="bl" rotWithShape="0">
              <a:srgbClr val="9AA3B5">
                <a:alpha val="25000"/>
              </a:srgbClr>
            </a:outerShdw>
          </a:effectLst>
        </p:spPr>
        <p:txBody>
          <a:bodyPr/>
          <a:lstStyle/>
          <a:p>
            <a:endParaRPr lang="fr-FR"/>
          </a:p>
        </p:txBody>
      </p:sp>
      <p:sp>
        <p:nvSpPr>
          <p:cNvPr id="42" name="Text 40"/>
          <p:cNvSpPr/>
          <p:nvPr/>
        </p:nvSpPr>
        <p:spPr>
          <a:xfrm>
            <a:off x="4830514" y="4315968"/>
            <a:ext cx="1115568" cy="365760"/>
          </a:xfrm>
          <a:prstGeom prst="rect">
            <a:avLst/>
          </a:prstGeom>
          <a:noFill/>
          <a:ln/>
        </p:spPr>
        <p:txBody>
          <a:bodyPr wrap="square" lIns="0" tIns="0" rIns="0" bIns="0" rtlCol="0" anchor="t"/>
          <a:lstStyle/>
          <a:p>
            <a:pPr marL="0" indent="0" algn="l">
              <a:buNone/>
            </a:pPr>
            <a:r>
              <a:rPr lang="en-US" sz="1250" b="1" dirty="0" err="1">
                <a:solidFill>
                  <a:srgbClr val="1E2761"/>
                </a:solidFill>
                <a:latin typeface="Calibri" pitchFamily="34" charset="0"/>
                <a:ea typeface="Calibri" pitchFamily="34" charset="-122"/>
                <a:cs typeface="Calibri" pitchFamily="34" charset="-120"/>
              </a:rPr>
              <a:t>Gouv</a:t>
            </a:r>
            <a:r>
              <a:rPr lang="en-US" sz="1250" b="1" dirty="0">
                <a:solidFill>
                  <a:srgbClr val="1E2761"/>
                </a:solidFill>
                <a:latin typeface="Calibri" pitchFamily="34" charset="0"/>
                <a:ea typeface="Calibri" pitchFamily="34" charset="-122"/>
                <a:cs typeface="Calibri" pitchFamily="34" charset="-120"/>
              </a:rPr>
              <a:t>. </a:t>
            </a:r>
            <a:r>
              <a:rPr lang="en-US" sz="1250" b="1" dirty="0" err="1">
                <a:solidFill>
                  <a:srgbClr val="1E2761"/>
                </a:solidFill>
                <a:latin typeface="Calibri" pitchFamily="34" charset="0"/>
                <a:ea typeface="Calibri" pitchFamily="34" charset="-122"/>
                <a:cs typeface="Calibri" pitchFamily="34" charset="-120"/>
              </a:rPr>
              <a:t>Federée</a:t>
            </a:r>
            <a:r>
              <a:rPr lang="en-US" sz="1250" b="1" dirty="0">
                <a:solidFill>
                  <a:srgbClr val="1E2761"/>
                </a:solidFill>
                <a:latin typeface="Calibri" pitchFamily="34" charset="0"/>
                <a:ea typeface="Calibri" pitchFamily="34" charset="-122"/>
                <a:cs typeface="Calibri" pitchFamily="34" charset="-120"/>
              </a:rPr>
              <a:t> &amp; Self-service</a:t>
            </a:r>
            <a:endParaRPr lang="en-US" sz="1250" dirty="0"/>
          </a:p>
        </p:txBody>
      </p:sp>
      <p:sp>
        <p:nvSpPr>
          <p:cNvPr id="43" name="Shape 41"/>
          <p:cNvSpPr/>
          <p:nvPr/>
        </p:nvSpPr>
        <p:spPr>
          <a:xfrm>
            <a:off x="4830514" y="4718304"/>
            <a:ext cx="1115568" cy="0"/>
          </a:xfrm>
          <a:prstGeom prst="line">
            <a:avLst/>
          </a:prstGeom>
          <a:noFill/>
          <a:ln w="9525">
            <a:solidFill>
              <a:srgbClr val="D9DEE8"/>
            </a:solidFill>
            <a:prstDash val="solid"/>
          </a:ln>
        </p:spPr>
        <p:txBody>
          <a:bodyPr/>
          <a:lstStyle/>
          <a:p>
            <a:endParaRPr lang="fr-FR"/>
          </a:p>
        </p:txBody>
      </p:sp>
      <p:sp>
        <p:nvSpPr>
          <p:cNvPr id="44" name="Text 42"/>
          <p:cNvSpPr/>
          <p:nvPr/>
        </p:nvSpPr>
        <p:spPr>
          <a:xfrm>
            <a:off x="4830514" y="4791456"/>
            <a:ext cx="1115568" cy="548640"/>
          </a:xfrm>
          <a:prstGeom prst="rect">
            <a:avLst/>
          </a:prstGeom>
          <a:noFill/>
          <a:ln/>
        </p:spPr>
        <p:txBody>
          <a:bodyPr wrap="square" lIns="0" tIns="0" rIns="0" bIns="0" rtlCol="0" anchor="t"/>
          <a:lstStyle/>
          <a:p>
            <a:pPr marL="0" indent="0" algn="l">
              <a:buNone/>
            </a:pPr>
            <a:r>
              <a:rPr lang="en-US" sz="1000" dirty="0">
                <a:solidFill>
                  <a:srgbClr val="3A3F4B"/>
                </a:solidFill>
                <a:latin typeface="Calibri" pitchFamily="34" charset="0"/>
                <a:ea typeface="Calibri" pitchFamily="34" charset="-122"/>
                <a:cs typeface="Calibri" pitchFamily="34" charset="-120"/>
              </a:rPr>
              <a:t>Portail &amp; Data Products</a:t>
            </a:r>
            <a:endParaRPr lang="en-US" sz="1000" dirty="0"/>
          </a:p>
        </p:txBody>
      </p:sp>
      <p:sp>
        <p:nvSpPr>
          <p:cNvPr id="45" name="Text 43"/>
          <p:cNvSpPr/>
          <p:nvPr/>
        </p:nvSpPr>
        <p:spPr>
          <a:xfrm>
            <a:off x="4830514" y="5330952"/>
            <a:ext cx="1115568" cy="621792"/>
          </a:xfrm>
          <a:prstGeom prst="rect">
            <a:avLst/>
          </a:prstGeom>
          <a:noFill/>
          <a:ln/>
        </p:spPr>
        <p:txBody>
          <a:bodyPr wrap="square" lIns="0" tIns="0" rIns="0" bIns="0" rtlCol="0" anchor="t"/>
          <a:lstStyle/>
          <a:p>
            <a:pPr marL="0" indent="0" algn="l">
              <a:buNone/>
            </a:pPr>
            <a:r>
              <a:rPr lang="en-US" sz="950" i="1" dirty="0">
                <a:solidFill>
                  <a:srgbClr val="141B45"/>
                </a:solidFill>
                <a:latin typeface="Calibri" pitchFamily="34" charset="0"/>
                <a:ea typeface="Calibri" pitchFamily="34" charset="-122"/>
                <a:cs typeface="Calibri" pitchFamily="34" charset="-120"/>
              </a:rPr>
              <a:t>La donnée exploitable par toute la banque</a:t>
            </a:r>
            <a:endParaRPr lang="en-US" sz="950" dirty="0"/>
          </a:p>
        </p:txBody>
      </p:sp>
      <p:sp>
        <p:nvSpPr>
          <p:cNvPr id="46" name="Shape 44"/>
          <p:cNvSpPr/>
          <p:nvPr/>
        </p:nvSpPr>
        <p:spPr>
          <a:xfrm>
            <a:off x="5104834" y="2978511"/>
            <a:ext cx="566928" cy="237744"/>
          </a:xfrm>
          <a:prstGeom prst="roundRect">
            <a:avLst>
              <a:gd name="adj" fmla="val 50000"/>
            </a:avLst>
          </a:prstGeom>
          <a:solidFill>
            <a:srgbClr val="F7F8FA"/>
          </a:solidFill>
          <a:ln w="6350">
            <a:solidFill>
              <a:srgbClr val="D9DEE8"/>
            </a:solidFill>
            <a:prstDash val="solid"/>
          </a:ln>
        </p:spPr>
        <p:txBody>
          <a:bodyPr/>
          <a:lstStyle/>
          <a:p>
            <a:endParaRPr lang="fr-FR"/>
          </a:p>
        </p:txBody>
      </p:sp>
      <p:sp>
        <p:nvSpPr>
          <p:cNvPr id="47" name="Text 45"/>
          <p:cNvSpPr/>
          <p:nvPr/>
        </p:nvSpPr>
        <p:spPr>
          <a:xfrm>
            <a:off x="5104834" y="2978511"/>
            <a:ext cx="566928" cy="237744"/>
          </a:xfrm>
          <a:prstGeom prst="rect">
            <a:avLst/>
          </a:prstGeom>
          <a:noFill/>
          <a:ln/>
        </p:spPr>
        <p:txBody>
          <a:bodyPr wrap="square" lIns="0" tIns="0" rIns="0" bIns="0" rtlCol="0" anchor="ctr"/>
          <a:lstStyle/>
          <a:p>
            <a:pPr marL="0" indent="0" algn="ctr">
              <a:buNone/>
            </a:pPr>
            <a:r>
              <a:rPr lang="en-US" sz="800" b="1" dirty="0">
                <a:solidFill>
                  <a:srgbClr val="6B7280"/>
                </a:solidFill>
                <a:latin typeface="Calibri" pitchFamily="34" charset="0"/>
                <a:ea typeface="Calibri" pitchFamily="34" charset="-122"/>
                <a:cs typeface="Calibri" pitchFamily="34" charset="-120"/>
              </a:rPr>
              <a:t>4 - 6 sem.</a:t>
            </a:r>
            <a:endParaRPr lang="en-US" sz="800" dirty="0"/>
          </a:p>
        </p:txBody>
      </p:sp>
      <p:sp>
        <p:nvSpPr>
          <p:cNvPr id="48" name="Shape 46"/>
          <p:cNvSpPr/>
          <p:nvPr/>
        </p:nvSpPr>
        <p:spPr>
          <a:xfrm>
            <a:off x="6620517" y="3520440"/>
            <a:ext cx="365760" cy="365760"/>
          </a:xfrm>
          <a:prstGeom prst="ellipse">
            <a:avLst/>
          </a:prstGeom>
          <a:solidFill>
            <a:srgbClr val="1E2761"/>
          </a:solidFill>
          <a:ln w="25400">
            <a:solidFill>
              <a:srgbClr val="FFFFFF"/>
            </a:solidFill>
            <a:prstDash val="solid"/>
          </a:ln>
        </p:spPr>
        <p:txBody>
          <a:bodyPr/>
          <a:lstStyle/>
          <a:p>
            <a:endParaRPr lang="fr-FR"/>
          </a:p>
        </p:txBody>
      </p:sp>
      <p:sp>
        <p:nvSpPr>
          <p:cNvPr id="49" name="Text 47"/>
          <p:cNvSpPr/>
          <p:nvPr/>
        </p:nvSpPr>
        <p:spPr>
          <a:xfrm>
            <a:off x="6620517" y="35204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50" name="Shape 48"/>
          <p:cNvSpPr/>
          <p:nvPr/>
        </p:nvSpPr>
        <p:spPr>
          <a:xfrm>
            <a:off x="6803397" y="3200400"/>
            <a:ext cx="0" cy="320040"/>
          </a:xfrm>
          <a:prstGeom prst="line">
            <a:avLst/>
          </a:prstGeom>
          <a:noFill/>
          <a:ln w="19050">
            <a:solidFill>
              <a:srgbClr val="D9DEE8"/>
            </a:solidFill>
            <a:prstDash val="dash"/>
          </a:ln>
        </p:spPr>
        <p:txBody>
          <a:bodyPr/>
          <a:lstStyle/>
          <a:p>
            <a:endParaRPr lang="fr-FR"/>
          </a:p>
        </p:txBody>
      </p:sp>
      <p:sp>
        <p:nvSpPr>
          <p:cNvPr id="51" name="Shape 49"/>
          <p:cNvSpPr/>
          <p:nvPr/>
        </p:nvSpPr>
        <p:spPr>
          <a:xfrm>
            <a:off x="6117597" y="1417320"/>
            <a:ext cx="1371600" cy="1783080"/>
          </a:xfrm>
          <a:prstGeom prst="roundRect">
            <a:avLst>
              <a:gd name="adj" fmla="val 4667"/>
            </a:avLst>
          </a:prstGeom>
          <a:solidFill>
            <a:srgbClr val="F2F4F8"/>
          </a:solidFill>
          <a:ln w="9525">
            <a:solidFill>
              <a:srgbClr val="D9DEE8"/>
            </a:solidFill>
            <a:prstDash val="solid"/>
          </a:ln>
          <a:effectLst>
            <a:outerShdw blurRad="63500" dist="25400" dir="5400000" algn="bl" rotWithShape="0">
              <a:srgbClr val="9AA3B5">
                <a:alpha val="25000"/>
              </a:srgbClr>
            </a:outerShdw>
          </a:effectLst>
        </p:spPr>
        <p:txBody>
          <a:bodyPr/>
          <a:lstStyle/>
          <a:p>
            <a:endParaRPr lang="fr-FR"/>
          </a:p>
        </p:txBody>
      </p:sp>
      <p:sp>
        <p:nvSpPr>
          <p:cNvPr id="52" name="Text 50"/>
          <p:cNvSpPr/>
          <p:nvPr/>
        </p:nvSpPr>
        <p:spPr>
          <a:xfrm>
            <a:off x="6245613" y="1527048"/>
            <a:ext cx="1115568" cy="365760"/>
          </a:xfrm>
          <a:prstGeom prst="rect">
            <a:avLst/>
          </a:prstGeom>
          <a:noFill/>
          <a:ln/>
        </p:spPr>
        <p:txBody>
          <a:bodyPr wrap="square" lIns="0" tIns="0" rIns="0" bIns="0" rtlCol="0" anchor="t"/>
          <a:lstStyle/>
          <a:p>
            <a:pPr marL="0" indent="0" algn="l">
              <a:buNone/>
            </a:pPr>
            <a:r>
              <a:rPr lang="en-US" sz="1250" b="1" dirty="0">
                <a:solidFill>
                  <a:srgbClr val="1E2761"/>
                </a:solidFill>
                <a:latin typeface="Calibri" pitchFamily="34" charset="0"/>
                <a:ea typeface="Calibri" pitchFamily="34" charset="-122"/>
                <a:cs typeface="Calibri" pitchFamily="34" charset="-120"/>
              </a:rPr>
              <a:t>Industrialiser Data Services</a:t>
            </a:r>
            <a:endParaRPr lang="en-US" sz="1250" dirty="0"/>
          </a:p>
        </p:txBody>
      </p:sp>
      <p:sp>
        <p:nvSpPr>
          <p:cNvPr id="53" name="Shape 51"/>
          <p:cNvSpPr/>
          <p:nvPr/>
        </p:nvSpPr>
        <p:spPr>
          <a:xfrm>
            <a:off x="6245613" y="1929384"/>
            <a:ext cx="1115568" cy="0"/>
          </a:xfrm>
          <a:prstGeom prst="line">
            <a:avLst/>
          </a:prstGeom>
          <a:noFill/>
          <a:ln w="9525">
            <a:solidFill>
              <a:srgbClr val="D9DEE8"/>
            </a:solidFill>
            <a:prstDash val="solid"/>
          </a:ln>
        </p:spPr>
        <p:txBody>
          <a:bodyPr/>
          <a:lstStyle/>
          <a:p>
            <a:endParaRPr lang="fr-FR"/>
          </a:p>
        </p:txBody>
      </p:sp>
      <p:sp>
        <p:nvSpPr>
          <p:cNvPr id="54" name="Text 52"/>
          <p:cNvSpPr/>
          <p:nvPr/>
        </p:nvSpPr>
        <p:spPr>
          <a:xfrm>
            <a:off x="6245613" y="2002536"/>
            <a:ext cx="1115568" cy="548640"/>
          </a:xfrm>
          <a:prstGeom prst="rect">
            <a:avLst/>
          </a:prstGeom>
          <a:noFill/>
          <a:ln/>
        </p:spPr>
        <p:txBody>
          <a:bodyPr wrap="square" lIns="0" tIns="0" rIns="0" bIns="0" rtlCol="0" anchor="t"/>
          <a:lstStyle/>
          <a:p>
            <a:r>
              <a:rPr lang="en-US" sz="1000" dirty="0">
                <a:solidFill>
                  <a:srgbClr val="3A3F4B"/>
                </a:solidFill>
                <a:latin typeface="Calibri" pitchFamily="34" charset="0"/>
                <a:ea typeface="Calibri" pitchFamily="34" charset="-122"/>
                <a:cs typeface="Calibri" pitchFamily="34" charset="-120"/>
              </a:rPr>
              <a:t>Exposition des données, data self-served</a:t>
            </a:r>
            <a:endParaRPr lang="en-US" sz="1000" dirty="0"/>
          </a:p>
        </p:txBody>
      </p:sp>
      <p:sp>
        <p:nvSpPr>
          <p:cNvPr id="55" name="Text 53"/>
          <p:cNvSpPr/>
          <p:nvPr/>
        </p:nvSpPr>
        <p:spPr>
          <a:xfrm>
            <a:off x="6245613" y="2520260"/>
            <a:ext cx="1115568" cy="621792"/>
          </a:xfrm>
          <a:prstGeom prst="rect">
            <a:avLst/>
          </a:prstGeom>
          <a:noFill/>
          <a:ln/>
        </p:spPr>
        <p:txBody>
          <a:bodyPr wrap="square" lIns="0" tIns="0" rIns="0" bIns="0" rtlCol="0" anchor="t"/>
          <a:lstStyle/>
          <a:p>
            <a:pPr marL="0" indent="0" algn="l">
              <a:buNone/>
            </a:pPr>
            <a:r>
              <a:rPr lang="en-US" sz="950" i="1" dirty="0">
                <a:solidFill>
                  <a:srgbClr val="141B45"/>
                </a:solidFill>
                <a:latin typeface="Calibri" pitchFamily="34" charset="0"/>
                <a:ea typeface="Calibri" pitchFamily="34" charset="-122"/>
                <a:cs typeface="Calibri" pitchFamily="34" charset="-120"/>
              </a:rPr>
              <a:t>Des services </a:t>
            </a:r>
            <a:r>
              <a:rPr lang="en-US" sz="950" i="1" dirty="0" err="1">
                <a:solidFill>
                  <a:srgbClr val="141B45"/>
                </a:solidFill>
                <a:latin typeface="Calibri" pitchFamily="34" charset="0"/>
                <a:ea typeface="Calibri" pitchFamily="34" charset="-122"/>
                <a:cs typeface="Calibri" pitchFamily="34" charset="-120"/>
              </a:rPr>
              <a:t>mésurables</a:t>
            </a:r>
            <a:r>
              <a:rPr lang="en-US" sz="950" i="1" dirty="0">
                <a:solidFill>
                  <a:srgbClr val="141B45"/>
                </a:solidFill>
                <a:latin typeface="Calibri" pitchFamily="34" charset="0"/>
                <a:ea typeface="Calibri" pitchFamily="34" charset="-122"/>
                <a:cs typeface="Calibri" pitchFamily="34" charset="-120"/>
              </a:rPr>
              <a:t> et </a:t>
            </a:r>
            <a:r>
              <a:rPr lang="en-US" sz="950" i="1" dirty="0" err="1">
                <a:solidFill>
                  <a:srgbClr val="141B45"/>
                </a:solidFill>
                <a:latin typeface="Calibri" pitchFamily="34" charset="0"/>
                <a:ea typeface="Calibri" pitchFamily="34" charset="-122"/>
                <a:cs typeface="Calibri" pitchFamily="34" charset="-120"/>
              </a:rPr>
              <a:t>disponibles</a:t>
            </a:r>
            <a:r>
              <a:rPr lang="en-US" sz="950" i="1" dirty="0">
                <a:solidFill>
                  <a:srgbClr val="141B45"/>
                </a:solidFill>
                <a:latin typeface="Calibri" pitchFamily="34" charset="0"/>
                <a:ea typeface="Calibri" pitchFamily="34" charset="-122"/>
                <a:cs typeface="Calibri" pitchFamily="34" charset="-120"/>
              </a:rPr>
              <a:t> pour le métier</a:t>
            </a:r>
            <a:endParaRPr lang="en-US" sz="950" i="1" dirty="0"/>
          </a:p>
        </p:txBody>
      </p:sp>
      <p:sp>
        <p:nvSpPr>
          <p:cNvPr id="56" name="Shape 54"/>
          <p:cNvSpPr/>
          <p:nvPr/>
        </p:nvSpPr>
        <p:spPr>
          <a:xfrm>
            <a:off x="6519933" y="4198774"/>
            <a:ext cx="566928" cy="237744"/>
          </a:xfrm>
          <a:prstGeom prst="roundRect">
            <a:avLst>
              <a:gd name="adj" fmla="val 50000"/>
            </a:avLst>
          </a:prstGeom>
          <a:solidFill>
            <a:srgbClr val="F7F8FA"/>
          </a:solidFill>
          <a:ln w="6350">
            <a:solidFill>
              <a:srgbClr val="D9DEE8"/>
            </a:solidFill>
            <a:prstDash val="solid"/>
          </a:ln>
        </p:spPr>
        <p:txBody>
          <a:bodyPr/>
          <a:lstStyle/>
          <a:p>
            <a:endParaRPr lang="fr-FR"/>
          </a:p>
        </p:txBody>
      </p:sp>
      <p:sp>
        <p:nvSpPr>
          <p:cNvPr id="57" name="Text 55"/>
          <p:cNvSpPr/>
          <p:nvPr/>
        </p:nvSpPr>
        <p:spPr>
          <a:xfrm>
            <a:off x="6519933" y="4198774"/>
            <a:ext cx="566928" cy="237744"/>
          </a:xfrm>
          <a:prstGeom prst="rect">
            <a:avLst/>
          </a:prstGeom>
          <a:noFill/>
          <a:ln/>
        </p:spPr>
        <p:txBody>
          <a:bodyPr wrap="square" lIns="0" tIns="0" rIns="0" bIns="0" rtlCol="0" anchor="ctr"/>
          <a:lstStyle/>
          <a:p>
            <a:pPr marL="0" indent="0" algn="ctr">
              <a:buNone/>
            </a:pPr>
            <a:r>
              <a:rPr lang="en-US" sz="800" b="1" dirty="0">
                <a:solidFill>
                  <a:srgbClr val="6B7280"/>
                </a:solidFill>
                <a:latin typeface="Calibri" pitchFamily="34" charset="0"/>
                <a:ea typeface="Calibri" pitchFamily="34" charset="-122"/>
                <a:cs typeface="Calibri" pitchFamily="34" charset="-120"/>
              </a:rPr>
              <a:t>4 - 6 sem.</a:t>
            </a:r>
            <a:endParaRPr lang="en-US" sz="800" dirty="0"/>
          </a:p>
        </p:txBody>
      </p:sp>
      <p:sp>
        <p:nvSpPr>
          <p:cNvPr id="58" name="Shape 56"/>
          <p:cNvSpPr/>
          <p:nvPr/>
        </p:nvSpPr>
        <p:spPr>
          <a:xfrm>
            <a:off x="8035617" y="3520440"/>
            <a:ext cx="365760" cy="365760"/>
          </a:xfrm>
          <a:prstGeom prst="ellipse">
            <a:avLst/>
          </a:prstGeom>
          <a:solidFill>
            <a:srgbClr val="1E2761"/>
          </a:solidFill>
          <a:ln w="25400">
            <a:solidFill>
              <a:srgbClr val="FFFFFF"/>
            </a:solidFill>
            <a:prstDash val="solid"/>
          </a:ln>
        </p:spPr>
        <p:txBody>
          <a:bodyPr/>
          <a:lstStyle/>
          <a:p>
            <a:endParaRPr lang="fr-FR"/>
          </a:p>
        </p:txBody>
      </p:sp>
      <p:sp>
        <p:nvSpPr>
          <p:cNvPr id="59" name="Text 57"/>
          <p:cNvSpPr/>
          <p:nvPr/>
        </p:nvSpPr>
        <p:spPr>
          <a:xfrm>
            <a:off x="8035617" y="35204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60" name="Shape 58"/>
          <p:cNvSpPr/>
          <p:nvPr/>
        </p:nvSpPr>
        <p:spPr>
          <a:xfrm>
            <a:off x="8218497" y="3886200"/>
            <a:ext cx="0" cy="320040"/>
          </a:xfrm>
          <a:prstGeom prst="line">
            <a:avLst/>
          </a:prstGeom>
          <a:noFill/>
          <a:ln w="19050">
            <a:solidFill>
              <a:srgbClr val="D9DEE8"/>
            </a:solidFill>
            <a:prstDash val="dash"/>
          </a:ln>
        </p:spPr>
        <p:txBody>
          <a:bodyPr/>
          <a:lstStyle/>
          <a:p>
            <a:endParaRPr lang="fr-FR"/>
          </a:p>
        </p:txBody>
      </p:sp>
      <p:sp>
        <p:nvSpPr>
          <p:cNvPr id="61" name="Shape 59"/>
          <p:cNvSpPr/>
          <p:nvPr/>
        </p:nvSpPr>
        <p:spPr>
          <a:xfrm>
            <a:off x="7532697" y="4206240"/>
            <a:ext cx="1371600" cy="1783080"/>
          </a:xfrm>
          <a:prstGeom prst="roundRect">
            <a:avLst>
              <a:gd name="adj" fmla="val 4667"/>
            </a:avLst>
          </a:prstGeom>
          <a:solidFill>
            <a:srgbClr val="F2F4F8"/>
          </a:solidFill>
          <a:ln w="9525">
            <a:solidFill>
              <a:srgbClr val="D9DEE8"/>
            </a:solidFill>
            <a:prstDash val="solid"/>
          </a:ln>
          <a:effectLst>
            <a:outerShdw blurRad="63500" dist="25400" dir="5400000" algn="bl" rotWithShape="0">
              <a:srgbClr val="9AA3B5">
                <a:alpha val="25000"/>
              </a:srgbClr>
            </a:outerShdw>
          </a:effectLst>
        </p:spPr>
        <p:txBody>
          <a:bodyPr/>
          <a:lstStyle/>
          <a:p>
            <a:endParaRPr lang="fr-FR"/>
          </a:p>
        </p:txBody>
      </p:sp>
      <p:sp>
        <p:nvSpPr>
          <p:cNvPr id="62" name="Text 60"/>
          <p:cNvSpPr/>
          <p:nvPr/>
        </p:nvSpPr>
        <p:spPr>
          <a:xfrm>
            <a:off x="7660713" y="4315968"/>
            <a:ext cx="1115568" cy="365760"/>
          </a:xfrm>
          <a:prstGeom prst="rect">
            <a:avLst/>
          </a:prstGeom>
          <a:noFill/>
          <a:ln/>
        </p:spPr>
        <p:txBody>
          <a:bodyPr wrap="square" lIns="0" tIns="0" rIns="0" bIns="0" rtlCol="0" anchor="t"/>
          <a:lstStyle/>
          <a:p>
            <a:pPr marL="0" indent="0" algn="l">
              <a:buNone/>
            </a:pPr>
            <a:r>
              <a:rPr lang="en-US" sz="1250" b="1" dirty="0">
                <a:solidFill>
                  <a:srgbClr val="1E2761"/>
                </a:solidFill>
                <a:latin typeface="Calibri" pitchFamily="34" charset="0"/>
                <a:ea typeface="Calibri" pitchFamily="34" charset="-122"/>
                <a:cs typeface="Calibri" pitchFamily="34" charset="-120"/>
              </a:rPr>
              <a:t>Industrialiser</a:t>
            </a:r>
          </a:p>
          <a:p>
            <a:pPr marL="0" indent="0" algn="l">
              <a:buNone/>
            </a:pPr>
            <a:r>
              <a:rPr lang="en-US" sz="1250" b="1" dirty="0">
                <a:solidFill>
                  <a:srgbClr val="1E2761"/>
                </a:solidFill>
                <a:latin typeface="Calibri" pitchFamily="34" charset="0"/>
                <a:ea typeface="Calibri" pitchFamily="34" charset="-122"/>
                <a:cs typeface="Calibri" pitchFamily="34" charset="-120"/>
              </a:rPr>
              <a:t>ML Products</a:t>
            </a:r>
            <a:endParaRPr lang="en-US" sz="1250" dirty="0"/>
          </a:p>
        </p:txBody>
      </p:sp>
      <p:sp>
        <p:nvSpPr>
          <p:cNvPr id="63" name="Shape 61"/>
          <p:cNvSpPr/>
          <p:nvPr/>
        </p:nvSpPr>
        <p:spPr>
          <a:xfrm>
            <a:off x="7660713" y="4718304"/>
            <a:ext cx="1115568" cy="0"/>
          </a:xfrm>
          <a:prstGeom prst="line">
            <a:avLst/>
          </a:prstGeom>
          <a:noFill/>
          <a:ln w="9525">
            <a:solidFill>
              <a:srgbClr val="D9DEE8"/>
            </a:solidFill>
            <a:prstDash val="solid"/>
          </a:ln>
        </p:spPr>
        <p:txBody>
          <a:bodyPr/>
          <a:lstStyle/>
          <a:p>
            <a:endParaRPr lang="fr-FR"/>
          </a:p>
        </p:txBody>
      </p:sp>
      <p:sp>
        <p:nvSpPr>
          <p:cNvPr id="64" name="Text 62"/>
          <p:cNvSpPr/>
          <p:nvPr/>
        </p:nvSpPr>
        <p:spPr>
          <a:xfrm>
            <a:off x="7660713" y="4791456"/>
            <a:ext cx="1115568" cy="548640"/>
          </a:xfrm>
          <a:prstGeom prst="rect">
            <a:avLst/>
          </a:prstGeom>
          <a:noFill/>
          <a:ln/>
        </p:spPr>
        <p:txBody>
          <a:bodyPr wrap="square" lIns="0" tIns="0" rIns="0" bIns="0" rtlCol="0" anchor="t"/>
          <a:lstStyle/>
          <a:p>
            <a:pPr marL="0" indent="0" algn="l">
              <a:buNone/>
            </a:pPr>
            <a:r>
              <a:rPr lang="en-US" sz="1000" dirty="0">
                <a:solidFill>
                  <a:srgbClr val="3A3F4B"/>
                </a:solidFill>
                <a:latin typeface="Calibri" pitchFamily="34" charset="0"/>
                <a:ea typeface="Calibri" pitchFamily="34" charset="-122"/>
                <a:cs typeface="Calibri" pitchFamily="34" charset="-120"/>
              </a:rPr>
              <a:t>Cycle de vie ML standardisé</a:t>
            </a:r>
            <a:endParaRPr lang="en-US" sz="1000" dirty="0"/>
          </a:p>
        </p:txBody>
      </p:sp>
      <p:sp>
        <p:nvSpPr>
          <p:cNvPr id="65" name="Text 63"/>
          <p:cNvSpPr/>
          <p:nvPr/>
        </p:nvSpPr>
        <p:spPr>
          <a:xfrm>
            <a:off x="7660713" y="5330952"/>
            <a:ext cx="1115568" cy="621792"/>
          </a:xfrm>
          <a:prstGeom prst="rect">
            <a:avLst/>
          </a:prstGeom>
          <a:noFill/>
          <a:ln/>
        </p:spPr>
        <p:txBody>
          <a:bodyPr wrap="square" lIns="0" tIns="0" rIns="0" bIns="0" rtlCol="0" anchor="t"/>
          <a:lstStyle/>
          <a:p>
            <a:pPr marL="0" indent="0" algn="l">
              <a:buNone/>
            </a:pPr>
            <a:r>
              <a:rPr lang="en-US" sz="950" i="1" dirty="0">
                <a:solidFill>
                  <a:srgbClr val="141B45"/>
                </a:solidFill>
                <a:latin typeface="Calibri" pitchFamily="34" charset="0"/>
                <a:ea typeface="Calibri" pitchFamily="34" charset="-122"/>
                <a:cs typeface="Calibri" pitchFamily="34" charset="-120"/>
              </a:rPr>
              <a:t>Modèles reproductibles et versionnés</a:t>
            </a:r>
            <a:endParaRPr lang="en-US" sz="950" dirty="0"/>
          </a:p>
        </p:txBody>
      </p:sp>
      <p:sp>
        <p:nvSpPr>
          <p:cNvPr id="66" name="Shape 64"/>
          <p:cNvSpPr/>
          <p:nvPr/>
        </p:nvSpPr>
        <p:spPr>
          <a:xfrm>
            <a:off x="7935033" y="2978511"/>
            <a:ext cx="566928" cy="237744"/>
          </a:xfrm>
          <a:prstGeom prst="roundRect">
            <a:avLst>
              <a:gd name="adj" fmla="val 50000"/>
            </a:avLst>
          </a:prstGeom>
          <a:solidFill>
            <a:srgbClr val="F7F8FA"/>
          </a:solidFill>
          <a:ln w="6350">
            <a:solidFill>
              <a:srgbClr val="D9DEE8"/>
            </a:solidFill>
            <a:prstDash val="solid"/>
          </a:ln>
        </p:spPr>
        <p:txBody>
          <a:bodyPr/>
          <a:lstStyle/>
          <a:p>
            <a:endParaRPr lang="fr-FR"/>
          </a:p>
        </p:txBody>
      </p:sp>
      <p:sp>
        <p:nvSpPr>
          <p:cNvPr id="67" name="Text 65"/>
          <p:cNvSpPr/>
          <p:nvPr/>
        </p:nvSpPr>
        <p:spPr>
          <a:xfrm>
            <a:off x="7935033" y="2978511"/>
            <a:ext cx="566928" cy="237744"/>
          </a:xfrm>
          <a:prstGeom prst="rect">
            <a:avLst/>
          </a:prstGeom>
          <a:noFill/>
          <a:ln/>
        </p:spPr>
        <p:txBody>
          <a:bodyPr wrap="square" lIns="0" tIns="0" rIns="0" bIns="0" rtlCol="0" anchor="ctr"/>
          <a:lstStyle/>
          <a:p>
            <a:pPr marL="0" indent="0" algn="ctr">
              <a:buNone/>
            </a:pPr>
            <a:r>
              <a:rPr lang="en-US" sz="800" b="1" dirty="0">
                <a:solidFill>
                  <a:srgbClr val="6B7280"/>
                </a:solidFill>
                <a:latin typeface="Calibri" pitchFamily="34" charset="0"/>
                <a:ea typeface="Calibri" pitchFamily="34" charset="-122"/>
                <a:cs typeface="Calibri" pitchFamily="34" charset="-120"/>
              </a:rPr>
              <a:t>6 - 9 sem.</a:t>
            </a:r>
            <a:endParaRPr lang="en-US" sz="800" dirty="0"/>
          </a:p>
        </p:txBody>
      </p:sp>
      <p:sp>
        <p:nvSpPr>
          <p:cNvPr id="68" name="Shape 66"/>
          <p:cNvSpPr/>
          <p:nvPr/>
        </p:nvSpPr>
        <p:spPr>
          <a:xfrm>
            <a:off x="9450716" y="3520440"/>
            <a:ext cx="365760" cy="365760"/>
          </a:xfrm>
          <a:prstGeom prst="ellipse">
            <a:avLst/>
          </a:prstGeom>
          <a:solidFill>
            <a:srgbClr val="1E2761"/>
          </a:solidFill>
          <a:ln w="25400">
            <a:solidFill>
              <a:srgbClr val="FFFFFF"/>
            </a:solidFill>
            <a:prstDash val="solid"/>
          </a:ln>
        </p:spPr>
        <p:txBody>
          <a:bodyPr/>
          <a:lstStyle/>
          <a:p>
            <a:endParaRPr lang="fr-FR"/>
          </a:p>
        </p:txBody>
      </p:sp>
      <p:sp>
        <p:nvSpPr>
          <p:cNvPr id="69" name="Text 67"/>
          <p:cNvSpPr/>
          <p:nvPr/>
        </p:nvSpPr>
        <p:spPr>
          <a:xfrm>
            <a:off x="9450716" y="35204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70" name="Shape 68"/>
          <p:cNvSpPr/>
          <p:nvPr/>
        </p:nvSpPr>
        <p:spPr>
          <a:xfrm>
            <a:off x="9633596" y="3200400"/>
            <a:ext cx="0" cy="320040"/>
          </a:xfrm>
          <a:prstGeom prst="line">
            <a:avLst/>
          </a:prstGeom>
          <a:noFill/>
          <a:ln w="19050">
            <a:solidFill>
              <a:srgbClr val="D9DEE8"/>
            </a:solidFill>
            <a:prstDash val="dash"/>
          </a:ln>
        </p:spPr>
        <p:txBody>
          <a:bodyPr/>
          <a:lstStyle/>
          <a:p>
            <a:endParaRPr lang="fr-FR"/>
          </a:p>
        </p:txBody>
      </p:sp>
      <p:sp>
        <p:nvSpPr>
          <p:cNvPr id="71" name="Shape 69"/>
          <p:cNvSpPr/>
          <p:nvPr/>
        </p:nvSpPr>
        <p:spPr>
          <a:xfrm>
            <a:off x="8947796" y="1417320"/>
            <a:ext cx="1371600" cy="1783080"/>
          </a:xfrm>
          <a:prstGeom prst="roundRect">
            <a:avLst>
              <a:gd name="adj" fmla="val 4667"/>
            </a:avLst>
          </a:prstGeom>
          <a:solidFill>
            <a:srgbClr val="F2F4F8"/>
          </a:solidFill>
          <a:ln w="9525">
            <a:solidFill>
              <a:srgbClr val="D9DEE8"/>
            </a:solidFill>
            <a:prstDash val="solid"/>
          </a:ln>
          <a:effectLst>
            <a:outerShdw blurRad="63500" dist="25400" dir="5400000" algn="bl" rotWithShape="0">
              <a:srgbClr val="9AA3B5">
                <a:alpha val="25000"/>
              </a:srgbClr>
            </a:outerShdw>
          </a:effectLst>
        </p:spPr>
        <p:txBody>
          <a:bodyPr/>
          <a:lstStyle/>
          <a:p>
            <a:endParaRPr lang="fr-FR"/>
          </a:p>
        </p:txBody>
      </p:sp>
      <p:sp>
        <p:nvSpPr>
          <p:cNvPr id="72" name="Text 70"/>
          <p:cNvSpPr/>
          <p:nvPr/>
        </p:nvSpPr>
        <p:spPr>
          <a:xfrm>
            <a:off x="9075812" y="1527048"/>
            <a:ext cx="1115568" cy="365760"/>
          </a:xfrm>
          <a:prstGeom prst="rect">
            <a:avLst/>
          </a:prstGeom>
          <a:noFill/>
          <a:ln/>
        </p:spPr>
        <p:txBody>
          <a:bodyPr wrap="square" lIns="0" tIns="0" rIns="0" bIns="0" rtlCol="0" anchor="t"/>
          <a:lstStyle/>
          <a:p>
            <a:pPr marL="0" indent="0" algn="l">
              <a:buNone/>
            </a:pPr>
            <a:r>
              <a:rPr lang="en-US" sz="1250" b="1" dirty="0">
                <a:solidFill>
                  <a:srgbClr val="1E2761"/>
                </a:solidFill>
                <a:latin typeface="Calibri" pitchFamily="34" charset="0"/>
                <a:ea typeface="Calibri" pitchFamily="34" charset="-122"/>
                <a:cs typeface="Calibri" pitchFamily="34" charset="-120"/>
              </a:rPr>
              <a:t>ML Services</a:t>
            </a:r>
            <a:endParaRPr lang="en-US" sz="1250" dirty="0"/>
          </a:p>
        </p:txBody>
      </p:sp>
      <p:sp>
        <p:nvSpPr>
          <p:cNvPr id="73" name="Shape 71"/>
          <p:cNvSpPr/>
          <p:nvPr/>
        </p:nvSpPr>
        <p:spPr>
          <a:xfrm>
            <a:off x="9075812" y="1929384"/>
            <a:ext cx="1115568" cy="0"/>
          </a:xfrm>
          <a:prstGeom prst="line">
            <a:avLst/>
          </a:prstGeom>
          <a:noFill/>
          <a:ln w="9525">
            <a:solidFill>
              <a:srgbClr val="D9DEE8"/>
            </a:solidFill>
            <a:prstDash val="solid"/>
          </a:ln>
        </p:spPr>
        <p:txBody>
          <a:bodyPr/>
          <a:lstStyle/>
          <a:p>
            <a:endParaRPr lang="fr-FR"/>
          </a:p>
        </p:txBody>
      </p:sp>
      <p:sp>
        <p:nvSpPr>
          <p:cNvPr id="74" name="Text 72"/>
          <p:cNvSpPr/>
          <p:nvPr/>
        </p:nvSpPr>
        <p:spPr>
          <a:xfrm>
            <a:off x="9075812" y="2002536"/>
            <a:ext cx="1115568" cy="548640"/>
          </a:xfrm>
          <a:prstGeom prst="rect">
            <a:avLst/>
          </a:prstGeom>
          <a:noFill/>
          <a:ln/>
        </p:spPr>
        <p:txBody>
          <a:bodyPr wrap="square" lIns="0" tIns="0" rIns="0" bIns="0" rtlCol="0" anchor="t"/>
          <a:lstStyle/>
          <a:p>
            <a:pPr marL="0" indent="0" algn="l">
              <a:buNone/>
            </a:pPr>
            <a:r>
              <a:rPr lang="en-US" sz="1000" dirty="0" err="1">
                <a:solidFill>
                  <a:srgbClr val="3A3F4B"/>
                </a:solidFill>
                <a:latin typeface="Calibri" pitchFamily="34" charset="0"/>
                <a:ea typeface="Calibri" pitchFamily="34" charset="-122"/>
                <a:cs typeface="Calibri" pitchFamily="34" charset="-120"/>
              </a:rPr>
              <a:t>Déploiement</a:t>
            </a:r>
            <a:r>
              <a:rPr lang="en-US" sz="1000" dirty="0">
                <a:solidFill>
                  <a:srgbClr val="3A3F4B"/>
                </a:solidFill>
                <a:latin typeface="Calibri" pitchFamily="34" charset="0"/>
                <a:ea typeface="Calibri" pitchFamily="34" charset="-122"/>
                <a:cs typeface="Calibri" pitchFamily="34" charset="-120"/>
              </a:rPr>
              <a:t> &amp;  monitoring des modèles</a:t>
            </a:r>
            <a:endParaRPr lang="en-US" sz="1000" dirty="0"/>
          </a:p>
        </p:txBody>
      </p:sp>
      <p:sp>
        <p:nvSpPr>
          <p:cNvPr id="75" name="Text 73"/>
          <p:cNvSpPr/>
          <p:nvPr/>
        </p:nvSpPr>
        <p:spPr>
          <a:xfrm>
            <a:off x="9075812" y="2542032"/>
            <a:ext cx="1115568" cy="621792"/>
          </a:xfrm>
          <a:prstGeom prst="rect">
            <a:avLst/>
          </a:prstGeom>
          <a:noFill/>
          <a:ln/>
        </p:spPr>
        <p:txBody>
          <a:bodyPr wrap="square" lIns="0" tIns="0" rIns="0" bIns="0" rtlCol="0" anchor="t"/>
          <a:lstStyle/>
          <a:p>
            <a:pPr marL="0" indent="0" algn="l">
              <a:buNone/>
            </a:pPr>
            <a:r>
              <a:rPr lang="en-US" sz="950" i="1" dirty="0">
                <a:solidFill>
                  <a:srgbClr val="141B45"/>
                </a:solidFill>
                <a:latin typeface="Calibri" pitchFamily="34" charset="0"/>
                <a:ea typeface="Calibri" pitchFamily="34" charset="-122"/>
                <a:cs typeface="Calibri" pitchFamily="34" charset="-120"/>
              </a:rPr>
              <a:t>Des modèles fiables et surveillés en production</a:t>
            </a:r>
            <a:endParaRPr lang="en-US" sz="950" dirty="0"/>
          </a:p>
        </p:txBody>
      </p:sp>
      <p:sp>
        <p:nvSpPr>
          <p:cNvPr id="76" name="Shape 74"/>
          <p:cNvSpPr/>
          <p:nvPr/>
        </p:nvSpPr>
        <p:spPr>
          <a:xfrm>
            <a:off x="9350132" y="4198774"/>
            <a:ext cx="566928" cy="237744"/>
          </a:xfrm>
          <a:prstGeom prst="roundRect">
            <a:avLst>
              <a:gd name="adj" fmla="val 50000"/>
            </a:avLst>
          </a:prstGeom>
          <a:solidFill>
            <a:srgbClr val="F7F8FA"/>
          </a:solidFill>
          <a:ln w="6350">
            <a:solidFill>
              <a:srgbClr val="D9DEE8"/>
            </a:solidFill>
            <a:prstDash val="solid"/>
          </a:ln>
        </p:spPr>
        <p:txBody>
          <a:bodyPr/>
          <a:lstStyle/>
          <a:p>
            <a:endParaRPr lang="fr-FR"/>
          </a:p>
        </p:txBody>
      </p:sp>
      <p:sp>
        <p:nvSpPr>
          <p:cNvPr id="77" name="Text 75"/>
          <p:cNvSpPr/>
          <p:nvPr/>
        </p:nvSpPr>
        <p:spPr>
          <a:xfrm>
            <a:off x="9350132" y="4198774"/>
            <a:ext cx="566928" cy="237744"/>
          </a:xfrm>
          <a:prstGeom prst="rect">
            <a:avLst/>
          </a:prstGeom>
          <a:noFill/>
          <a:ln/>
        </p:spPr>
        <p:txBody>
          <a:bodyPr wrap="square" lIns="0" tIns="0" rIns="0" bIns="0" rtlCol="0" anchor="ctr"/>
          <a:lstStyle/>
          <a:p>
            <a:pPr marL="0" indent="0" algn="ctr">
              <a:buNone/>
            </a:pPr>
            <a:r>
              <a:rPr lang="en-US" sz="800" b="1" dirty="0">
                <a:solidFill>
                  <a:srgbClr val="6B7280"/>
                </a:solidFill>
                <a:latin typeface="Calibri" pitchFamily="34" charset="0"/>
                <a:ea typeface="Calibri" pitchFamily="34" charset="-122"/>
                <a:cs typeface="Calibri" pitchFamily="34" charset="-120"/>
              </a:rPr>
              <a:t>6 - 9 sem.</a:t>
            </a:r>
            <a:endParaRPr lang="en-US" sz="800" dirty="0"/>
          </a:p>
        </p:txBody>
      </p:sp>
      <p:sp>
        <p:nvSpPr>
          <p:cNvPr id="78" name="Shape 76"/>
          <p:cNvSpPr/>
          <p:nvPr/>
        </p:nvSpPr>
        <p:spPr>
          <a:xfrm>
            <a:off x="10865815" y="3520440"/>
            <a:ext cx="365760" cy="365760"/>
          </a:xfrm>
          <a:prstGeom prst="ellipse">
            <a:avLst/>
          </a:prstGeom>
          <a:solidFill>
            <a:srgbClr val="1E2761"/>
          </a:solidFill>
          <a:ln w="25400">
            <a:solidFill>
              <a:srgbClr val="FFFFFF"/>
            </a:solidFill>
            <a:prstDash val="solid"/>
          </a:ln>
        </p:spPr>
        <p:txBody>
          <a:bodyPr/>
          <a:lstStyle/>
          <a:p>
            <a:endParaRPr lang="fr-FR"/>
          </a:p>
        </p:txBody>
      </p:sp>
      <p:sp>
        <p:nvSpPr>
          <p:cNvPr id="79" name="Text 77"/>
          <p:cNvSpPr/>
          <p:nvPr/>
        </p:nvSpPr>
        <p:spPr>
          <a:xfrm>
            <a:off x="10865815" y="35204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7</a:t>
            </a:r>
            <a:endParaRPr lang="en-US" sz="1300" dirty="0"/>
          </a:p>
        </p:txBody>
      </p:sp>
      <p:sp>
        <p:nvSpPr>
          <p:cNvPr id="80" name="Shape 78"/>
          <p:cNvSpPr/>
          <p:nvPr/>
        </p:nvSpPr>
        <p:spPr>
          <a:xfrm>
            <a:off x="11048695" y="3886200"/>
            <a:ext cx="0" cy="320040"/>
          </a:xfrm>
          <a:prstGeom prst="line">
            <a:avLst/>
          </a:prstGeom>
          <a:noFill/>
          <a:ln w="19050">
            <a:solidFill>
              <a:srgbClr val="D9DEE8"/>
            </a:solidFill>
            <a:prstDash val="dash"/>
          </a:ln>
        </p:spPr>
        <p:txBody>
          <a:bodyPr/>
          <a:lstStyle/>
          <a:p>
            <a:endParaRPr lang="fr-FR"/>
          </a:p>
        </p:txBody>
      </p:sp>
      <p:sp>
        <p:nvSpPr>
          <p:cNvPr id="81" name="Shape 79"/>
          <p:cNvSpPr/>
          <p:nvPr/>
        </p:nvSpPr>
        <p:spPr>
          <a:xfrm>
            <a:off x="10362895" y="4206240"/>
            <a:ext cx="1371600" cy="1783080"/>
          </a:xfrm>
          <a:prstGeom prst="roundRect">
            <a:avLst>
              <a:gd name="adj" fmla="val 4667"/>
            </a:avLst>
          </a:prstGeom>
          <a:solidFill>
            <a:srgbClr val="F2F4F8"/>
          </a:solidFill>
          <a:ln w="9525">
            <a:solidFill>
              <a:srgbClr val="D9DEE8"/>
            </a:solidFill>
            <a:prstDash val="solid"/>
          </a:ln>
          <a:effectLst>
            <a:outerShdw blurRad="63500" dist="25400" dir="5400000" algn="bl" rotWithShape="0">
              <a:srgbClr val="9AA3B5">
                <a:alpha val="25000"/>
              </a:srgbClr>
            </a:outerShdw>
          </a:effectLst>
        </p:spPr>
        <p:txBody>
          <a:bodyPr/>
          <a:lstStyle/>
          <a:p>
            <a:endParaRPr lang="fr-FR"/>
          </a:p>
        </p:txBody>
      </p:sp>
      <p:sp>
        <p:nvSpPr>
          <p:cNvPr id="82" name="Text 80"/>
          <p:cNvSpPr/>
          <p:nvPr/>
        </p:nvSpPr>
        <p:spPr>
          <a:xfrm>
            <a:off x="10490911" y="4315968"/>
            <a:ext cx="1115568" cy="365760"/>
          </a:xfrm>
          <a:prstGeom prst="rect">
            <a:avLst/>
          </a:prstGeom>
          <a:noFill/>
          <a:ln/>
        </p:spPr>
        <p:txBody>
          <a:bodyPr wrap="square" lIns="0" tIns="0" rIns="0" bIns="0" rtlCol="0" anchor="t"/>
          <a:lstStyle/>
          <a:p>
            <a:pPr marL="0" indent="0" algn="l">
              <a:buNone/>
            </a:pPr>
            <a:r>
              <a:rPr lang="en-US" sz="1250" b="1" dirty="0">
                <a:solidFill>
                  <a:srgbClr val="1E2761"/>
                </a:solidFill>
                <a:latin typeface="Calibri" pitchFamily="34" charset="0"/>
                <a:ea typeface="Calibri" pitchFamily="34" charset="-122"/>
                <a:cs typeface="Calibri" pitchFamily="34" charset="-120"/>
              </a:rPr>
              <a:t>Converger</a:t>
            </a:r>
            <a:endParaRPr lang="en-US" sz="1250" dirty="0"/>
          </a:p>
        </p:txBody>
      </p:sp>
      <p:sp>
        <p:nvSpPr>
          <p:cNvPr id="83" name="Shape 81"/>
          <p:cNvSpPr/>
          <p:nvPr/>
        </p:nvSpPr>
        <p:spPr>
          <a:xfrm>
            <a:off x="10490911" y="4718304"/>
            <a:ext cx="1115568" cy="0"/>
          </a:xfrm>
          <a:prstGeom prst="line">
            <a:avLst/>
          </a:prstGeom>
          <a:noFill/>
          <a:ln w="9525">
            <a:solidFill>
              <a:srgbClr val="D9DEE8"/>
            </a:solidFill>
            <a:prstDash val="solid"/>
          </a:ln>
        </p:spPr>
        <p:txBody>
          <a:bodyPr/>
          <a:lstStyle/>
          <a:p>
            <a:endParaRPr lang="fr-FR"/>
          </a:p>
        </p:txBody>
      </p:sp>
      <p:sp>
        <p:nvSpPr>
          <p:cNvPr id="84" name="Text 82"/>
          <p:cNvSpPr/>
          <p:nvPr/>
        </p:nvSpPr>
        <p:spPr>
          <a:xfrm>
            <a:off x="10490911" y="4791456"/>
            <a:ext cx="1115568" cy="548640"/>
          </a:xfrm>
          <a:prstGeom prst="rect">
            <a:avLst/>
          </a:prstGeom>
          <a:noFill/>
          <a:ln/>
        </p:spPr>
        <p:txBody>
          <a:bodyPr wrap="square" lIns="0" tIns="0" rIns="0" bIns="0" rtlCol="0" anchor="t"/>
          <a:lstStyle/>
          <a:p>
            <a:pPr marL="0" indent="0" algn="l">
              <a:buNone/>
            </a:pPr>
            <a:r>
              <a:rPr lang="en-US" sz="1000" dirty="0">
                <a:solidFill>
                  <a:srgbClr val="3A3F4B"/>
                </a:solidFill>
                <a:latin typeface="Calibri" pitchFamily="34" charset="0"/>
                <a:ea typeface="Calibri" pitchFamily="34" charset="-122"/>
                <a:cs typeface="Calibri" pitchFamily="34" charset="-120"/>
              </a:rPr>
              <a:t>Backbone integration Data/Services/</a:t>
            </a:r>
            <a:r>
              <a:rPr lang="en-US" sz="1000" dirty="0" err="1">
                <a:solidFill>
                  <a:srgbClr val="3A3F4B"/>
                </a:solidFill>
                <a:latin typeface="Calibri" pitchFamily="34" charset="0"/>
                <a:ea typeface="Calibri" pitchFamily="34" charset="-122"/>
                <a:cs typeface="Calibri" pitchFamily="34" charset="-120"/>
              </a:rPr>
              <a:t>Portail</a:t>
            </a:r>
            <a:r>
              <a:rPr lang="en-US" sz="1000" dirty="0">
                <a:solidFill>
                  <a:srgbClr val="3A3F4B"/>
                </a:solidFill>
                <a:latin typeface="Calibri" pitchFamily="34" charset="0"/>
                <a:ea typeface="Calibri" pitchFamily="34" charset="-122"/>
                <a:cs typeface="Calibri" pitchFamily="34" charset="-120"/>
              </a:rPr>
              <a:t> /ML</a:t>
            </a:r>
            <a:endParaRPr lang="en-US" sz="1000" dirty="0"/>
          </a:p>
        </p:txBody>
      </p:sp>
      <p:sp>
        <p:nvSpPr>
          <p:cNvPr id="85" name="Text 83"/>
          <p:cNvSpPr/>
          <p:nvPr/>
        </p:nvSpPr>
        <p:spPr>
          <a:xfrm>
            <a:off x="10490911" y="5330952"/>
            <a:ext cx="1115568" cy="621792"/>
          </a:xfrm>
          <a:prstGeom prst="rect">
            <a:avLst/>
          </a:prstGeom>
          <a:noFill/>
          <a:ln/>
        </p:spPr>
        <p:txBody>
          <a:bodyPr wrap="square" lIns="0" tIns="0" rIns="0" bIns="0" rtlCol="0" anchor="t"/>
          <a:lstStyle/>
          <a:p>
            <a:pPr marL="0" indent="0" algn="l">
              <a:buNone/>
            </a:pPr>
            <a:r>
              <a:rPr lang="en-US" sz="950" i="1" dirty="0">
                <a:solidFill>
                  <a:srgbClr val="141B45"/>
                </a:solidFill>
                <a:latin typeface="Calibri" pitchFamily="34" charset="0"/>
                <a:ea typeface="Calibri" pitchFamily="34" charset="-122"/>
                <a:cs typeface="Calibri" pitchFamily="34" charset="-120"/>
              </a:rPr>
              <a:t>Fin de la dispersion et des coûts dupliqués</a:t>
            </a:r>
            <a:endParaRPr lang="en-US" sz="950" dirty="0"/>
          </a:p>
        </p:txBody>
      </p:sp>
      <p:sp>
        <p:nvSpPr>
          <p:cNvPr id="86" name="Shape 84"/>
          <p:cNvSpPr/>
          <p:nvPr/>
        </p:nvSpPr>
        <p:spPr>
          <a:xfrm>
            <a:off x="10765231" y="2978511"/>
            <a:ext cx="566928" cy="237744"/>
          </a:xfrm>
          <a:prstGeom prst="roundRect">
            <a:avLst>
              <a:gd name="adj" fmla="val 50000"/>
            </a:avLst>
          </a:prstGeom>
          <a:solidFill>
            <a:srgbClr val="F7F8FA"/>
          </a:solidFill>
          <a:ln w="6350">
            <a:solidFill>
              <a:srgbClr val="D9DEE8"/>
            </a:solidFill>
            <a:prstDash val="solid"/>
          </a:ln>
        </p:spPr>
        <p:txBody>
          <a:bodyPr/>
          <a:lstStyle/>
          <a:p>
            <a:endParaRPr lang="fr-FR"/>
          </a:p>
        </p:txBody>
      </p:sp>
      <p:sp>
        <p:nvSpPr>
          <p:cNvPr id="87" name="Text 85"/>
          <p:cNvSpPr/>
          <p:nvPr/>
        </p:nvSpPr>
        <p:spPr>
          <a:xfrm>
            <a:off x="10765231" y="2978511"/>
            <a:ext cx="566928" cy="237744"/>
          </a:xfrm>
          <a:prstGeom prst="rect">
            <a:avLst/>
          </a:prstGeom>
          <a:noFill/>
          <a:ln/>
        </p:spPr>
        <p:txBody>
          <a:bodyPr wrap="square" lIns="0" tIns="0" rIns="0" bIns="0" rtlCol="0" anchor="ctr"/>
          <a:lstStyle/>
          <a:p>
            <a:pPr marL="0" indent="0" algn="ctr">
              <a:buNone/>
            </a:pPr>
            <a:r>
              <a:rPr lang="en-US" sz="800" b="1" dirty="0">
                <a:solidFill>
                  <a:srgbClr val="6B7280"/>
                </a:solidFill>
                <a:latin typeface="Calibri" pitchFamily="34" charset="0"/>
                <a:ea typeface="Calibri" pitchFamily="34" charset="-122"/>
                <a:cs typeface="Calibri" pitchFamily="34" charset="-120"/>
              </a:rPr>
              <a:t>continu</a:t>
            </a:r>
            <a:endParaRPr lang="en-US" sz="800" dirty="0"/>
          </a:p>
        </p:txBody>
      </p:sp>
      <p:sp>
        <p:nvSpPr>
          <p:cNvPr id="88" name="Shape 86"/>
          <p:cNvSpPr/>
          <p:nvPr/>
        </p:nvSpPr>
        <p:spPr>
          <a:xfrm>
            <a:off x="0" y="6263640"/>
            <a:ext cx="12191695" cy="594360"/>
          </a:xfrm>
          <a:prstGeom prst="rect">
            <a:avLst/>
          </a:prstGeom>
          <a:solidFill>
            <a:srgbClr val="1E2761"/>
          </a:solidFill>
          <a:ln/>
        </p:spPr>
        <p:txBody>
          <a:bodyPr/>
          <a:lstStyle/>
          <a:p>
            <a:endParaRPr lang="fr-FR"/>
          </a:p>
        </p:txBody>
      </p:sp>
      <p:sp>
        <p:nvSpPr>
          <p:cNvPr id="89" name="Text 87"/>
          <p:cNvSpPr/>
          <p:nvPr/>
        </p:nvSpPr>
        <p:spPr>
          <a:xfrm>
            <a:off x="548640" y="6263640"/>
            <a:ext cx="11094415" cy="594360"/>
          </a:xfrm>
          <a:prstGeom prst="rect">
            <a:avLst/>
          </a:prstGeom>
          <a:noFill/>
          <a:ln/>
        </p:spPr>
        <p:txBody>
          <a:bodyPr wrap="square" lIns="0" tIns="0" rIns="0" bIns="0" rtlCol="0" anchor="ctr"/>
          <a:lstStyle/>
          <a:p>
            <a:pPr marL="0" indent="0" algn="ctr">
              <a:buNone/>
            </a:pPr>
            <a:r>
              <a:rPr lang="en-US" sz="1300" i="1" dirty="0">
                <a:solidFill>
                  <a:srgbClr val="FFFFFF"/>
                </a:solidFill>
                <a:latin typeface="Cambria" pitchFamily="34" charset="0"/>
                <a:ea typeface="Cambria" pitchFamily="34" charset="-122"/>
                <a:cs typeface="Cambria" pitchFamily="34" charset="-120"/>
              </a:rPr>
              <a:t>Chaque palier livre un actif concret réutilisable ET une valeur immédiate — rien n'est construit « au cas où ».</a:t>
            </a:r>
            <a:endParaRPr lang="en-US" sz="1300" dirty="0"/>
          </a:p>
        </p:txBody>
      </p:sp>
      <p:sp>
        <p:nvSpPr>
          <p:cNvPr id="91" name="Shape 7">
            <a:extLst>
              <a:ext uri="{FF2B5EF4-FFF2-40B4-BE49-F238E27FC236}">
                <a16:creationId xmlns:a16="http://schemas.microsoft.com/office/drawing/2014/main" id="{9AAD8AB8-63B0-F763-0F0C-DABEE3A611A3}"/>
              </a:ext>
            </a:extLst>
          </p:cNvPr>
          <p:cNvSpPr/>
          <p:nvPr/>
        </p:nvSpPr>
        <p:spPr>
          <a:xfrm>
            <a:off x="457200" y="1417320"/>
            <a:ext cx="1371600" cy="1783080"/>
          </a:xfrm>
          <a:prstGeom prst="roundRect">
            <a:avLst>
              <a:gd name="adj" fmla="val 4667"/>
            </a:avLst>
          </a:prstGeom>
          <a:solidFill>
            <a:srgbClr val="F0FBFC"/>
          </a:solidFill>
          <a:ln w="15875">
            <a:solidFill>
              <a:srgbClr val="0FA3B1"/>
            </a:solidFill>
            <a:prstDash val="solid"/>
          </a:ln>
          <a:effectLst>
            <a:outerShdw blurRad="63500" dist="25400" dir="5400000" algn="bl" rotWithShape="0">
              <a:srgbClr val="9AA3B5">
                <a:alpha val="25000"/>
              </a:srgbClr>
            </a:outerShdw>
          </a:effectLst>
        </p:spPr>
        <p:txBody>
          <a:bodyPr/>
          <a:lstStyle/>
          <a:p>
            <a:endParaRPr lang="fr-FR"/>
          </a:p>
        </p:txBody>
      </p:sp>
      <p:sp>
        <p:nvSpPr>
          <p:cNvPr id="93" name="Text 8">
            <a:extLst>
              <a:ext uri="{FF2B5EF4-FFF2-40B4-BE49-F238E27FC236}">
                <a16:creationId xmlns:a16="http://schemas.microsoft.com/office/drawing/2014/main" id="{BF5FDE47-9088-6DC0-DC51-10DFE1A8AF94}"/>
              </a:ext>
            </a:extLst>
          </p:cNvPr>
          <p:cNvSpPr/>
          <p:nvPr/>
        </p:nvSpPr>
        <p:spPr>
          <a:xfrm>
            <a:off x="585216" y="1527048"/>
            <a:ext cx="1115568" cy="365760"/>
          </a:xfrm>
          <a:prstGeom prst="rect">
            <a:avLst/>
          </a:prstGeom>
          <a:noFill/>
          <a:ln/>
        </p:spPr>
        <p:txBody>
          <a:bodyPr wrap="square" lIns="0" tIns="0" rIns="0" bIns="0" rtlCol="0" anchor="t"/>
          <a:lstStyle/>
          <a:p>
            <a:r>
              <a:rPr lang="en-US" sz="1250" b="1" dirty="0">
                <a:solidFill>
                  <a:srgbClr val="0C7C88"/>
                </a:solidFill>
                <a:latin typeface="Calibri" pitchFamily="34" charset="0"/>
                <a:ea typeface="Calibri" pitchFamily="34" charset="-122"/>
                <a:cs typeface="Calibri" pitchFamily="34" charset="-120"/>
              </a:rPr>
              <a:t>Explorer </a:t>
            </a:r>
            <a:r>
              <a:rPr lang="en-US" sz="800" b="1" dirty="0">
                <a:solidFill>
                  <a:srgbClr val="0FA3B1"/>
                </a:solidFill>
                <a:latin typeface="Calibri" pitchFamily="34" charset="0"/>
                <a:ea typeface="Calibri" pitchFamily="34" charset="-122"/>
                <a:cs typeface="Calibri" pitchFamily="34" charset="-120"/>
              </a:rPr>
              <a:t>DONE</a:t>
            </a:r>
          </a:p>
        </p:txBody>
      </p:sp>
      <p:sp>
        <p:nvSpPr>
          <p:cNvPr id="95" name="Shape 9">
            <a:extLst>
              <a:ext uri="{FF2B5EF4-FFF2-40B4-BE49-F238E27FC236}">
                <a16:creationId xmlns:a16="http://schemas.microsoft.com/office/drawing/2014/main" id="{30CE1A5F-DBA6-4F13-D4BB-9932BF0E4BA0}"/>
              </a:ext>
            </a:extLst>
          </p:cNvPr>
          <p:cNvSpPr/>
          <p:nvPr/>
        </p:nvSpPr>
        <p:spPr>
          <a:xfrm>
            <a:off x="341424" y="1892808"/>
            <a:ext cx="1115568" cy="0"/>
          </a:xfrm>
          <a:prstGeom prst="line">
            <a:avLst/>
          </a:prstGeom>
          <a:noFill/>
          <a:ln w="9525">
            <a:solidFill>
              <a:srgbClr val="D9DEE8"/>
            </a:solidFill>
            <a:prstDash val="solid"/>
          </a:ln>
        </p:spPr>
        <p:txBody>
          <a:bodyPr/>
          <a:lstStyle/>
          <a:p>
            <a:endParaRPr lang="fr-FR"/>
          </a:p>
        </p:txBody>
      </p:sp>
      <p:sp>
        <p:nvSpPr>
          <p:cNvPr id="97" name="Text 10">
            <a:extLst>
              <a:ext uri="{FF2B5EF4-FFF2-40B4-BE49-F238E27FC236}">
                <a16:creationId xmlns:a16="http://schemas.microsoft.com/office/drawing/2014/main" id="{8900DF63-415E-D682-586C-56251E39D427}"/>
              </a:ext>
            </a:extLst>
          </p:cNvPr>
          <p:cNvSpPr/>
          <p:nvPr/>
        </p:nvSpPr>
        <p:spPr>
          <a:xfrm>
            <a:off x="585216" y="2002536"/>
            <a:ext cx="1115568" cy="548640"/>
          </a:xfrm>
          <a:prstGeom prst="rect">
            <a:avLst/>
          </a:prstGeom>
          <a:noFill/>
          <a:ln/>
        </p:spPr>
        <p:txBody>
          <a:bodyPr wrap="square" lIns="0" tIns="0" rIns="0" bIns="0" rtlCol="0" anchor="t"/>
          <a:lstStyle/>
          <a:p>
            <a:pPr marL="0" indent="0" algn="l">
              <a:buNone/>
            </a:pPr>
            <a:r>
              <a:rPr lang="en-US" sz="1000" dirty="0">
                <a:solidFill>
                  <a:srgbClr val="3A3F4B"/>
                </a:solidFill>
                <a:latin typeface="Calibri" pitchFamily="34" charset="0"/>
                <a:ea typeface="Calibri" pitchFamily="34" charset="-122"/>
                <a:cs typeface="Calibri" pitchFamily="34" charset="-120"/>
              </a:rPr>
              <a:t>POC &amp; architecture cible</a:t>
            </a:r>
            <a:endParaRPr lang="en-US" sz="1000" dirty="0"/>
          </a:p>
        </p:txBody>
      </p:sp>
      <p:sp>
        <p:nvSpPr>
          <p:cNvPr id="99" name="Text 11">
            <a:extLst>
              <a:ext uri="{FF2B5EF4-FFF2-40B4-BE49-F238E27FC236}">
                <a16:creationId xmlns:a16="http://schemas.microsoft.com/office/drawing/2014/main" id="{F57A93DC-0625-128E-47F0-DA2C3B01D9CF}"/>
              </a:ext>
            </a:extLst>
          </p:cNvPr>
          <p:cNvSpPr/>
          <p:nvPr/>
        </p:nvSpPr>
        <p:spPr>
          <a:xfrm>
            <a:off x="585216" y="2542032"/>
            <a:ext cx="1115568" cy="621792"/>
          </a:xfrm>
          <a:prstGeom prst="rect">
            <a:avLst/>
          </a:prstGeom>
          <a:noFill/>
          <a:ln/>
        </p:spPr>
        <p:txBody>
          <a:bodyPr wrap="square" lIns="0" tIns="0" rIns="0" bIns="0" rtlCol="0" anchor="t"/>
          <a:lstStyle/>
          <a:p>
            <a:pPr marL="0" indent="0" algn="l">
              <a:buNone/>
            </a:pPr>
            <a:r>
              <a:rPr lang="en-US" sz="950" i="1" dirty="0">
                <a:solidFill>
                  <a:srgbClr val="141B45"/>
                </a:solidFill>
                <a:latin typeface="Calibri" pitchFamily="34" charset="0"/>
                <a:ea typeface="Calibri" pitchFamily="34" charset="-122"/>
                <a:cs typeface="Calibri" pitchFamily="34" charset="-120"/>
              </a:rPr>
              <a:t>Limiter le risque avant d'investir</a:t>
            </a:r>
            <a:endParaRPr lang="en-US" sz="950" dirty="0"/>
          </a:p>
        </p:txBody>
      </p:sp>
      <p:sp>
        <p:nvSpPr>
          <p:cNvPr id="101" name="Shape 12">
            <a:extLst>
              <a:ext uri="{FF2B5EF4-FFF2-40B4-BE49-F238E27FC236}">
                <a16:creationId xmlns:a16="http://schemas.microsoft.com/office/drawing/2014/main" id="{33345ECF-B895-0DBB-B32D-774B3F3E0B0F}"/>
              </a:ext>
            </a:extLst>
          </p:cNvPr>
          <p:cNvSpPr/>
          <p:nvPr/>
        </p:nvSpPr>
        <p:spPr>
          <a:xfrm>
            <a:off x="890064" y="3413629"/>
            <a:ext cx="566928" cy="566928"/>
          </a:xfrm>
          <a:prstGeom prst="ellipse">
            <a:avLst/>
          </a:prstGeom>
          <a:solidFill>
            <a:srgbClr val="CFF3F5"/>
          </a:solidFill>
          <a:ln/>
        </p:spPr>
        <p:txBody>
          <a:bodyPr/>
          <a:lstStyle/>
          <a:p>
            <a:endParaRPr lang="fr-FR"/>
          </a:p>
        </p:txBody>
      </p:sp>
      <p:sp>
        <p:nvSpPr>
          <p:cNvPr id="103" name="Shape 13">
            <a:extLst>
              <a:ext uri="{FF2B5EF4-FFF2-40B4-BE49-F238E27FC236}">
                <a16:creationId xmlns:a16="http://schemas.microsoft.com/office/drawing/2014/main" id="{64209344-84B0-216D-00DE-51BCBC8F388E}"/>
              </a:ext>
            </a:extLst>
          </p:cNvPr>
          <p:cNvSpPr/>
          <p:nvPr/>
        </p:nvSpPr>
        <p:spPr>
          <a:xfrm>
            <a:off x="990648" y="3514213"/>
            <a:ext cx="365760" cy="365760"/>
          </a:xfrm>
          <a:prstGeom prst="ellipse">
            <a:avLst/>
          </a:prstGeom>
          <a:solidFill>
            <a:srgbClr val="0FA3B1"/>
          </a:solidFill>
          <a:ln w="25400">
            <a:solidFill>
              <a:srgbClr val="FFFFFF"/>
            </a:solidFill>
            <a:prstDash val="solid"/>
          </a:ln>
        </p:spPr>
        <p:txBody>
          <a:bodyPr/>
          <a:lstStyle/>
          <a:p>
            <a:endParaRPr lang="fr-FR"/>
          </a:p>
        </p:txBody>
      </p:sp>
      <p:sp>
        <p:nvSpPr>
          <p:cNvPr id="105" name="Text 14">
            <a:extLst>
              <a:ext uri="{FF2B5EF4-FFF2-40B4-BE49-F238E27FC236}">
                <a16:creationId xmlns:a16="http://schemas.microsoft.com/office/drawing/2014/main" id="{795E7D89-0A7B-4095-DA9C-B5B14392C877}"/>
              </a:ext>
            </a:extLst>
          </p:cNvPr>
          <p:cNvSpPr/>
          <p:nvPr/>
        </p:nvSpPr>
        <p:spPr>
          <a:xfrm>
            <a:off x="990648" y="3514213"/>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rPr>
              <a:t>0</a:t>
            </a:r>
            <a:endParaRPr lang="en-US" sz="1300" dirty="0"/>
          </a:p>
        </p:txBody>
      </p:sp>
      <p:sp>
        <p:nvSpPr>
          <p:cNvPr id="107" name="Shape 15">
            <a:extLst>
              <a:ext uri="{FF2B5EF4-FFF2-40B4-BE49-F238E27FC236}">
                <a16:creationId xmlns:a16="http://schemas.microsoft.com/office/drawing/2014/main" id="{45FCC9A3-380B-B794-48A8-CF45757E3912}"/>
              </a:ext>
            </a:extLst>
          </p:cNvPr>
          <p:cNvSpPr/>
          <p:nvPr/>
        </p:nvSpPr>
        <p:spPr>
          <a:xfrm>
            <a:off x="1178198" y="3200400"/>
            <a:ext cx="0" cy="320040"/>
          </a:xfrm>
          <a:prstGeom prst="line">
            <a:avLst/>
          </a:prstGeom>
          <a:noFill/>
          <a:ln w="19050">
            <a:solidFill>
              <a:srgbClr val="0FA3B1"/>
            </a:solidFill>
            <a:prstDash val="dash"/>
          </a:ln>
        </p:spPr>
        <p:txBody>
          <a:bodyPr/>
          <a:lstStyle/>
          <a:p>
            <a:endParaRPr lang="fr-FR"/>
          </a:p>
        </p:txBody>
      </p:sp>
      <p:sp>
        <p:nvSpPr>
          <p:cNvPr id="109" name="Shape 24">
            <a:extLst>
              <a:ext uri="{FF2B5EF4-FFF2-40B4-BE49-F238E27FC236}">
                <a16:creationId xmlns:a16="http://schemas.microsoft.com/office/drawing/2014/main" id="{867C6EAA-A1FC-6E16-01E2-8FE3E5192BB5}"/>
              </a:ext>
            </a:extLst>
          </p:cNvPr>
          <p:cNvSpPr/>
          <p:nvPr/>
        </p:nvSpPr>
        <p:spPr>
          <a:xfrm>
            <a:off x="887255" y="4202318"/>
            <a:ext cx="566928" cy="237744"/>
          </a:xfrm>
          <a:prstGeom prst="roundRect">
            <a:avLst>
              <a:gd name="adj" fmla="val 50000"/>
            </a:avLst>
          </a:prstGeom>
          <a:solidFill>
            <a:srgbClr val="F0FBFC"/>
          </a:solidFill>
          <a:ln>
            <a:solidFill>
              <a:srgbClr val="0FA3B1"/>
            </a:solidFill>
          </a:ln>
        </p:spPr>
        <p:style>
          <a:lnRef idx="2">
            <a:schemeClr val="accent6"/>
          </a:lnRef>
          <a:fillRef idx="1">
            <a:schemeClr val="lt1"/>
          </a:fillRef>
          <a:effectRef idx="0">
            <a:schemeClr val="accent6"/>
          </a:effectRef>
          <a:fontRef idx="minor">
            <a:schemeClr val="dk1"/>
          </a:fontRef>
        </p:style>
        <p:txBody>
          <a:bodyPr/>
          <a:lstStyle/>
          <a:p>
            <a:endParaRPr lang="fr-FR">
              <a:solidFill>
                <a:srgbClr val="0FA3B1"/>
              </a:solidFill>
            </a:endParaRPr>
          </a:p>
        </p:txBody>
      </p:sp>
      <p:sp>
        <p:nvSpPr>
          <p:cNvPr id="111" name="Text 25">
            <a:extLst>
              <a:ext uri="{FF2B5EF4-FFF2-40B4-BE49-F238E27FC236}">
                <a16:creationId xmlns:a16="http://schemas.microsoft.com/office/drawing/2014/main" id="{B8649AB4-8C4D-45A9-2447-E5D647AFAEB2}"/>
              </a:ext>
            </a:extLst>
          </p:cNvPr>
          <p:cNvSpPr/>
          <p:nvPr/>
        </p:nvSpPr>
        <p:spPr>
          <a:xfrm>
            <a:off x="887255" y="4202318"/>
            <a:ext cx="566928" cy="237744"/>
          </a:xfrm>
          <a:prstGeom prst="rect">
            <a:avLst/>
          </a:prstGeom>
          <a:noFill/>
          <a:ln/>
        </p:spPr>
        <p:txBody>
          <a:bodyPr wrap="square" lIns="0" tIns="0" rIns="0" bIns="0" rtlCol="0" anchor="ctr"/>
          <a:lstStyle/>
          <a:p>
            <a:pPr marL="0" indent="0" algn="ctr">
              <a:buNone/>
            </a:pPr>
            <a:r>
              <a:rPr lang="en-US" sz="800" b="1" dirty="0">
                <a:solidFill>
                  <a:srgbClr val="0FA3B1"/>
                </a:solidFill>
                <a:latin typeface="Calibri" pitchFamily="34" charset="0"/>
                <a:ea typeface="Calibri" pitchFamily="34" charset="-122"/>
                <a:cs typeface="Calibri" pitchFamily="34" charset="-120"/>
              </a:rPr>
              <a:t>6 sem.</a:t>
            </a:r>
            <a:endParaRPr lang="en-US" sz="800" dirty="0">
              <a:solidFill>
                <a:srgbClr val="0FA3B1"/>
              </a:solidFill>
            </a:endParaRPr>
          </a:p>
        </p:txBody>
      </p:sp>
      <p:sp>
        <p:nvSpPr>
          <p:cNvPr id="113" name="Shape 15">
            <a:extLst>
              <a:ext uri="{FF2B5EF4-FFF2-40B4-BE49-F238E27FC236}">
                <a16:creationId xmlns:a16="http://schemas.microsoft.com/office/drawing/2014/main" id="{184951B2-C782-E219-89CF-CE18E901D584}"/>
              </a:ext>
            </a:extLst>
          </p:cNvPr>
          <p:cNvSpPr/>
          <p:nvPr/>
        </p:nvSpPr>
        <p:spPr>
          <a:xfrm>
            <a:off x="1178198" y="3879973"/>
            <a:ext cx="0" cy="320040"/>
          </a:xfrm>
          <a:prstGeom prst="line">
            <a:avLst/>
          </a:prstGeom>
          <a:noFill/>
          <a:ln w="19050">
            <a:solidFill>
              <a:srgbClr val="0FA3B1"/>
            </a:solidFill>
            <a:prstDash val="dash"/>
          </a:ln>
        </p:spPr>
        <p:txBody>
          <a:bodyPr/>
          <a:lstStyle/>
          <a:p>
            <a:endParaRPr lang="fr-FR"/>
          </a:p>
        </p:txBody>
      </p:sp>
      <p:sp>
        <p:nvSpPr>
          <p:cNvPr id="115" name="Shape 14">
            <a:extLst>
              <a:ext uri="{FF2B5EF4-FFF2-40B4-BE49-F238E27FC236}">
                <a16:creationId xmlns:a16="http://schemas.microsoft.com/office/drawing/2014/main" id="{0E425DFB-94A2-3D42-97D9-C64934E0DBF8}"/>
              </a:ext>
            </a:extLst>
          </p:cNvPr>
          <p:cNvSpPr/>
          <p:nvPr/>
        </p:nvSpPr>
        <p:spPr>
          <a:xfrm>
            <a:off x="2263117" y="3364992"/>
            <a:ext cx="676656" cy="676656"/>
          </a:xfrm>
          <a:prstGeom prst="ellipse">
            <a:avLst/>
          </a:prstGeom>
          <a:solidFill>
            <a:srgbClr val="FDF1DD"/>
          </a:solidFill>
          <a:ln/>
        </p:spPr>
        <p:txBody>
          <a:bodyPr/>
          <a:lstStyle/>
          <a:p>
            <a:endParaRPr lang="fr-FR"/>
          </a:p>
        </p:txBody>
      </p:sp>
      <p:sp>
        <p:nvSpPr>
          <p:cNvPr id="117" name="Shape 15">
            <a:extLst>
              <a:ext uri="{FF2B5EF4-FFF2-40B4-BE49-F238E27FC236}">
                <a16:creationId xmlns:a16="http://schemas.microsoft.com/office/drawing/2014/main" id="{F2AEEBBE-5C98-092A-E1CB-0248BC75AF90}"/>
              </a:ext>
            </a:extLst>
          </p:cNvPr>
          <p:cNvSpPr/>
          <p:nvPr/>
        </p:nvSpPr>
        <p:spPr>
          <a:xfrm>
            <a:off x="2345413" y="3447288"/>
            <a:ext cx="512064" cy="512064"/>
          </a:xfrm>
          <a:prstGeom prst="ellipse">
            <a:avLst/>
          </a:prstGeom>
          <a:solidFill>
            <a:srgbClr val="FBE4BC"/>
          </a:solidFill>
          <a:ln/>
        </p:spPr>
        <p:txBody>
          <a:bodyPr/>
          <a:lstStyle/>
          <a:p>
            <a:endParaRPr lang="fr-FR"/>
          </a:p>
        </p:txBody>
      </p:sp>
      <p:sp>
        <p:nvSpPr>
          <p:cNvPr id="119" name="Shape 16">
            <a:extLst>
              <a:ext uri="{FF2B5EF4-FFF2-40B4-BE49-F238E27FC236}">
                <a16:creationId xmlns:a16="http://schemas.microsoft.com/office/drawing/2014/main" id="{E5D645D5-4F14-5A71-375C-6445CEAF4167}"/>
              </a:ext>
            </a:extLst>
          </p:cNvPr>
          <p:cNvSpPr/>
          <p:nvPr/>
        </p:nvSpPr>
        <p:spPr>
          <a:xfrm>
            <a:off x="2418565" y="3520440"/>
            <a:ext cx="365760" cy="365760"/>
          </a:xfrm>
          <a:prstGeom prst="ellipse">
            <a:avLst/>
          </a:prstGeom>
          <a:solidFill>
            <a:srgbClr val="E8A33D"/>
          </a:solidFill>
          <a:ln w="25400">
            <a:solidFill>
              <a:srgbClr val="FFFFFF"/>
            </a:solidFill>
            <a:prstDash val="solid"/>
          </a:ln>
        </p:spPr>
        <p:txBody>
          <a:bodyPr/>
          <a:lstStyle/>
          <a:p>
            <a:endParaRPr lang="fr-FR"/>
          </a:p>
        </p:txBody>
      </p:sp>
      <p:sp>
        <p:nvSpPr>
          <p:cNvPr id="121" name="Text 17">
            <a:extLst>
              <a:ext uri="{FF2B5EF4-FFF2-40B4-BE49-F238E27FC236}">
                <a16:creationId xmlns:a16="http://schemas.microsoft.com/office/drawing/2014/main" id="{96FBFF3C-CA38-5B2E-96C8-E562FA14940D}"/>
              </a:ext>
            </a:extLst>
          </p:cNvPr>
          <p:cNvSpPr/>
          <p:nvPr/>
        </p:nvSpPr>
        <p:spPr>
          <a:xfrm>
            <a:off x="2418565" y="35204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23" name="Shape 18">
            <a:extLst>
              <a:ext uri="{FF2B5EF4-FFF2-40B4-BE49-F238E27FC236}">
                <a16:creationId xmlns:a16="http://schemas.microsoft.com/office/drawing/2014/main" id="{C8F15252-AC9D-22A0-6826-71B57E6C2847}"/>
              </a:ext>
            </a:extLst>
          </p:cNvPr>
          <p:cNvSpPr/>
          <p:nvPr/>
        </p:nvSpPr>
        <p:spPr>
          <a:xfrm>
            <a:off x="2601445" y="3886200"/>
            <a:ext cx="0" cy="320040"/>
          </a:xfrm>
          <a:prstGeom prst="line">
            <a:avLst/>
          </a:prstGeom>
          <a:noFill/>
          <a:ln w="19050">
            <a:solidFill>
              <a:srgbClr val="E8A33D"/>
            </a:solidFill>
            <a:prstDash val="dash"/>
          </a:ln>
        </p:spPr>
        <p:txBody>
          <a:bodyPr/>
          <a:lstStyle/>
          <a:p>
            <a:endParaRPr lang="fr-FR"/>
          </a:p>
        </p:txBody>
      </p:sp>
      <p:sp>
        <p:nvSpPr>
          <p:cNvPr id="125" name="Shape 19">
            <a:extLst>
              <a:ext uri="{FF2B5EF4-FFF2-40B4-BE49-F238E27FC236}">
                <a16:creationId xmlns:a16="http://schemas.microsoft.com/office/drawing/2014/main" id="{55253155-9D66-AFAD-D70E-21828539B8EC}"/>
              </a:ext>
            </a:extLst>
          </p:cNvPr>
          <p:cNvSpPr/>
          <p:nvPr/>
        </p:nvSpPr>
        <p:spPr>
          <a:xfrm>
            <a:off x="1915645" y="4206240"/>
            <a:ext cx="1371600" cy="1783080"/>
          </a:xfrm>
          <a:prstGeom prst="roundRect">
            <a:avLst>
              <a:gd name="adj" fmla="val 4667"/>
            </a:avLst>
          </a:prstGeom>
          <a:solidFill>
            <a:srgbClr val="FDF1DD"/>
          </a:solidFill>
          <a:ln w="15875">
            <a:solidFill>
              <a:srgbClr val="E8A33D"/>
            </a:solidFill>
            <a:prstDash val="solid"/>
          </a:ln>
          <a:effectLst>
            <a:outerShdw blurRad="88900" dist="25400" dir="5400000" algn="bl" rotWithShape="0">
              <a:srgbClr val="D89B3D">
                <a:alpha val="35000"/>
              </a:srgbClr>
            </a:outerShdw>
          </a:effectLst>
        </p:spPr>
        <p:txBody>
          <a:bodyPr/>
          <a:lstStyle/>
          <a:p>
            <a:endParaRPr lang="fr-FR"/>
          </a:p>
        </p:txBody>
      </p:sp>
      <p:sp>
        <p:nvSpPr>
          <p:cNvPr id="127" name="Text 20">
            <a:extLst>
              <a:ext uri="{FF2B5EF4-FFF2-40B4-BE49-F238E27FC236}">
                <a16:creationId xmlns:a16="http://schemas.microsoft.com/office/drawing/2014/main" id="{E9A66A84-3DDB-3A9C-0814-D02F98677E28}"/>
              </a:ext>
            </a:extLst>
          </p:cNvPr>
          <p:cNvSpPr/>
          <p:nvPr/>
        </p:nvSpPr>
        <p:spPr>
          <a:xfrm>
            <a:off x="2043661" y="4315968"/>
            <a:ext cx="1115568" cy="365760"/>
          </a:xfrm>
          <a:prstGeom prst="rect">
            <a:avLst/>
          </a:prstGeom>
          <a:noFill/>
          <a:ln/>
        </p:spPr>
        <p:txBody>
          <a:bodyPr wrap="square" lIns="0" tIns="0" rIns="0" bIns="0" rtlCol="0" anchor="t"/>
          <a:lstStyle/>
          <a:p>
            <a:pPr marL="0" indent="0" algn="l">
              <a:buNone/>
            </a:pPr>
            <a:r>
              <a:rPr lang="en-US" sz="1250" b="1" dirty="0" err="1">
                <a:solidFill>
                  <a:srgbClr val="A6660B"/>
                </a:solidFill>
                <a:latin typeface="Calibri" pitchFamily="34" charset="0"/>
                <a:ea typeface="Calibri" pitchFamily="34" charset="-122"/>
                <a:cs typeface="Calibri" pitchFamily="34" charset="-120"/>
              </a:rPr>
              <a:t>Accélérer</a:t>
            </a:r>
            <a:r>
              <a:rPr lang="en-US" sz="800" b="1" dirty="0">
                <a:solidFill>
                  <a:srgbClr val="A6660B"/>
                </a:solidFill>
                <a:latin typeface="Calibri" pitchFamily="34" charset="0"/>
                <a:ea typeface="Calibri" pitchFamily="34" charset="-122"/>
                <a:cs typeface="Calibri" pitchFamily="34" charset="-120"/>
              </a:rPr>
              <a:t>  EN COURS</a:t>
            </a:r>
            <a:endParaRPr lang="en-US" sz="1250" dirty="0"/>
          </a:p>
        </p:txBody>
      </p:sp>
      <p:sp>
        <p:nvSpPr>
          <p:cNvPr id="129" name="Shape 21">
            <a:extLst>
              <a:ext uri="{FF2B5EF4-FFF2-40B4-BE49-F238E27FC236}">
                <a16:creationId xmlns:a16="http://schemas.microsoft.com/office/drawing/2014/main" id="{B8953362-2100-9AF7-F616-C4D6BC6B53B8}"/>
              </a:ext>
            </a:extLst>
          </p:cNvPr>
          <p:cNvSpPr/>
          <p:nvPr/>
        </p:nvSpPr>
        <p:spPr>
          <a:xfrm>
            <a:off x="2043661" y="4718304"/>
            <a:ext cx="1115568" cy="0"/>
          </a:xfrm>
          <a:prstGeom prst="line">
            <a:avLst/>
          </a:prstGeom>
          <a:noFill/>
          <a:ln w="9525">
            <a:solidFill>
              <a:srgbClr val="EFD4A0"/>
            </a:solidFill>
            <a:prstDash val="solid"/>
          </a:ln>
        </p:spPr>
        <p:txBody>
          <a:bodyPr/>
          <a:lstStyle/>
          <a:p>
            <a:endParaRPr lang="fr-FR"/>
          </a:p>
        </p:txBody>
      </p:sp>
      <p:sp>
        <p:nvSpPr>
          <p:cNvPr id="131" name="Text 22">
            <a:extLst>
              <a:ext uri="{FF2B5EF4-FFF2-40B4-BE49-F238E27FC236}">
                <a16:creationId xmlns:a16="http://schemas.microsoft.com/office/drawing/2014/main" id="{3826B37A-755B-CF19-A069-825B591341C0}"/>
              </a:ext>
            </a:extLst>
          </p:cNvPr>
          <p:cNvSpPr/>
          <p:nvPr/>
        </p:nvSpPr>
        <p:spPr>
          <a:xfrm>
            <a:off x="2043661" y="4791456"/>
            <a:ext cx="1115568" cy="548640"/>
          </a:xfrm>
          <a:prstGeom prst="rect">
            <a:avLst/>
          </a:prstGeom>
          <a:noFill/>
          <a:ln/>
        </p:spPr>
        <p:txBody>
          <a:bodyPr wrap="square" lIns="0" tIns="0" rIns="0" bIns="0" rtlCol="0" anchor="t"/>
          <a:lstStyle/>
          <a:p>
            <a:pPr marL="0" indent="0" algn="l">
              <a:buNone/>
            </a:pPr>
            <a:r>
              <a:rPr lang="en-US" sz="1000" dirty="0">
                <a:solidFill>
                  <a:srgbClr val="3A3F4B"/>
                </a:solidFill>
                <a:latin typeface="Calibri" pitchFamily="34" charset="0"/>
                <a:ea typeface="Calibri" pitchFamily="34" charset="-122"/>
                <a:cs typeface="Calibri" pitchFamily="34" charset="-120"/>
              </a:rPr>
              <a:t>Standard data product + </a:t>
            </a:r>
            <a:r>
              <a:rPr lang="en-US" sz="1000" dirty="0" err="1">
                <a:solidFill>
                  <a:srgbClr val="3A3F4B"/>
                </a:solidFill>
                <a:latin typeface="Calibri" pitchFamily="34" charset="0"/>
                <a:ea typeface="Calibri" pitchFamily="34" charset="-122"/>
                <a:cs typeface="Calibri" pitchFamily="34" charset="-120"/>
              </a:rPr>
              <a:t>platformctl</a:t>
            </a:r>
            <a:endParaRPr lang="en-US" sz="1000" dirty="0"/>
          </a:p>
        </p:txBody>
      </p:sp>
      <p:sp>
        <p:nvSpPr>
          <p:cNvPr id="133" name="Text 23">
            <a:extLst>
              <a:ext uri="{FF2B5EF4-FFF2-40B4-BE49-F238E27FC236}">
                <a16:creationId xmlns:a16="http://schemas.microsoft.com/office/drawing/2014/main" id="{55153EC9-A30E-8B8C-7211-5601435E9EE0}"/>
              </a:ext>
            </a:extLst>
          </p:cNvPr>
          <p:cNvSpPr/>
          <p:nvPr/>
        </p:nvSpPr>
        <p:spPr>
          <a:xfrm>
            <a:off x="2043661" y="5330952"/>
            <a:ext cx="1115568" cy="621792"/>
          </a:xfrm>
          <a:prstGeom prst="rect">
            <a:avLst/>
          </a:prstGeom>
          <a:noFill/>
          <a:ln/>
        </p:spPr>
        <p:txBody>
          <a:bodyPr wrap="square" lIns="0" tIns="0" rIns="0" bIns="0" rtlCol="0" anchor="t"/>
          <a:lstStyle/>
          <a:p>
            <a:pPr marL="0" indent="0" algn="l">
              <a:buNone/>
            </a:pPr>
            <a:r>
              <a:rPr lang="en-US" sz="950" i="1" dirty="0">
                <a:solidFill>
                  <a:srgbClr val="141B45"/>
                </a:solidFill>
                <a:latin typeface="Calibri" pitchFamily="34" charset="0"/>
                <a:ea typeface="Calibri" pitchFamily="34" charset="-122"/>
                <a:cs typeface="Calibri" pitchFamily="34" charset="-120"/>
              </a:rPr>
              <a:t>Délais de mise en prod réduits dès aujourd'hui</a:t>
            </a:r>
            <a:endParaRPr lang="en-US" sz="950" dirty="0"/>
          </a:p>
        </p:txBody>
      </p:sp>
      <p:sp>
        <p:nvSpPr>
          <p:cNvPr id="135" name="Shape 24">
            <a:extLst>
              <a:ext uri="{FF2B5EF4-FFF2-40B4-BE49-F238E27FC236}">
                <a16:creationId xmlns:a16="http://schemas.microsoft.com/office/drawing/2014/main" id="{F91C9D99-A018-79E7-C476-2CC6A779D4FF}"/>
              </a:ext>
            </a:extLst>
          </p:cNvPr>
          <p:cNvSpPr/>
          <p:nvPr/>
        </p:nvSpPr>
        <p:spPr>
          <a:xfrm>
            <a:off x="2317981" y="2949403"/>
            <a:ext cx="566928" cy="237744"/>
          </a:xfrm>
          <a:prstGeom prst="roundRect">
            <a:avLst>
              <a:gd name="adj" fmla="val 50000"/>
            </a:avLst>
          </a:prstGeom>
          <a:solidFill>
            <a:srgbClr val="FDF1DD"/>
          </a:solidFill>
          <a:ln w="6350">
            <a:solidFill>
              <a:srgbClr val="EFD4A0"/>
            </a:solidFill>
            <a:prstDash val="solid"/>
          </a:ln>
        </p:spPr>
        <p:txBody>
          <a:bodyPr/>
          <a:lstStyle/>
          <a:p>
            <a:endParaRPr lang="fr-FR"/>
          </a:p>
        </p:txBody>
      </p:sp>
      <p:sp>
        <p:nvSpPr>
          <p:cNvPr id="137" name="Text 25">
            <a:extLst>
              <a:ext uri="{FF2B5EF4-FFF2-40B4-BE49-F238E27FC236}">
                <a16:creationId xmlns:a16="http://schemas.microsoft.com/office/drawing/2014/main" id="{07C8EE8D-849C-1E2C-793F-2B498F4701BF}"/>
              </a:ext>
            </a:extLst>
          </p:cNvPr>
          <p:cNvSpPr/>
          <p:nvPr/>
        </p:nvSpPr>
        <p:spPr>
          <a:xfrm>
            <a:off x="2317981" y="2949403"/>
            <a:ext cx="566928" cy="237744"/>
          </a:xfrm>
          <a:prstGeom prst="rect">
            <a:avLst/>
          </a:prstGeom>
          <a:noFill/>
          <a:ln/>
        </p:spPr>
        <p:txBody>
          <a:bodyPr wrap="square" lIns="0" tIns="0" rIns="0" bIns="0" rtlCol="0" anchor="ctr"/>
          <a:lstStyle/>
          <a:p>
            <a:pPr marL="0" indent="0" algn="ctr">
              <a:buNone/>
            </a:pPr>
            <a:r>
              <a:rPr lang="en-US" sz="800" b="1" dirty="0">
                <a:solidFill>
                  <a:srgbClr val="A6660B"/>
                </a:solidFill>
                <a:latin typeface="Calibri" pitchFamily="34" charset="0"/>
                <a:ea typeface="Calibri" pitchFamily="34" charset="-122"/>
                <a:cs typeface="Calibri" pitchFamily="34" charset="-120"/>
              </a:rPr>
              <a:t>4 - 6 sem.</a:t>
            </a:r>
            <a:endParaRPr lang="en-US" sz="800" dirty="0"/>
          </a:p>
        </p:txBody>
      </p:sp>
      <p:sp>
        <p:nvSpPr>
          <p:cNvPr id="139" name="Shape 18">
            <a:extLst>
              <a:ext uri="{FF2B5EF4-FFF2-40B4-BE49-F238E27FC236}">
                <a16:creationId xmlns:a16="http://schemas.microsoft.com/office/drawing/2014/main" id="{7A5449EE-8795-7DD9-613C-0A1E891E0C39}"/>
              </a:ext>
            </a:extLst>
          </p:cNvPr>
          <p:cNvSpPr/>
          <p:nvPr/>
        </p:nvSpPr>
        <p:spPr>
          <a:xfrm>
            <a:off x="2595223" y="3189509"/>
            <a:ext cx="0" cy="320040"/>
          </a:xfrm>
          <a:prstGeom prst="line">
            <a:avLst/>
          </a:prstGeom>
          <a:noFill/>
          <a:ln w="19050">
            <a:solidFill>
              <a:srgbClr val="E8A33D"/>
            </a:solidFill>
            <a:prstDash val="dash"/>
          </a:ln>
        </p:spPr>
        <p:txBody>
          <a:bodyPr/>
          <a:lstStyle/>
          <a:p>
            <a:endParaRPr lang="fr-FR"/>
          </a:p>
        </p:txBody>
      </p:sp>
      <p:sp>
        <p:nvSpPr>
          <p:cNvPr id="141" name="Shape 28">
            <a:extLst>
              <a:ext uri="{FF2B5EF4-FFF2-40B4-BE49-F238E27FC236}">
                <a16:creationId xmlns:a16="http://schemas.microsoft.com/office/drawing/2014/main" id="{B085C3C7-D3B6-B470-81C1-6D852D4A2A8E}"/>
              </a:ext>
            </a:extLst>
          </p:cNvPr>
          <p:cNvSpPr/>
          <p:nvPr/>
        </p:nvSpPr>
        <p:spPr>
          <a:xfrm>
            <a:off x="3982986" y="3886200"/>
            <a:ext cx="0" cy="289980"/>
          </a:xfrm>
          <a:prstGeom prst="line">
            <a:avLst/>
          </a:prstGeom>
          <a:noFill/>
          <a:ln w="19050">
            <a:solidFill>
              <a:srgbClr val="D9DEE8"/>
            </a:solidFill>
            <a:prstDash val="dash"/>
          </a:ln>
        </p:spPr>
        <p:txBody>
          <a:bodyPr/>
          <a:lstStyle/>
          <a:p>
            <a:endParaRPr lang="fr-FR"/>
          </a:p>
        </p:txBody>
      </p:sp>
      <p:sp>
        <p:nvSpPr>
          <p:cNvPr id="143" name="Shape 48">
            <a:extLst>
              <a:ext uri="{FF2B5EF4-FFF2-40B4-BE49-F238E27FC236}">
                <a16:creationId xmlns:a16="http://schemas.microsoft.com/office/drawing/2014/main" id="{C3BF7EB8-EBE3-AD0B-25B9-21D091E5B9FE}"/>
              </a:ext>
            </a:extLst>
          </p:cNvPr>
          <p:cNvSpPr/>
          <p:nvPr/>
        </p:nvSpPr>
        <p:spPr>
          <a:xfrm>
            <a:off x="6803397" y="3881628"/>
            <a:ext cx="0" cy="320040"/>
          </a:xfrm>
          <a:prstGeom prst="line">
            <a:avLst/>
          </a:prstGeom>
          <a:noFill/>
          <a:ln w="19050">
            <a:solidFill>
              <a:srgbClr val="D9DEE8"/>
            </a:solidFill>
            <a:prstDash val="dash"/>
          </a:ln>
        </p:spPr>
        <p:txBody>
          <a:bodyPr/>
          <a:lstStyle/>
          <a:p>
            <a:endParaRPr lang="fr-FR"/>
          </a:p>
        </p:txBody>
      </p:sp>
      <p:sp>
        <p:nvSpPr>
          <p:cNvPr id="145" name="Shape 68">
            <a:extLst>
              <a:ext uri="{FF2B5EF4-FFF2-40B4-BE49-F238E27FC236}">
                <a16:creationId xmlns:a16="http://schemas.microsoft.com/office/drawing/2014/main" id="{3C75E0CC-8BE4-6CD8-03BD-490B7793712A}"/>
              </a:ext>
            </a:extLst>
          </p:cNvPr>
          <p:cNvSpPr/>
          <p:nvPr/>
        </p:nvSpPr>
        <p:spPr>
          <a:xfrm>
            <a:off x="9633596" y="3904628"/>
            <a:ext cx="0" cy="297690"/>
          </a:xfrm>
          <a:prstGeom prst="line">
            <a:avLst/>
          </a:prstGeom>
          <a:noFill/>
          <a:ln w="19050">
            <a:solidFill>
              <a:srgbClr val="D9DEE8"/>
            </a:solidFill>
            <a:prstDash val="dash"/>
          </a:ln>
        </p:spPr>
        <p:txBody>
          <a:bodyPr/>
          <a:lstStyle/>
          <a:p>
            <a:endParaRPr lang="fr-FR"/>
          </a:p>
        </p:txBody>
      </p:sp>
      <p:sp>
        <p:nvSpPr>
          <p:cNvPr id="147" name="Shape 38">
            <a:extLst>
              <a:ext uri="{FF2B5EF4-FFF2-40B4-BE49-F238E27FC236}">
                <a16:creationId xmlns:a16="http://schemas.microsoft.com/office/drawing/2014/main" id="{512ACCC9-4F80-AA5E-C882-72C763E61B79}"/>
              </a:ext>
            </a:extLst>
          </p:cNvPr>
          <p:cNvSpPr/>
          <p:nvPr/>
        </p:nvSpPr>
        <p:spPr>
          <a:xfrm>
            <a:off x="5400651" y="3204972"/>
            <a:ext cx="0" cy="320040"/>
          </a:xfrm>
          <a:prstGeom prst="line">
            <a:avLst/>
          </a:prstGeom>
          <a:noFill/>
          <a:ln w="19050">
            <a:solidFill>
              <a:srgbClr val="D9DEE8"/>
            </a:solidFill>
            <a:prstDash val="dash"/>
          </a:ln>
        </p:spPr>
        <p:txBody>
          <a:bodyPr/>
          <a:lstStyle/>
          <a:p>
            <a:endParaRPr lang="fr-FR"/>
          </a:p>
        </p:txBody>
      </p:sp>
      <p:sp>
        <p:nvSpPr>
          <p:cNvPr id="149" name="Shape 38">
            <a:extLst>
              <a:ext uri="{FF2B5EF4-FFF2-40B4-BE49-F238E27FC236}">
                <a16:creationId xmlns:a16="http://schemas.microsoft.com/office/drawing/2014/main" id="{AB992494-6320-76C4-8C00-30D1D7BEE749}"/>
              </a:ext>
            </a:extLst>
          </p:cNvPr>
          <p:cNvSpPr/>
          <p:nvPr/>
        </p:nvSpPr>
        <p:spPr>
          <a:xfrm>
            <a:off x="8218497" y="3232544"/>
            <a:ext cx="0" cy="292468"/>
          </a:xfrm>
          <a:prstGeom prst="line">
            <a:avLst/>
          </a:prstGeom>
          <a:noFill/>
          <a:ln w="19050">
            <a:solidFill>
              <a:srgbClr val="D9DEE8"/>
            </a:solidFill>
            <a:prstDash val="dash"/>
          </a:ln>
        </p:spPr>
        <p:txBody>
          <a:bodyPr/>
          <a:lstStyle/>
          <a:p>
            <a:endParaRPr lang="fr-FR"/>
          </a:p>
        </p:txBody>
      </p:sp>
      <p:sp>
        <p:nvSpPr>
          <p:cNvPr id="151" name="Shape 38">
            <a:extLst>
              <a:ext uri="{FF2B5EF4-FFF2-40B4-BE49-F238E27FC236}">
                <a16:creationId xmlns:a16="http://schemas.microsoft.com/office/drawing/2014/main" id="{F2F24A6D-9AEE-A096-9CB4-02A35C6E437A}"/>
              </a:ext>
            </a:extLst>
          </p:cNvPr>
          <p:cNvSpPr/>
          <p:nvPr/>
        </p:nvSpPr>
        <p:spPr>
          <a:xfrm>
            <a:off x="11048695" y="3204972"/>
            <a:ext cx="0" cy="320040"/>
          </a:xfrm>
          <a:prstGeom prst="line">
            <a:avLst/>
          </a:prstGeom>
          <a:noFill/>
          <a:ln w="19050">
            <a:solidFill>
              <a:srgbClr val="D9DEE8"/>
            </a:solidFill>
            <a:prstDash val="dash"/>
          </a:ln>
        </p:spPr>
        <p:txBody>
          <a:bodyPr/>
          <a:lstStyle/>
          <a:p>
            <a:endParaRPr lang="fr-F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1185855" cy="502920"/>
          </a:xfrm>
          <a:prstGeom prst="rect">
            <a:avLst/>
          </a:prstGeom>
          <a:noFill/>
          <a:ln/>
        </p:spPr>
        <p:txBody>
          <a:bodyPr wrap="square" lIns="0" tIns="0" rIns="0" bIns="0" rtlCol="0" anchor="ctr"/>
          <a:lstStyle/>
          <a:p>
            <a:pPr marL="0" indent="0" algn="l">
              <a:buNone/>
            </a:pPr>
            <a:r>
              <a:rPr lang="en-US" sz="2250" b="1" dirty="0">
                <a:solidFill>
                  <a:srgbClr val="1E2761"/>
                </a:solidFill>
                <a:latin typeface="Cambria" pitchFamily="34" charset="0"/>
                <a:ea typeface="Cambria" pitchFamily="34" charset="-122"/>
                <a:cs typeface="Cambria" pitchFamily="34" charset="-120"/>
              </a:rPr>
              <a:t>Zoom Data Engineering — Architecturer, Accélérer, Industrialiser, Fédérer, Servir</a:t>
            </a:r>
            <a:endParaRPr lang="en-US" sz="2250" dirty="0"/>
          </a:p>
        </p:txBody>
      </p:sp>
      <p:sp>
        <p:nvSpPr>
          <p:cNvPr id="3" name="Text 1"/>
          <p:cNvSpPr/>
          <p:nvPr/>
        </p:nvSpPr>
        <p:spPr>
          <a:xfrm>
            <a:off x="502920" y="795528"/>
            <a:ext cx="11185855" cy="320040"/>
          </a:xfrm>
          <a:prstGeom prst="rect">
            <a:avLst/>
          </a:prstGeom>
          <a:noFill/>
          <a:ln/>
        </p:spPr>
        <p:txBody>
          <a:bodyPr wrap="square" lIns="0" tIns="0" rIns="0" bIns="0" rtlCol="0" anchor="ctr"/>
          <a:lstStyle/>
          <a:p>
            <a:pPr marL="0" indent="0" algn="l">
              <a:buNone/>
            </a:pPr>
            <a:r>
              <a:rPr lang="en-US" sz="1250" i="1" dirty="0">
                <a:solidFill>
                  <a:srgbClr val="3A3F4B"/>
                </a:solidFill>
                <a:latin typeface="Calibri" pitchFamily="34" charset="0"/>
                <a:ea typeface="Calibri" pitchFamily="34" charset="-122"/>
                <a:cs typeface="Calibri" pitchFamily="34" charset="-120"/>
              </a:rPr>
              <a:t>Le socle Data Engineering — de l'architecture cible jusqu'à l'exposition en services</a:t>
            </a:r>
            <a:endParaRPr lang="en-US" sz="1250" dirty="0"/>
          </a:p>
        </p:txBody>
      </p:sp>
      <p:sp>
        <p:nvSpPr>
          <p:cNvPr id="4" name="Shape 2"/>
          <p:cNvSpPr/>
          <p:nvPr/>
        </p:nvSpPr>
        <p:spPr>
          <a:xfrm>
            <a:off x="591160" y="1298448"/>
            <a:ext cx="2084832" cy="4434840"/>
          </a:xfrm>
          <a:prstGeom prst="roundRect">
            <a:avLst>
              <a:gd name="adj" fmla="val 3070"/>
            </a:avLst>
          </a:prstGeom>
          <a:solidFill>
            <a:srgbClr val="EFFAFB"/>
          </a:solidFill>
          <a:ln w="13970">
            <a:solidFill>
              <a:srgbClr val="0FA3B1"/>
            </a:solidFill>
            <a:prstDash val="solid"/>
          </a:ln>
          <a:effectLst>
            <a:outerShdw blurRad="63500" dist="25400" dir="5400000" algn="bl" rotWithShape="0">
              <a:srgbClr val="9AA3B5">
                <a:alpha val="20000"/>
              </a:srgbClr>
            </a:outerShdw>
          </a:effectLst>
        </p:spPr>
        <p:txBody>
          <a:bodyPr/>
          <a:lstStyle/>
          <a:p>
            <a:endParaRPr lang="fr-FR"/>
          </a:p>
        </p:txBody>
      </p:sp>
      <p:sp>
        <p:nvSpPr>
          <p:cNvPr id="5" name="Shape 3"/>
          <p:cNvSpPr/>
          <p:nvPr/>
        </p:nvSpPr>
        <p:spPr>
          <a:xfrm>
            <a:off x="591160" y="1298448"/>
            <a:ext cx="2084832" cy="621792"/>
          </a:xfrm>
          <a:prstGeom prst="roundRect">
            <a:avLst>
              <a:gd name="adj" fmla="val 10294"/>
            </a:avLst>
          </a:prstGeom>
          <a:solidFill>
            <a:srgbClr val="0FA3B1"/>
          </a:solidFill>
          <a:ln/>
        </p:spPr>
        <p:txBody>
          <a:bodyPr/>
          <a:lstStyle/>
          <a:p>
            <a:endParaRPr lang="fr-FR"/>
          </a:p>
        </p:txBody>
      </p:sp>
      <p:sp>
        <p:nvSpPr>
          <p:cNvPr id="6" name="Shape 4"/>
          <p:cNvSpPr/>
          <p:nvPr/>
        </p:nvSpPr>
        <p:spPr>
          <a:xfrm>
            <a:off x="591160" y="1810512"/>
            <a:ext cx="2084832" cy="109728"/>
          </a:xfrm>
          <a:prstGeom prst="rect">
            <a:avLst/>
          </a:prstGeom>
          <a:solidFill>
            <a:srgbClr val="0FA3B1"/>
          </a:solidFill>
          <a:ln/>
        </p:spPr>
        <p:txBody>
          <a:bodyPr/>
          <a:lstStyle/>
          <a:p>
            <a:endParaRPr lang="fr-FR"/>
          </a:p>
        </p:txBody>
      </p:sp>
      <p:sp>
        <p:nvSpPr>
          <p:cNvPr id="7" name="Text 5"/>
          <p:cNvSpPr/>
          <p:nvPr/>
        </p:nvSpPr>
        <p:spPr>
          <a:xfrm>
            <a:off x="719176" y="1335024"/>
            <a:ext cx="1828800" cy="585216"/>
          </a:xfrm>
          <a:prstGeom prst="rect">
            <a:avLst/>
          </a:prstGeom>
          <a:noFill/>
          <a:ln/>
        </p:spPr>
        <p:txBody>
          <a:bodyPr wrap="square" lIns="0" tIns="0" rIns="0" bIns="0" rtlCol="0" anchor="t"/>
          <a:lstStyle/>
          <a:p>
            <a:pPr marL="0" indent="0" algn="l">
              <a:buNone/>
            </a:pPr>
            <a:r>
              <a:rPr lang="en-US" sz="1400" b="1" dirty="0">
                <a:solidFill>
                  <a:srgbClr val="FFFFFF"/>
                </a:solidFill>
                <a:latin typeface="Calibri" pitchFamily="34" charset="0"/>
                <a:ea typeface="Calibri" pitchFamily="34" charset="-122"/>
                <a:cs typeface="Calibri" pitchFamily="34" charset="-120"/>
              </a:rPr>
              <a:t>M0
</a:t>
            </a:r>
            <a:r>
              <a:rPr lang="en-US" sz="1000" b="1" dirty="0">
                <a:solidFill>
                  <a:srgbClr val="FFFFFF"/>
                </a:solidFill>
                <a:latin typeface="Calibri" pitchFamily="34" charset="0"/>
                <a:ea typeface="Calibri" pitchFamily="34" charset="-122"/>
                <a:cs typeface="Calibri" pitchFamily="34" charset="-120"/>
              </a:rPr>
              <a:t>Explorer &amp; Architecturer</a:t>
            </a:r>
            <a:endParaRPr lang="en-US" sz="1400" dirty="0"/>
          </a:p>
        </p:txBody>
      </p:sp>
      <p:sp>
        <p:nvSpPr>
          <p:cNvPr id="8" name="Shape 6"/>
          <p:cNvSpPr/>
          <p:nvPr/>
        </p:nvSpPr>
        <p:spPr>
          <a:xfrm>
            <a:off x="728320" y="2029968"/>
            <a:ext cx="1810512" cy="237744"/>
          </a:xfrm>
          <a:prstGeom prst="roundRect">
            <a:avLst>
              <a:gd name="adj" fmla="val 50000"/>
            </a:avLst>
          </a:prstGeom>
          <a:solidFill>
            <a:srgbClr val="FFFFFF"/>
          </a:solidFill>
          <a:ln w="9525">
            <a:solidFill>
              <a:srgbClr val="0FA3B1"/>
            </a:solidFill>
            <a:prstDash val="solid"/>
          </a:ln>
        </p:spPr>
        <p:txBody>
          <a:bodyPr/>
          <a:lstStyle/>
          <a:p>
            <a:endParaRPr lang="fr-FR"/>
          </a:p>
        </p:txBody>
      </p:sp>
      <p:sp>
        <p:nvSpPr>
          <p:cNvPr id="9" name="Text 7"/>
          <p:cNvSpPr/>
          <p:nvPr/>
        </p:nvSpPr>
        <p:spPr>
          <a:xfrm>
            <a:off x="728320" y="2029968"/>
            <a:ext cx="1810512" cy="237744"/>
          </a:xfrm>
          <a:prstGeom prst="rect">
            <a:avLst/>
          </a:prstGeom>
          <a:noFill/>
          <a:ln/>
        </p:spPr>
        <p:txBody>
          <a:bodyPr wrap="square" lIns="0" tIns="0" rIns="0" bIns="0" rtlCol="0" anchor="ctr"/>
          <a:lstStyle/>
          <a:p>
            <a:pPr marL="0" indent="0" algn="ctr">
              <a:buNone/>
            </a:pPr>
            <a:r>
              <a:rPr lang="en-US" sz="750" b="1" dirty="0">
                <a:solidFill>
                  <a:srgbClr val="0C7C88"/>
                </a:solidFill>
                <a:latin typeface="Calibri" pitchFamily="34" charset="0"/>
                <a:ea typeface="Calibri" pitchFamily="34" charset="-122"/>
                <a:cs typeface="Calibri" pitchFamily="34" charset="-120"/>
              </a:rPr>
              <a:t>DONE  ·  6 sem.</a:t>
            </a:r>
            <a:endParaRPr lang="en-US" sz="750" dirty="0"/>
          </a:p>
        </p:txBody>
      </p:sp>
      <p:sp>
        <p:nvSpPr>
          <p:cNvPr id="10" name="Text 8"/>
          <p:cNvSpPr/>
          <p:nvPr/>
        </p:nvSpPr>
        <p:spPr>
          <a:xfrm>
            <a:off x="737464" y="2377440"/>
            <a:ext cx="1792224" cy="3264408"/>
          </a:xfrm>
          <a:prstGeom prst="rect">
            <a:avLst/>
          </a:prstGeom>
          <a:noFill/>
          <a:ln/>
        </p:spPr>
        <p:txBody>
          <a:bodyPr wrap="square" lIns="0" tIns="0" rIns="0" bIns="0" rtlCol="0" anchor="t"/>
          <a:lstStyle/>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Cadrer besoins &amp; cas d'usage</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Standards &amp; patterns DE</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Architecture cible</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Contrats des Data Products</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Fondations de la plateforme</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Premiers parcours développeur</a:t>
            </a:r>
            <a:endParaRPr lang="en-US" sz="900" dirty="0"/>
          </a:p>
        </p:txBody>
      </p:sp>
      <p:sp>
        <p:nvSpPr>
          <p:cNvPr id="11" name="Text 9"/>
          <p:cNvSpPr/>
          <p:nvPr/>
        </p:nvSpPr>
        <p:spPr>
          <a:xfrm>
            <a:off x="2675992" y="3287268"/>
            <a:ext cx="146304" cy="457200"/>
          </a:xfrm>
          <a:prstGeom prst="rect">
            <a:avLst/>
          </a:prstGeom>
          <a:noFill/>
          <a:ln/>
        </p:spPr>
        <p:txBody>
          <a:bodyPr wrap="square" lIns="0" tIns="0" rIns="0" bIns="0" rtlCol="0" anchor="ctr"/>
          <a:lstStyle/>
          <a:p>
            <a:pPr marL="0" indent="0" algn="ctr">
              <a:buNone/>
            </a:pPr>
            <a:r>
              <a:rPr lang="en-US" sz="1400" b="1" dirty="0">
                <a:solidFill>
                  <a:srgbClr val="8A8F9C"/>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2822296" y="1298448"/>
            <a:ext cx="2084832" cy="4434840"/>
          </a:xfrm>
          <a:prstGeom prst="roundRect">
            <a:avLst>
              <a:gd name="adj" fmla="val 3070"/>
            </a:avLst>
          </a:prstGeom>
          <a:solidFill>
            <a:srgbClr val="FDF1DD"/>
          </a:solidFill>
          <a:ln w="13970">
            <a:solidFill>
              <a:srgbClr val="E8A33D"/>
            </a:solidFill>
            <a:prstDash val="solid"/>
          </a:ln>
          <a:effectLst>
            <a:outerShdw blurRad="63500" dist="25400" dir="5400000" algn="bl" rotWithShape="0">
              <a:srgbClr val="9AA3B5">
                <a:alpha val="20000"/>
              </a:srgbClr>
            </a:outerShdw>
          </a:effectLst>
        </p:spPr>
        <p:txBody>
          <a:bodyPr/>
          <a:lstStyle/>
          <a:p>
            <a:endParaRPr lang="fr-FR"/>
          </a:p>
        </p:txBody>
      </p:sp>
      <p:sp>
        <p:nvSpPr>
          <p:cNvPr id="13" name="Shape 11"/>
          <p:cNvSpPr/>
          <p:nvPr/>
        </p:nvSpPr>
        <p:spPr>
          <a:xfrm>
            <a:off x="2822296" y="1298448"/>
            <a:ext cx="2084832" cy="621792"/>
          </a:xfrm>
          <a:prstGeom prst="roundRect">
            <a:avLst>
              <a:gd name="adj" fmla="val 10294"/>
            </a:avLst>
          </a:prstGeom>
          <a:solidFill>
            <a:srgbClr val="E8A33D"/>
          </a:solidFill>
          <a:ln/>
        </p:spPr>
        <p:txBody>
          <a:bodyPr/>
          <a:lstStyle/>
          <a:p>
            <a:endParaRPr lang="fr-FR"/>
          </a:p>
        </p:txBody>
      </p:sp>
      <p:sp>
        <p:nvSpPr>
          <p:cNvPr id="14" name="Shape 12"/>
          <p:cNvSpPr/>
          <p:nvPr/>
        </p:nvSpPr>
        <p:spPr>
          <a:xfrm>
            <a:off x="2822296" y="1810512"/>
            <a:ext cx="2084832" cy="109728"/>
          </a:xfrm>
          <a:prstGeom prst="rect">
            <a:avLst/>
          </a:prstGeom>
          <a:solidFill>
            <a:srgbClr val="E8A33D"/>
          </a:solidFill>
          <a:ln/>
        </p:spPr>
        <p:txBody>
          <a:bodyPr/>
          <a:lstStyle/>
          <a:p>
            <a:endParaRPr lang="fr-FR"/>
          </a:p>
        </p:txBody>
      </p:sp>
      <p:sp>
        <p:nvSpPr>
          <p:cNvPr id="15" name="Text 13"/>
          <p:cNvSpPr/>
          <p:nvPr/>
        </p:nvSpPr>
        <p:spPr>
          <a:xfrm>
            <a:off x="2950312" y="1335024"/>
            <a:ext cx="1828800" cy="585216"/>
          </a:xfrm>
          <a:prstGeom prst="rect">
            <a:avLst/>
          </a:prstGeom>
          <a:noFill/>
          <a:ln/>
        </p:spPr>
        <p:txBody>
          <a:bodyPr wrap="square" lIns="0" tIns="0" rIns="0" bIns="0" rtlCol="0" anchor="t"/>
          <a:lstStyle/>
          <a:p>
            <a:pPr marL="0" indent="0" algn="l">
              <a:buNone/>
            </a:pPr>
            <a:r>
              <a:rPr lang="en-US" sz="1400" b="1" dirty="0">
                <a:solidFill>
                  <a:srgbClr val="FFFFFF"/>
                </a:solidFill>
                <a:latin typeface="Calibri" pitchFamily="34" charset="0"/>
                <a:ea typeface="Calibri" pitchFamily="34" charset="-122"/>
                <a:cs typeface="Calibri" pitchFamily="34" charset="-120"/>
              </a:rPr>
              <a:t>M1
</a:t>
            </a:r>
            <a:r>
              <a:rPr lang="en-US" sz="1000" b="1" dirty="0">
                <a:solidFill>
                  <a:srgbClr val="FFFFFF"/>
                </a:solidFill>
                <a:latin typeface="Calibri" pitchFamily="34" charset="0"/>
                <a:ea typeface="Calibri" pitchFamily="34" charset="-122"/>
                <a:cs typeface="Calibri" pitchFamily="34" charset="-120"/>
              </a:rPr>
              <a:t>Accélérer les Data Products</a:t>
            </a:r>
            <a:endParaRPr lang="en-US" sz="1400" dirty="0"/>
          </a:p>
        </p:txBody>
      </p:sp>
      <p:sp>
        <p:nvSpPr>
          <p:cNvPr id="16" name="Shape 14"/>
          <p:cNvSpPr/>
          <p:nvPr/>
        </p:nvSpPr>
        <p:spPr>
          <a:xfrm>
            <a:off x="2959456" y="2029968"/>
            <a:ext cx="1810512" cy="237744"/>
          </a:xfrm>
          <a:prstGeom prst="roundRect">
            <a:avLst>
              <a:gd name="adj" fmla="val 50000"/>
            </a:avLst>
          </a:prstGeom>
          <a:solidFill>
            <a:srgbClr val="FFFFFF"/>
          </a:solidFill>
          <a:ln w="9525">
            <a:solidFill>
              <a:srgbClr val="E8A33D"/>
            </a:solidFill>
            <a:prstDash val="solid"/>
          </a:ln>
        </p:spPr>
        <p:txBody>
          <a:bodyPr/>
          <a:lstStyle/>
          <a:p>
            <a:endParaRPr lang="fr-FR"/>
          </a:p>
        </p:txBody>
      </p:sp>
      <p:sp>
        <p:nvSpPr>
          <p:cNvPr id="17" name="Text 15"/>
          <p:cNvSpPr/>
          <p:nvPr/>
        </p:nvSpPr>
        <p:spPr>
          <a:xfrm>
            <a:off x="2959456" y="2029968"/>
            <a:ext cx="1810512" cy="237744"/>
          </a:xfrm>
          <a:prstGeom prst="rect">
            <a:avLst/>
          </a:prstGeom>
          <a:noFill/>
          <a:ln/>
        </p:spPr>
        <p:txBody>
          <a:bodyPr wrap="square" lIns="0" tIns="0" rIns="0" bIns="0" rtlCol="0" anchor="ctr"/>
          <a:lstStyle/>
          <a:p>
            <a:pPr marL="0" indent="0" algn="ctr">
              <a:buNone/>
            </a:pPr>
            <a:r>
              <a:rPr lang="en-US" sz="750" b="1" dirty="0">
                <a:solidFill>
                  <a:srgbClr val="A6660B"/>
                </a:solidFill>
                <a:latin typeface="Calibri" pitchFamily="34" charset="0"/>
                <a:ea typeface="Calibri" pitchFamily="34" charset="-122"/>
                <a:cs typeface="Calibri" pitchFamily="34" charset="-120"/>
              </a:rPr>
              <a:t>EN COURS  ·  4-6 sem.</a:t>
            </a:r>
            <a:endParaRPr lang="en-US" sz="750" dirty="0"/>
          </a:p>
        </p:txBody>
      </p:sp>
      <p:sp>
        <p:nvSpPr>
          <p:cNvPr id="18" name="Text 16"/>
          <p:cNvSpPr/>
          <p:nvPr/>
        </p:nvSpPr>
        <p:spPr>
          <a:xfrm>
            <a:off x="2968600" y="2377440"/>
            <a:ext cx="1792224" cy="3264408"/>
          </a:xfrm>
          <a:prstGeom prst="rect">
            <a:avLst/>
          </a:prstGeom>
          <a:noFill/>
          <a:ln/>
        </p:spPr>
        <p:txBody>
          <a:bodyPr wrap="square" lIns="0" tIns="0" rIns="0" bIns="0" rtlCol="0" anchor="t"/>
          <a:lstStyle/>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Cycle de Dev </a:t>
            </a:r>
            <a:r>
              <a:rPr lang="en-US" sz="900" dirty="0" err="1">
                <a:solidFill>
                  <a:srgbClr val="3A3F4B"/>
                </a:solidFill>
                <a:latin typeface="Calibri" pitchFamily="34" charset="0"/>
                <a:ea typeface="Calibri" pitchFamily="34" charset="-122"/>
                <a:cs typeface="Calibri" pitchFamily="34" charset="-120"/>
              </a:rPr>
              <a:t>standardisé</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Templates &amp; composants réutilisables</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Outillage développeur / CLI</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Acceleration du Dev</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Packaging reproductible</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Premiers Data Products industrialisés</a:t>
            </a:r>
            <a:endParaRPr lang="en-US" sz="900" dirty="0"/>
          </a:p>
        </p:txBody>
      </p:sp>
      <p:sp>
        <p:nvSpPr>
          <p:cNvPr id="19" name="Text 17"/>
          <p:cNvSpPr/>
          <p:nvPr/>
        </p:nvSpPr>
        <p:spPr>
          <a:xfrm>
            <a:off x="4907128" y="3287268"/>
            <a:ext cx="146304" cy="457200"/>
          </a:xfrm>
          <a:prstGeom prst="rect">
            <a:avLst/>
          </a:prstGeom>
          <a:noFill/>
          <a:ln/>
        </p:spPr>
        <p:txBody>
          <a:bodyPr wrap="square" lIns="0" tIns="0" rIns="0" bIns="0" rtlCol="0" anchor="ctr"/>
          <a:lstStyle/>
          <a:p>
            <a:pPr marL="0" indent="0" algn="ctr">
              <a:buNone/>
            </a:pPr>
            <a:r>
              <a:rPr lang="en-US" sz="1400" b="1" dirty="0">
                <a:solidFill>
                  <a:srgbClr val="8A8F9C"/>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5053432" y="1298448"/>
            <a:ext cx="2084832" cy="4434840"/>
          </a:xfrm>
          <a:prstGeom prst="roundRect">
            <a:avLst>
              <a:gd name="adj" fmla="val 3070"/>
            </a:avLst>
          </a:prstGeom>
          <a:solidFill>
            <a:srgbClr val="F2F4F8"/>
          </a:solidFill>
          <a:ln w="9525">
            <a:solidFill>
              <a:srgbClr val="D9DEE8"/>
            </a:solidFill>
            <a:prstDash val="solid"/>
          </a:ln>
          <a:effectLst>
            <a:outerShdw blurRad="63500" dist="25400" dir="5400000" algn="bl" rotWithShape="0">
              <a:srgbClr val="9AA3B5">
                <a:alpha val="20000"/>
              </a:srgbClr>
            </a:outerShdw>
          </a:effectLst>
        </p:spPr>
        <p:txBody>
          <a:bodyPr/>
          <a:lstStyle/>
          <a:p>
            <a:endParaRPr lang="fr-FR"/>
          </a:p>
        </p:txBody>
      </p:sp>
      <p:sp>
        <p:nvSpPr>
          <p:cNvPr id="21" name="Shape 19"/>
          <p:cNvSpPr/>
          <p:nvPr/>
        </p:nvSpPr>
        <p:spPr>
          <a:xfrm>
            <a:off x="5053432" y="1298448"/>
            <a:ext cx="2084832" cy="621792"/>
          </a:xfrm>
          <a:prstGeom prst="roundRect">
            <a:avLst>
              <a:gd name="adj" fmla="val 10294"/>
            </a:avLst>
          </a:prstGeom>
          <a:solidFill>
            <a:srgbClr val="1E2761"/>
          </a:solidFill>
          <a:ln/>
        </p:spPr>
        <p:txBody>
          <a:bodyPr/>
          <a:lstStyle/>
          <a:p>
            <a:endParaRPr lang="fr-FR"/>
          </a:p>
        </p:txBody>
      </p:sp>
      <p:sp>
        <p:nvSpPr>
          <p:cNvPr id="22" name="Shape 20"/>
          <p:cNvSpPr/>
          <p:nvPr/>
        </p:nvSpPr>
        <p:spPr>
          <a:xfrm>
            <a:off x="5053432" y="1810512"/>
            <a:ext cx="2084832" cy="109728"/>
          </a:xfrm>
          <a:prstGeom prst="rect">
            <a:avLst/>
          </a:prstGeom>
          <a:solidFill>
            <a:srgbClr val="1E2761"/>
          </a:solidFill>
          <a:ln/>
        </p:spPr>
        <p:txBody>
          <a:bodyPr/>
          <a:lstStyle/>
          <a:p>
            <a:endParaRPr lang="fr-FR"/>
          </a:p>
        </p:txBody>
      </p:sp>
      <p:sp>
        <p:nvSpPr>
          <p:cNvPr id="23" name="Text 21"/>
          <p:cNvSpPr/>
          <p:nvPr/>
        </p:nvSpPr>
        <p:spPr>
          <a:xfrm>
            <a:off x="5181448" y="1335024"/>
            <a:ext cx="1828800" cy="585216"/>
          </a:xfrm>
          <a:prstGeom prst="rect">
            <a:avLst/>
          </a:prstGeom>
          <a:noFill/>
          <a:ln/>
        </p:spPr>
        <p:txBody>
          <a:bodyPr wrap="square" lIns="0" tIns="0" rIns="0" bIns="0" rtlCol="0" anchor="t"/>
          <a:lstStyle/>
          <a:p>
            <a:pPr marL="0" indent="0" algn="l">
              <a:buNone/>
            </a:pPr>
            <a:r>
              <a:rPr lang="en-US" sz="1400" b="1" dirty="0">
                <a:solidFill>
                  <a:srgbClr val="FFFFFF"/>
                </a:solidFill>
                <a:latin typeface="Calibri" pitchFamily="34" charset="0"/>
                <a:ea typeface="Calibri" pitchFamily="34" charset="-122"/>
                <a:cs typeface="Calibri" pitchFamily="34" charset="-120"/>
              </a:rPr>
              <a:t>M2
</a:t>
            </a:r>
            <a:r>
              <a:rPr lang="en-US" sz="1000" b="1" dirty="0">
                <a:solidFill>
                  <a:srgbClr val="FFFFFF"/>
                </a:solidFill>
                <a:latin typeface="Calibri" pitchFamily="34" charset="0"/>
                <a:ea typeface="Calibri" pitchFamily="34" charset="-122"/>
                <a:cs typeface="Calibri" pitchFamily="34" charset="-120"/>
              </a:rPr>
              <a:t>Industrialiser le Data Delivery</a:t>
            </a:r>
            <a:endParaRPr lang="en-US" sz="1400" dirty="0"/>
          </a:p>
        </p:txBody>
      </p:sp>
      <p:sp>
        <p:nvSpPr>
          <p:cNvPr id="24" name="Shape 22"/>
          <p:cNvSpPr/>
          <p:nvPr/>
        </p:nvSpPr>
        <p:spPr>
          <a:xfrm>
            <a:off x="5190592" y="2029968"/>
            <a:ext cx="1810512" cy="237744"/>
          </a:xfrm>
          <a:prstGeom prst="roundRect">
            <a:avLst>
              <a:gd name="adj" fmla="val 50000"/>
            </a:avLst>
          </a:prstGeom>
          <a:solidFill>
            <a:srgbClr val="FFFFFF"/>
          </a:solidFill>
          <a:ln w="9525">
            <a:solidFill>
              <a:srgbClr val="D9DEE8"/>
            </a:solidFill>
            <a:prstDash val="solid"/>
          </a:ln>
        </p:spPr>
        <p:txBody>
          <a:bodyPr/>
          <a:lstStyle/>
          <a:p>
            <a:endParaRPr lang="fr-FR"/>
          </a:p>
        </p:txBody>
      </p:sp>
      <p:sp>
        <p:nvSpPr>
          <p:cNvPr id="25" name="Text 23"/>
          <p:cNvSpPr/>
          <p:nvPr/>
        </p:nvSpPr>
        <p:spPr>
          <a:xfrm>
            <a:off x="5190592" y="2029968"/>
            <a:ext cx="1810512" cy="237744"/>
          </a:xfrm>
          <a:prstGeom prst="rect">
            <a:avLst/>
          </a:prstGeom>
          <a:noFill/>
          <a:ln/>
        </p:spPr>
        <p:txBody>
          <a:bodyPr wrap="square" lIns="0" tIns="0" rIns="0" bIns="0" rtlCol="0" anchor="ctr"/>
          <a:lstStyle/>
          <a:p>
            <a:pPr marL="0" indent="0" algn="ctr">
              <a:buNone/>
            </a:pPr>
            <a:r>
              <a:rPr lang="en-US" sz="750" b="1" dirty="0">
                <a:solidFill>
                  <a:srgbClr val="1E2761"/>
                </a:solidFill>
                <a:latin typeface="Calibri" pitchFamily="34" charset="0"/>
                <a:ea typeface="Calibri" pitchFamily="34" charset="-122"/>
                <a:cs typeface="Calibri" pitchFamily="34" charset="-120"/>
              </a:rPr>
              <a:t>6-8 sem.</a:t>
            </a:r>
            <a:endParaRPr lang="en-US" sz="750" dirty="0"/>
          </a:p>
        </p:txBody>
      </p:sp>
      <p:sp>
        <p:nvSpPr>
          <p:cNvPr id="26" name="Text 24"/>
          <p:cNvSpPr/>
          <p:nvPr/>
        </p:nvSpPr>
        <p:spPr>
          <a:xfrm>
            <a:off x="5199736" y="2377440"/>
            <a:ext cx="1792224" cy="3264408"/>
          </a:xfrm>
          <a:prstGeom prst="rect">
            <a:avLst/>
          </a:prstGeom>
          <a:noFill/>
          <a:ln/>
        </p:spPr>
        <p:txBody>
          <a:bodyPr wrap="square" lIns="0" tIns="0" rIns="0" bIns="0" rtlCol="0" anchor="t"/>
          <a:lstStyle/>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CI/CD des Data Products</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Automatisation build/test/deploy</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DataOps &amp; GitOps</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Orchestration des pipelines</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Environnements &amp; traçabilité</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Observabilité du delivery</a:t>
            </a:r>
            <a:endParaRPr lang="en-US" sz="900" dirty="0"/>
          </a:p>
        </p:txBody>
      </p:sp>
      <p:sp>
        <p:nvSpPr>
          <p:cNvPr id="27" name="Text 25"/>
          <p:cNvSpPr/>
          <p:nvPr/>
        </p:nvSpPr>
        <p:spPr>
          <a:xfrm>
            <a:off x="7138264" y="3287268"/>
            <a:ext cx="146304" cy="457200"/>
          </a:xfrm>
          <a:prstGeom prst="rect">
            <a:avLst/>
          </a:prstGeom>
          <a:noFill/>
          <a:ln/>
        </p:spPr>
        <p:txBody>
          <a:bodyPr wrap="square" lIns="0" tIns="0" rIns="0" bIns="0" rtlCol="0" anchor="ctr"/>
          <a:lstStyle/>
          <a:p>
            <a:pPr marL="0" indent="0" algn="ctr">
              <a:buNone/>
            </a:pPr>
            <a:r>
              <a:rPr lang="en-US" sz="1400" b="1" dirty="0">
                <a:solidFill>
                  <a:srgbClr val="8A8F9C"/>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7284568" y="1298448"/>
            <a:ext cx="2084832" cy="4434840"/>
          </a:xfrm>
          <a:prstGeom prst="roundRect">
            <a:avLst>
              <a:gd name="adj" fmla="val 3070"/>
            </a:avLst>
          </a:prstGeom>
          <a:solidFill>
            <a:srgbClr val="F2F4F8"/>
          </a:solidFill>
          <a:ln w="9525">
            <a:solidFill>
              <a:srgbClr val="D9DEE8"/>
            </a:solidFill>
            <a:prstDash val="solid"/>
          </a:ln>
          <a:effectLst>
            <a:outerShdw blurRad="63500" dist="25400" dir="5400000" algn="bl" rotWithShape="0">
              <a:srgbClr val="9AA3B5">
                <a:alpha val="20000"/>
              </a:srgbClr>
            </a:outerShdw>
          </a:effectLst>
        </p:spPr>
        <p:txBody>
          <a:bodyPr/>
          <a:lstStyle/>
          <a:p>
            <a:endParaRPr lang="fr-FR"/>
          </a:p>
        </p:txBody>
      </p:sp>
      <p:sp>
        <p:nvSpPr>
          <p:cNvPr id="29" name="Shape 27"/>
          <p:cNvSpPr/>
          <p:nvPr/>
        </p:nvSpPr>
        <p:spPr>
          <a:xfrm>
            <a:off x="7284568" y="1298448"/>
            <a:ext cx="2084832" cy="621792"/>
          </a:xfrm>
          <a:prstGeom prst="roundRect">
            <a:avLst>
              <a:gd name="adj" fmla="val 10294"/>
            </a:avLst>
          </a:prstGeom>
          <a:solidFill>
            <a:srgbClr val="2A3470"/>
          </a:solidFill>
          <a:ln/>
        </p:spPr>
        <p:txBody>
          <a:bodyPr/>
          <a:lstStyle/>
          <a:p>
            <a:endParaRPr lang="fr-FR"/>
          </a:p>
        </p:txBody>
      </p:sp>
      <p:sp>
        <p:nvSpPr>
          <p:cNvPr id="30" name="Shape 28"/>
          <p:cNvSpPr/>
          <p:nvPr/>
        </p:nvSpPr>
        <p:spPr>
          <a:xfrm>
            <a:off x="7284568" y="1810512"/>
            <a:ext cx="2084832" cy="109728"/>
          </a:xfrm>
          <a:prstGeom prst="rect">
            <a:avLst/>
          </a:prstGeom>
          <a:solidFill>
            <a:srgbClr val="2A3470"/>
          </a:solidFill>
          <a:ln/>
        </p:spPr>
        <p:txBody>
          <a:bodyPr/>
          <a:lstStyle/>
          <a:p>
            <a:endParaRPr lang="fr-FR"/>
          </a:p>
        </p:txBody>
      </p:sp>
      <p:sp>
        <p:nvSpPr>
          <p:cNvPr id="31" name="Text 29"/>
          <p:cNvSpPr/>
          <p:nvPr/>
        </p:nvSpPr>
        <p:spPr>
          <a:xfrm>
            <a:off x="7412584" y="1335024"/>
            <a:ext cx="1828800" cy="585216"/>
          </a:xfrm>
          <a:prstGeom prst="rect">
            <a:avLst/>
          </a:prstGeom>
          <a:noFill/>
          <a:ln/>
        </p:spPr>
        <p:txBody>
          <a:bodyPr wrap="square" lIns="0" tIns="0" rIns="0" bIns="0" rtlCol="0" anchor="t"/>
          <a:lstStyle/>
          <a:p>
            <a:pPr marL="0" indent="0" algn="l">
              <a:buNone/>
            </a:pPr>
            <a:r>
              <a:rPr lang="en-US" sz="1400" b="1" dirty="0">
                <a:solidFill>
                  <a:srgbClr val="FFFFFF"/>
                </a:solidFill>
                <a:latin typeface="Calibri" pitchFamily="34" charset="0"/>
                <a:ea typeface="Calibri" pitchFamily="34" charset="-122"/>
                <a:cs typeface="Calibri" pitchFamily="34" charset="-120"/>
              </a:rPr>
              <a:t>M3
</a:t>
            </a:r>
            <a:r>
              <a:rPr lang="en-US" sz="1000" b="1" dirty="0">
                <a:solidFill>
                  <a:srgbClr val="FFFFFF"/>
                </a:solidFill>
                <a:latin typeface="Calibri" pitchFamily="34" charset="0"/>
                <a:ea typeface="Calibri" pitchFamily="34" charset="-122"/>
                <a:cs typeface="Calibri" pitchFamily="34" charset="-120"/>
              </a:rPr>
              <a:t>Fédérer &amp; Self-Servir</a:t>
            </a:r>
            <a:endParaRPr lang="en-US" sz="1400" dirty="0"/>
          </a:p>
        </p:txBody>
      </p:sp>
      <p:sp>
        <p:nvSpPr>
          <p:cNvPr id="32" name="Shape 30"/>
          <p:cNvSpPr/>
          <p:nvPr/>
        </p:nvSpPr>
        <p:spPr>
          <a:xfrm>
            <a:off x="7421728" y="2029968"/>
            <a:ext cx="1810512" cy="237744"/>
          </a:xfrm>
          <a:prstGeom prst="roundRect">
            <a:avLst>
              <a:gd name="adj" fmla="val 50000"/>
            </a:avLst>
          </a:prstGeom>
          <a:solidFill>
            <a:srgbClr val="FFFFFF"/>
          </a:solidFill>
          <a:ln w="9525">
            <a:solidFill>
              <a:srgbClr val="D9DEE8"/>
            </a:solidFill>
            <a:prstDash val="solid"/>
          </a:ln>
        </p:spPr>
        <p:txBody>
          <a:bodyPr/>
          <a:lstStyle/>
          <a:p>
            <a:endParaRPr lang="fr-FR"/>
          </a:p>
        </p:txBody>
      </p:sp>
      <p:sp>
        <p:nvSpPr>
          <p:cNvPr id="33" name="Text 31"/>
          <p:cNvSpPr/>
          <p:nvPr/>
        </p:nvSpPr>
        <p:spPr>
          <a:xfrm>
            <a:off x="7421728" y="2029968"/>
            <a:ext cx="1810512" cy="237744"/>
          </a:xfrm>
          <a:prstGeom prst="rect">
            <a:avLst/>
          </a:prstGeom>
          <a:noFill/>
          <a:ln/>
        </p:spPr>
        <p:txBody>
          <a:bodyPr wrap="square" lIns="0" tIns="0" rIns="0" bIns="0" rtlCol="0" anchor="ctr"/>
          <a:lstStyle/>
          <a:p>
            <a:pPr marL="0" indent="0" algn="ctr">
              <a:buNone/>
            </a:pPr>
            <a:r>
              <a:rPr lang="en-US" sz="750" b="1" dirty="0">
                <a:solidFill>
                  <a:srgbClr val="1E2761"/>
                </a:solidFill>
                <a:latin typeface="Calibri" pitchFamily="34" charset="0"/>
                <a:ea typeface="Calibri" pitchFamily="34" charset="-122"/>
                <a:cs typeface="Calibri" pitchFamily="34" charset="-120"/>
              </a:rPr>
              <a:t>4-6 sem.</a:t>
            </a:r>
            <a:endParaRPr lang="en-US" sz="750" dirty="0"/>
          </a:p>
        </p:txBody>
      </p:sp>
      <p:sp>
        <p:nvSpPr>
          <p:cNvPr id="34" name="Text 32"/>
          <p:cNvSpPr/>
          <p:nvPr/>
        </p:nvSpPr>
        <p:spPr>
          <a:xfrm>
            <a:off x="7430872" y="2377440"/>
            <a:ext cx="1792224" cy="3264408"/>
          </a:xfrm>
          <a:prstGeom prst="rect">
            <a:avLst/>
          </a:prstGeom>
          <a:noFill/>
          <a:ln/>
        </p:spPr>
        <p:txBody>
          <a:bodyPr wrap="square" lIns="0" tIns="0" rIns="0" bIns="0" rtlCol="0" anchor="t"/>
          <a:lstStyle/>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Catalogue &amp; discovery</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Gouvernance fédérée</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Data Products réutilisables</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Self-service consommateurs</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Portail comme point d'accès</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Qualité, fraîcheur &amp; SLA</a:t>
            </a:r>
            <a:endParaRPr lang="en-US" sz="900" dirty="0"/>
          </a:p>
        </p:txBody>
      </p:sp>
      <p:sp>
        <p:nvSpPr>
          <p:cNvPr id="35" name="Text 33"/>
          <p:cNvSpPr/>
          <p:nvPr/>
        </p:nvSpPr>
        <p:spPr>
          <a:xfrm>
            <a:off x="9369400" y="3287268"/>
            <a:ext cx="146304" cy="457200"/>
          </a:xfrm>
          <a:prstGeom prst="rect">
            <a:avLst/>
          </a:prstGeom>
          <a:noFill/>
          <a:ln/>
        </p:spPr>
        <p:txBody>
          <a:bodyPr wrap="square" lIns="0" tIns="0" rIns="0" bIns="0" rtlCol="0" anchor="ctr"/>
          <a:lstStyle/>
          <a:p>
            <a:pPr marL="0" indent="0" algn="ctr">
              <a:buNone/>
            </a:pPr>
            <a:r>
              <a:rPr lang="en-US" sz="1400" b="1" dirty="0">
                <a:solidFill>
                  <a:srgbClr val="8A8F9C"/>
                </a:solidFill>
                <a:latin typeface="Calibri" pitchFamily="34" charset="0"/>
                <a:ea typeface="Calibri" pitchFamily="34" charset="-122"/>
                <a:cs typeface="Calibri" pitchFamily="34" charset="-120"/>
              </a:rPr>
              <a:t>→</a:t>
            </a:r>
            <a:endParaRPr lang="en-US" sz="1400" dirty="0"/>
          </a:p>
        </p:txBody>
      </p:sp>
      <p:sp>
        <p:nvSpPr>
          <p:cNvPr id="36" name="Shape 34"/>
          <p:cNvSpPr/>
          <p:nvPr/>
        </p:nvSpPr>
        <p:spPr>
          <a:xfrm>
            <a:off x="9515704" y="1298448"/>
            <a:ext cx="2084832" cy="4434840"/>
          </a:xfrm>
          <a:prstGeom prst="roundRect">
            <a:avLst>
              <a:gd name="adj" fmla="val 3070"/>
            </a:avLst>
          </a:prstGeom>
          <a:solidFill>
            <a:srgbClr val="F2F4F8"/>
          </a:solidFill>
          <a:ln w="9525">
            <a:solidFill>
              <a:srgbClr val="D9DEE8"/>
            </a:solidFill>
            <a:prstDash val="solid"/>
          </a:ln>
          <a:effectLst>
            <a:outerShdw blurRad="63500" dist="25400" dir="5400000" algn="bl" rotWithShape="0">
              <a:srgbClr val="9AA3B5">
                <a:alpha val="20000"/>
              </a:srgbClr>
            </a:outerShdw>
          </a:effectLst>
        </p:spPr>
        <p:txBody>
          <a:bodyPr/>
          <a:lstStyle/>
          <a:p>
            <a:endParaRPr lang="fr-FR"/>
          </a:p>
        </p:txBody>
      </p:sp>
      <p:sp>
        <p:nvSpPr>
          <p:cNvPr id="37" name="Shape 35"/>
          <p:cNvSpPr/>
          <p:nvPr/>
        </p:nvSpPr>
        <p:spPr>
          <a:xfrm>
            <a:off x="9515704" y="1298448"/>
            <a:ext cx="2084832" cy="621792"/>
          </a:xfrm>
          <a:prstGeom prst="roundRect">
            <a:avLst>
              <a:gd name="adj" fmla="val 10294"/>
            </a:avLst>
          </a:prstGeom>
          <a:solidFill>
            <a:srgbClr val="1E2761"/>
          </a:solidFill>
          <a:ln/>
        </p:spPr>
        <p:txBody>
          <a:bodyPr/>
          <a:lstStyle/>
          <a:p>
            <a:endParaRPr lang="fr-FR"/>
          </a:p>
        </p:txBody>
      </p:sp>
      <p:sp>
        <p:nvSpPr>
          <p:cNvPr id="38" name="Shape 36"/>
          <p:cNvSpPr/>
          <p:nvPr/>
        </p:nvSpPr>
        <p:spPr>
          <a:xfrm>
            <a:off x="9515704" y="1810512"/>
            <a:ext cx="2084832" cy="109728"/>
          </a:xfrm>
          <a:prstGeom prst="rect">
            <a:avLst/>
          </a:prstGeom>
          <a:solidFill>
            <a:srgbClr val="1E2761"/>
          </a:solidFill>
          <a:ln/>
        </p:spPr>
        <p:txBody>
          <a:bodyPr/>
          <a:lstStyle/>
          <a:p>
            <a:endParaRPr lang="fr-FR"/>
          </a:p>
        </p:txBody>
      </p:sp>
      <p:sp>
        <p:nvSpPr>
          <p:cNvPr id="39" name="Text 37"/>
          <p:cNvSpPr/>
          <p:nvPr/>
        </p:nvSpPr>
        <p:spPr>
          <a:xfrm>
            <a:off x="9643720" y="1335024"/>
            <a:ext cx="1828800" cy="585216"/>
          </a:xfrm>
          <a:prstGeom prst="rect">
            <a:avLst/>
          </a:prstGeom>
          <a:noFill/>
          <a:ln/>
        </p:spPr>
        <p:txBody>
          <a:bodyPr wrap="square" lIns="0" tIns="0" rIns="0" bIns="0" rtlCol="0" anchor="t"/>
          <a:lstStyle/>
          <a:p>
            <a:pPr marL="0" indent="0" algn="l">
              <a:buNone/>
            </a:pPr>
            <a:r>
              <a:rPr lang="en-US" sz="1400" b="1" dirty="0">
                <a:solidFill>
                  <a:srgbClr val="FFFFFF"/>
                </a:solidFill>
                <a:latin typeface="Calibri" pitchFamily="34" charset="0"/>
                <a:ea typeface="Calibri" pitchFamily="34" charset="-122"/>
                <a:cs typeface="Calibri" pitchFamily="34" charset="-120"/>
              </a:rPr>
              <a:t>M4
</a:t>
            </a:r>
            <a:r>
              <a:rPr lang="en-US" sz="1000" b="1" dirty="0">
                <a:solidFill>
                  <a:srgbClr val="FFFFFF"/>
                </a:solidFill>
                <a:latin typeface="Calibri" pitchFamily="34" charset="0"/>
                <a:ea typeface="Calibri" pitchFamily="34" charset="-122"/>
                <a:cs typeface="Calibri" pitchFamily="34" charset="-120"/>
              </a:rPr>
              <a:t>Servir la Data</a:t>
            </a:r>
            <a:endParaRPr lang="en-US" sz="1400" dirty="0"/>
          </a:p>
        </p:txBody>
      </p:sp>
      <p:sp>
        <p:nvSpPr>
          <p:cNvPr id="40" name="Shape 38"/>
          <p:cNvSpPr/>
          <p:nvPr/>
        </p:nvSpPr>
        <p:spPr>
          <a:xfrm>
            <a:off x="9652864" y="2029968"/>
            <a:ext cx="1810512" cy="237744"/>
          </a:xfrm>
          <a:prstGeom prst="roundRect">
            <a:avLst>
              <a:gd name="adj" fmla="val 50000"/>
            </a:avLst>
          </a:prstGeom>
          <a:solidFill>
            <a:srgbClr val="FFFFFF"/>
          </a:solidFill>
          <a:ln w="9525">
            <a:solidFill>
              <a:srgbClr val="D9DEE8"/>
            </a:solidFill>
            <a:prstDash val="solid"/>
          </a:ln>
        </p:spPr>
        <p:txBody>
          <a:bodyPr/>
          <a:lstStyle/>
          <a:p>
            <a:endParaRPr lang="fr-FR"/>
          </a:p>
        </p:txBody>
      </p:sp>
      <p:sp>
        <p:nvSpPr>
          <p:cNvPr id="41" name="Text 39"/>
          <p:cNvSpPr/>
          <p:nvPr/>
        </p:nvSpPr>
        <p:spPr>
          <a:xfrm>
            <a:off x="9652864" y="2029968"/>
            <a:ext cx="1810512" cy="237744"/>
          </a:xfrm>
          <a:prstGeom prst="rect">
            <a:avLst/>
          </a:prstGeom>
          <a:noFill/>
          <a:ln/>
        </p:spPr>
        <p:txBody>
          <a:bodyPr wrap="square" lIns="0" tIns="0" rIns="0" bIns="0" rtlCol="0" anchor="ctr"/>
          <a:lstStyle/>
          <a:p>
            <a:pPr marL="0" indent="0" algn="ctr">
              <a:buNone/>
            </a:pPr>
            <a:r>
              <a:rPr lang="en-US" sz="750" b="1" dirty="0">
                <a:solidFill>
                  <a:srgbClr val="1E2761"/>
                </a:solidFill>
                <a:latin typeface="Calibri" pitchFamily="34" charset="0"/>
                <a:ea typeface="Calibri" pitchFamily="34" charset="-122"/>
                <a:cs typeface="Calibri" pitchFamily="34" charset="-120"/>
              </a:rPr>
              <a:t>4-6 sem.</a:t>
            </a:r>
            <a:endParaRPr lang="en-US" sz="750" dirty="0"/>
          </a:p>
        </p:txBody>
      </p:sp>
      <p:sp>
        <p:nvSpPr>
          <p:cNvPr id="42" name="Text 40"/>
          <p:cNvSpPr/>
          <p:nvPr/>
        </p:nvSpPr>
        <p:spPr>
          <a:xfrm>
            <a:off x="9662008" y="2377440"/>
            <a:ext cx="1792224" cy="3264408"/>
          </a:xfrm>
          <a:prstGeom prst="rect">
            <a:avLst/>
          </a:prstGeom>
          <a:noFill/>
          <a:ln/>
        </p:spPr>
        <p:txBody>
          <a:bodyPr wrap="square" lIns="0" tIns="0" rIns="0" bIns="0" rtlCol="0" anchor="t"/>
          <a:lstStyle/>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Exposition aux consommateurs</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APIs / services de données</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Contrats de service</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Performance &amp; disponibilité</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Monitoring des services</a:t>
            </a:r>
            <a:endParaRPr lang="en-US" sz="900" dirty="0"/>
          </a:p>
          <a:p>
            <a:pPr marL="114300" indent="-114300" algn="l">
              <a:lnSpc>
                <a:spcPts val="1350"/>
              </a:lnSpc>
              <a:buSzPct val="100000"/>
              <a:buChar char="•"/>
            </a:pPr>
            <a:r>
              <a:rPr lang="en-US" sz="900" dirty="0">
                <a:solidFill>
                  <a:srgbClr val="3A3F4B"/>
                </a:solidFill>
                <a:latin typeface="Calibri" pitchFamily="34" charset="0"/>
                <a:ea typeface="Calibri" pitchFamily="34" charset="-122"/>
                <a:cs typeface="Calibri" pitchFamily="34" charset="-120"/>
              </a:rPr>
              <a:t>Industrialisation de la consommation</a:t>
            </a:r>
            <a:endParaRPr lang="en-US" sz="900" dirty="0"/>
          </a:p>
        </p:txBody>
      </p:sp>
      <p:sp>
        <p:nvSpPr>
          <p:cNvPr id="43" name="Shape 41"/>
          <p:cNvSpPr/>
          <p:nvPr/>
        </p:nvSpPr>
        <p:spPr>
          <a:xfrm>
            <a:off x="0" y="6263640"/>
            <a:ext cx="12191695" cy="594360"/>
          </a:xfrm>
          <a:prstGeom prst="rect">
            <a:avLst/>
          </a:prstGeom>
          <a:solidFill>
            <a:srgbClr val="1E2761"/>
          </a:solidFill>
          <a:ln/>
        </p:spPr>
        <p:txBody>
          <a:bodyPr/>
          <a:lstStyle/>
          <a:p>
            <a:endParaRPr lang="fr-FR"/>
          </a:p>
        </p:txBody>
      </p:sp>
      <p:sp>
        <p:nvSpPr>
          <p:cNvPr id="44" name="Text 42"/>
          <p:cNvSpPr/>
          <p:nvPr/>
        </p:nvSpPr>
        <p:spPr>
          <a:xfrm>
            <a:off x="548640" y="6263640"/>
            <a:ext cx="11094415" cy="594360"/>
          </a:xfrm>
          <a:prstGeom prst="rect">
            <a:avLst/>
          </a:prstGeom>
          <a:noFill/>
          <a:ln/>
        </p:spPr>
        <p:txBody>
          <a:bodyPr wrap="square" lIns="0" tIns="0" rIns="0" bIns="0" rtlCol="0" anchor="ctr"/>
          <a:lstStyle/>
          <a:p>
            <a:pPr marL="0" indent="0" algn="ctr">
              <a:buNone/>
            </a:pPr>
            <a:r>
              <a:rPr lang="en-US" sz="1300" i="1" dirty="0">
                <a:solidFill>
                  <a:srgbClr val="FFFFFF"/>
                </a:solidFill>
                <a:latin typeface="Cambria" pitchFamily="34" charset="0"/>
                <a:ea typeface="Cambria" pitchFamily="34" charset="-122"/>
                <a:cs typeface="Cambria" pitchFamily="34" charset="-120"/>
              </a:rPr>
              <a:t>M0 à M4 construisent le socle Data — il devient la fondation sur laquelle s'industrialise le ML (M5-M6).</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20040"/>
            <a:ext cx="11094415" cy="502920"/>
          </a:xfrm>
          <a:prstGeom prst="rect">
            <a:avLst/>
          </a:prstGeom>
          <a:noFill/>
          <a:ln/>
        </p:spPr>
        <p:txBody>
          <a:bodyPr wrap="square" lIns="0" tIns="0" rIns="0" bIns="0" rtlCol="0" anchor="ctr"/>
          <a:lstStyle/>
          <a:p>
            <a:pPr marL="0" indent="0" algn="l">
              <a:buNone/>
            </a:pPr>
            <a:r>
              <a:rPr lang="en-US" sz="2700" b="1" dirty="0">
                <a:solidFill>
                  <a:srgbClr val="1E2761"/>
                </a:solidFill>
                <a:latin typeface="Cambria" pitchFamily="34" charset="0"/>
                <a:ea typeface="Cambria" pitchFamily="34" charset="-122"/>
                <a:cs typeface="Cambria" pitchFamily="34" charset="-120"/>
              </a:rPr>
              <a:t>Zoom ML — Industrialiser, Servir, Converger</a:t>
            </a:r>
            <a:endParaRPr lang="en-US" sz="2700" dirty="0"/>
          </a:p>
        </p:txBody>
      </p:sp>
      <p:sp>
        <p:nvSpPr>
          <p:cNvPr id="3" name="Text 1"/>
          <p:cNvSpPr/>
          <p:nvPr/>
        </p:nvSpPr>
        <p:spPr>
          <a:xfrm>
            <a:off x="548640" y="795528"/>
            <a:ext cx="11094415" cy="320040"/>
          </a:xfrm>
          <a:prstGeom prst="rect">
            <a:avLst/>
          </a:prstGeom>
          <a:noFill/>
          <a:ln/>
        </p:spPr>
        <p:txBody>
          <a:bodyPr wrap="square" lIns="0" tIns="0" rIns="0" bIns="0" rtlCol="0" anchor="ctr"/>
          <a:lstStyle/>
          <a:p>
            <a:pPr marL="0" indent="0" algn="l">
              <a:buNone/>
            </a:pPr>
            <a:r>
              <a:rPr lang="en-US" sz="1250" i="1" dirty="0">
                <a:solidFill>
                  <a:srgbClr val="3A3F4B"/>
                </a:solidFill>
                <a:latin typeface="Calibri" pitchFamily="34" charset="0"/>
                <a:ea typeface="Calibri" pitchFamily="34" charset="-122"/>
                <a:cs typeface="Calibri" pitchFamily="34" charset="-120"/>
              </a:rPr>
              <a:t>Le palier ML de la trajectoire se décline en deux jalons de delivery, puis un effort continu partagé avec la trajectoire Data</a:t>
            </a:r>
            <a:endParaRPr lang="en-US" sz="1250" dirty="0"/>
          </a:p>
        </p:txBody>
      </p:sp>
      <p:sp>
        <p:nvSpPr>
          <p:cNvPr id="4" name="Shape 2"/>
          <p:cNvSpPr/>
          <p:nvPr/>
        </p:nvSpPr>
        <p:spPr>
          <a:xfrm>
            <a:off x="568300" y="1828800"/>
            <a:ext cx="3429000" cy="3794760"/>
          </a:xfrm>
          <a:prstGeom prst="roundRect">
            <a:avLst>
              <a:gd name="adj" fmla="val 2133"/>
            </a:avLst>
          </a:prstGeom>
          <a:solidFill>
            <a:srgbClr val="F2F4F8"/>
          </a:solidFill>
          <a:ln w="9525">
            <a:solidFill>
              <a:srgbClr val="D9DEE8"/>
            </a:solidFill>
            <a:prstDash val="solid"/>
          </a:ln>
          <a:effectLst>
            <a:outerShdw blurRad="63500" dist="25400" dir="5400000" algn="bl" rotWithShape="0">
              <a:srgbClr val="9AA3B5">
                <a:alpha val="20000"/>
              </a:srgbClr>
            </a:outerShdw>
          </a:effectLst>
        </p:spPr>
        <p:txBody>
          <a:bodyPr/>
          <a:lstStyle/>
          <a:p>
            <a:endParaRPr lang="fr-FR"/>
          </a:p>
        </p:txBody>
      </p:sp>
      <p:sp>
        <p:nvSpPr>
          <p:cNvPr id="5" name="Shape 3"/>
          <p:cNvSpPr/>
          <p:nvPr/>
        </p:nvSpPr>
        <p:spPr>
          <a:xfrm>
            <a:off x="568300" y="1828800"/>
            <a:ext cx="3429000" cy="658368"/>
          </a:xfrm>
          <a:prstGeom prst="roundRect">
            <a:avLst>
              <a:gd name="adj" fmla="val 11111"/>
            </a:avLst>
          </a:prstGeom>
          <a:solidFill>
            <a:srgbClr val="1E2761"/>
          </a:solidFill>
          <a:ln/>
        </p:spPr>
        <p:txBody>
          <a:bodyPr/>
          <a:lstStyle/>
          <a:p>
            <a:endParaRPr lang="fr-FR"/>
          </a:p>
        </p:txBody>
      </p:sp>
      <p:sp>
        <p:nvSpPr>
          <p:cNvPr id="6" name="Shape 4"/>
          <p:cNvSpPr/>
          <p:nvPr/>
        </p:nvSpPr>
        <p:spPr>
          <a:xfrm>
            <a:off x="568300" y="2359152"/>
            <a:ext cx="3429000" cy="128016"/>
          </a:xfrm>
          <a:prstGeom prst="rect">
            <a:avLst/>
          </a:prstGeom>
          <a:solidFill>
            <a:srgbClr val="1E2761"/>
          </a:solidFill>
          <a:ln/>
        </p:spPr>
        <p:txBody>
          <a:bodyPr/>
          <a:lstStyle/>
          <a:p>
            <a:endParaRPr lang="fr-FR"/>
          </a:p>
        </p:txBody>
      </p:sp>
      <p:sp>
        <p:nvSpPr>
          <p:cNvPr id="7" name="Text 5"/>
          <p:cNvSpPr/>
          <p:nvPr/>
        </p:nvSpPr>
        <p:spPr>
          <a:xfrm>
            <a:off x="751180" y="1828800"/>
            <a:ext cx="3063240" cy="658368"/>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M5  </a:t>
            </a:r>
            <a:r>
              <a:rPr lang="en-US" sz="1250" b="1" dirty="0">
                <a:solidFill>
                  <a:srgbClr val="FFFFFF"/>
                </a:solidFill>
                <a:latin typeface="Calibri" pitchFamily="34" charset="0"/>
                <a:ea typeface="Calibri" pitchFamily="34" charset="-122"/>
                <a:cs typeface="Calibri" pitchFamily="34" charset="-120"/>
              </a:rPr>
              <a:t>Industrialiser les ML Products</a:t>
            </a:r>
            <a:endParaRPr lang="en-US" sz="1700" dirty="0"/>
          </a:p>
        </p:txBody>
      </p:sp>
      <p:sp>
        <p:nvSpPr>
          <p:cNvPr id="8" name="Shape 6"/>
          <p:cNvSpPr/>
          <p:nvPr/>
        </p:nvSpPr>
        <p:spPr>
          <a:xfrm>
            <a:off x="2433676" y="2615184"/>
            <a:ext cx="1417320" cy="274320"/>
          </a:xfrm>
          <a:prstGeom prst="roundRect">
            <a:avLst>
              <a:gd name="adj" fmla="val 46667"/>
            </a:avLst>
          </a:prstGeom>
          <a:solidFill>
            <a:srgbClr val="FFFFFF"/>
          </a:solidFill>
          <a:ln w="9525">
            <a:solidFill>
              <a:srgbClr val="D9DEE8"/>
            </a:solidFill>
            <a:prstDash val="solid"/>
          </a:ln>
        </p:spPr>
        <p:txBody>
          <a:bodyPr/>
          <a:lstStyle/>
          <a:p>
            <a:endParaRPr lang="fr-FR"/>
          </a:p>
        </p:txBody>
      </p:sp>
      <p:sp>
        <p:nvSpPr>
          <p:cNvPr id="9" name="Text 7"/>
          <p:cNvSpPr/>
          <p:nvPr/>
        </p:nvSpPr>
        <p:spPr>
          <a:xfrm>
            <a:off x="2433676" y="2615184"/>
            <a:ext cx="1417320" cy="274320"/>
          </a:xfrm>
          <a:prstGeom prst="rect">
            <a:avLst/>
          </a:prstGeom>
          <a:noFill/>
          <a:ln/>
        </p:spPr>
        <p:txBody>
          <a:bodyPr wrap="square" lIns="0" tIns="0" rIns="0" bIns="0" rtlCol="0" anchor="ctr"/>
          <a:lstStyle/>
          <a:p>
            <a:pPr marL="0" indent="0" algn="ctr">
              <a:buNone/>
            </a:pPr>
            <a:r>
              <a:rPr lang="en-US" sz="900" b="1" dirty="0">
                <a:solidFill>
                  <a:srgbClr val="3A3F4B"/>
                </a:solidFill>
                <a:latin typeface="Calibri" pitchFamily="34" charset="0"/>
                <a:ea typeface="Calibri" pitchFamily="34" charset="-122"/>
                <a:cs typeface="Calibri" pitchFamily="34" charset="-120"/>
              </a:rPr>
              <a:t>6 - 9 sem.</a:t>
            </a:r>
            <a:endParaRPr lang="en-US" sz="900" dirty="0"/>
          </a:p>
        </p:txBody>
      </p:sp>
      <p:sp>
        <p:nvSpPr>
          <p:cNvPr id="10" name="Text 8"/>
          <p:cNvSpPr/>
          <p:nvPr/>
        </p:nvSpPr>
        <p:spPr>
          <a:xfrm>
            <a:off x="769468" y="2999232"/>
            <a:ext cx="3026664" cy="2441448"/>
          </a:xfrm>
          <a:prstGeom prst="rect">
            <a:avLst/>
          </a:prstGeom>
          <a:noFill/>
          <a:ln/>
        </p:spPr>
        <p:txBody>
          <a:bodyPr wrap="square" lIns="0" tIns="0" rIns="0" bIns="0" rtlCol="0" anchor="t"/>
          <a:lstStyle/>
          <a:p>
            <a:pPr marL="152400" indent="-152400" algn="l">
              <a:lnSpc>
                <a:spcPts val="1700"/>
              </a:lnSpc>
              <a:buSzPct val="100000"/>
              <a:buChar char="•"/>
            </a:pPr>
            <a:r>
              <a:rPr lang="en-US" sz="1100" dirty="0">
                <a:solidFill>
                  <a:srgbClr val="3A3F4B"/>
                </a:solidFill>
                <a:latin typeface="Calibri" pitchFamily="34" charset="0"/>
                <a:ea typeface="Calibri" pitchFamily="34" charset="-122"/>
                <a:cs typeface="Calibri" pitchFamily="34" charset="-120"/>
              </a:rPr>
              <a:t>Cycle de vie ML standardisé</a:t>
            </a:r>
            <a:endParaRPr lang="en-US" sz="1100" dirty="0"/>
          </a:p>
          <a:p>
            <a:pPr marL="152400" indent="-152400" algn="l">
              <a:lnSpc>
                <a:spcPts val="1700"/>
              </a:lnSpc>
              <a:buSzPct val="100000"/>
              <a:buChar char="•"/>
            </a:pPr>
            <a:r>
              <a:rPr lang="en-US" sz="1100" dirty="0">
                <a:solidFill>
                  <a:srgbClr val="3A3F4B"/>
                </a:solidFill>
                <a:latin typeface="Calibri" pitchFamily="34" charset="0"/>
                <a:ea typeface="Calibri" pitchFamily="34" charset="-122"/>
                <a:cs typeface="Calibri" pitchFamily="34" charset="-120"/>
              </a:rPr>
              <a:t>Projets ML structurés en produits</a:t>
            </a:r>
            <a:endParaRPr lang="en-US" sz="1100" dirty="0"/>
          </a:p>
          <a:p>
            <a:pPr marL="152400" indent="-152400" algn="l">
              <a:lnSpc>
                <a:spcPts val="1700"/>
              </a:lnSpc>
              <a:buSzPct val="100000"/>
              <a:buChar char="•"/>
            </a:pPr>
            <a:r>
              <a:rPr lang="en-US" sz="1100" dirty="0">
                <a:solidFill>
                  <a:srgbClr val="3A3F4B"/>
                </a:solidFill>
                <a:latin typeface="Calibri" pitchFamily="34" charset="0"/>
                <a:ea typeface="Calibri" pitchFamily="34" charset="-122"/>
                <a:cs typeface="Calibri" pitchFamily="34" charset="-120"/>
              </a:rPr>
              <a:t>Expérimentations reproductibles</a:t>
            </a:r>
            <a:endParaRPr lang="en-US" sz="1100" dirty="0"/>
          </a:p>
          <a:p>
            <a:pPr marL="152400" indent="-152400" algn="l">
              <a:lnSpc>
                <a:spcPts val="1700"/>
              </a:lnSpc>
              <a:buSzPct val="100000"/>
              <a:buChar char="•"/>
            </a:pPr>
            <a:r>
              <a:rPr lang="en-US" sz="1100" dirty="0">
                <a:solidFill>
                  <a:srgbClr val="3A3F4B"/>
                </a:solidFill>
                <a:latin typeface="Calibri" pitchFamily="34" charset="0"/>
                <a:ea typeface="Calibri" pitchFamily="34" charset="-122"/>
                <a:cs typeface="Calibri" pitchFamily="34" charset="-120"/>
              </a:rPr>
              <a:t>Packaging &amp; versioning des modèles</a:t>
            </a:r>
            <a:endParaRPr lang="en-US" sz="1100" dirty="0"/>
          </a:p>
          <a:p>
            <a:pPr marL="152400" indent="-152400" algn="l">
              <a:lnSpc>
                <a:spcPts val="1700"/>
              </a:lnSpc>
              <a:buSzPct val="100000"/>
              <a:buChar char="•"/>
            </a:pPr>
            <a:r>
              <a:rPr lang="en-US" sz="1100" dirty="0">
                <a:solidFill>
                  <a:srgbClr val="3A3F4B"/>
                </a:solidFill>
                <a:latin typeface="Calibri" pitchFamily="34" charset="0"/>
                <a:ea typeface="Calibri" pitchFamily="34" charset="-122"/>
                <a:cs typeface="Calibri" pitchFamily="34" charset="-120"/>
              </a:rPr>
              <a:t>CI/CD du delivery ML</a:t>
            </a:r>
            <a:endParaRPr lang="en-US" sz="1100" dirty="0"/>
          </a:p>
          <a:p>
            <a:pPr marL="152400" indent="-152400" algn="l">
              <a:lnSpc>
                <a:spcPts val="1700"/>
              </a:lnSpc>
              <a:buSzPct val="100000"/>
              <a:buChar char="•"/>
            </a:pPr>
            <a:r>
              <a:rPr lang="en-US" sz="1100" dirty="0">
                <a:solidFill>
                  <a:srgbClr val="3A3F4B"/>
                </a:solidFill>
                <a:latin typeface="Calibri" pitchFamily="34" charset="0"/>
                <a:ea typeface="Calibri" pitchFamily="34" charset="-122"/>
                <a:cs typeface="Calibri" pitchFamily="34" charset="-120"/>
              </a:rPr>
              <a:t>Intégration MLOps à la plateforme</a:t>
            </a:r>
            <a:endParaRPr lang="en-US" sz="1100" dirty="0"/>
          </a:p>
        </p:txBody>
      </p:sp>
      <p:sp>
        <p:nvSpPr>
          <p:cNvPr id="11" name="Text 9"/>
          <p:cNvSpPr/>
          <p:nvPr/>
        </p:nvSpPr>
        <p:spPr>
          <a:xfrm>
            <a:off x="3997300" y="3451860"/>
            <a:ext cx="384048" cy="548640"/>
          </a:xfrm>
          <a:prstGeom prst="rect">
            <a:avLst/>
          </a:prstGeom>
          <a:noFill/>
          <a:ln/>
        </p:spPr>
        <p:txBody>
          <a:bodyPr wrap="square" lIns="0" tIns="0" rIns="0" bIns="0" rtlCol="0" anchor="ctr"/>
          <a:lstStyle/>
          <a:p>
            <a:pPr marL="0" indent="0" algn="ctr">
              <a:buNone/>
            </a:pPr>
            <a:r>
              <a:rPr lang="en-US" sz="2200" b="1" dirty="0">
                <a:solidFill>
                  <a:srgbClr val="8A8F9C"/>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4381348" y="1828800"/>
            <a:ext cx="3429000" cy="3794760"/>
          </a:xfrm>
          <a:prstGeom prst="roundRect">
            <a:avLst>
              <a:gd name="adj" fmla="val 2133"/>
            </a:avLst>
          </a:prstGeom>
          <a:solidFill>
            <a:srgbClr val="F2F4F8"/>
          </a:solidFill>
          <a:ln w="9525">
            <a:solidFill>
              <a:srgbClr val="D9DEE8"/>
            </a:solidFill>
            <a:prstDash val="solid"/>
          </a:ln>
          <a:effectLst>
            <a:outerShdw blurRad="63500" dist="25400" dir="5400000" algn="bl" rotWithShape="0">
              <a:srgbClr val="9AA3B5">
                <a:alpha val="20000"/>
              </a:srgbClr>
            </a:outerShdw>
          </a:effectLst>
        </p:spPr>
        <p:txBody>
          <a:bodyPr/>
          <a:lstStyle/>
          <a:p>
            <a:endParaRPr lang="fr-FR"/>
          </a:p>
        </p:txBody>
      </p:sp>
      <p:sp>
        <p:nvSpPr>
          <p:cNvPr id="13" name="Shape 11"/>
          <p:cNvSpPr/>
          <p:nvPr/>
        </p:nvSpPr>
        <p:spPr>
          <a:xfrm>
            <a:off x="4381348" y="1828800"/>
            <a:ext cx="3429000" cy="658368"/>
          </a:xfrm>
          <a:prstGeom prst="roundRect">
            <a:avLst>
              <a:gd name="adj" fmla="val 11111"/>
            </a:avLst>
          </a:prstGeom>
          <a:solidFill>
            <a:srgbClr val="2A3470"/>
          </a:solidFill>
          <a:ln/>
        </p:spPr>
        <p:txBody>
          <a:bodyPr/>
          <a:lstStyle/>
          <a:p>
            <a:endParaRPr lang="fr-FR"/>
          </a:p>
        </p:txBody>
      </p:sp>
      <p:sp>
        <p:nvSpPr>
          <p:cNvPr id="14" name="Shape 12"/>
          <p:cNvSpPr/>
          <p:nvPr/>
        </p:nvSpPr>
        <p:spPr>
          <a:xfrm>
            <a:off x="4381348" y="2359152"/>
            <a:ext cx="3429000" cy="128016"/>
          </a:xfrm>
          <a:prstGeom prst="rect">
            <a:avLst/>
          </a:prstGeom>
          <a:solidFill>
            <a:srgbClr val="2A3470"/>
          </a:solidFill>
          <a:ln/>
        </p:spPr>
        <p:txBody>
          <a:bodyPr/>
          <a:lstStyle/>
          <a:p>
            <a:endParaRPr lang="fr-FR"/>
          </a:p>
        </p:txBody>
      </p:sp>
      <p:sp>
        <p:nvSpPr>
          <p:cNvPr id="15" name="Text 13"/>
          <p:cNvSpPr/>
          <p:nvPr/>
        </p:nvSpPr>
        <p:spPr>
          <a:xfrm>
            <a:off x="4564228" y="1828800"/>
            <a:ext cx="3063240" cy="658368"/>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M6  </a:t>
            </a:r>
            <a:r>
              <a:rPr lang="en-US" sz="1250" b="1" dirty="0">
                <a:solidFill>
                  <a:srgbClr val="FFFFFF"/>
                </a:solidFill>
                <a:latin typeface="Calibri" pitchFamily="34" charset="0"/>
                <a:ea typeface="Calibri" pitchFamily="34" charset="-122"/>
                <a:cs typeface="Calibri" pitchFamily="34" charset="-120"/>
              </a:rPr>
              <a:t>Servir &amp; Opérer (ML Services)</a:t>
            </a:r>
            <a:endParaRPr lang="en-US" sz="1700" dirty="0"/>
          </a:p>
        </p:txBody>
      </p:sp>
      <p:sp>
        <p:nvSpPr>
          <p:cNvPr id="16" name="Shape 14"/>
          <p:cNvSpPr/>
          <p:nvPr/>
        </p:nvSpPr>
        <p:spPr>
          <a:xfrm>
            <a:off x="6246724" y="2615184"/>
            <a:ext cx="1417320" cy="274320"/>
          </a:xfrm>
          <a:prstGeom prst="roundRect">
            <a:avLst>
              <a:gd name="adj" fmla="val 46667"/>
            </a:avLst>
          </a:prstGeom>
          <a:solidFill>
            <a:srgbClr val="FFFFFF"/>
          </a:solidFill>
          <a:ln w="9525">
            <a:solidFill>
              <a:srgbClr val="D9DEE8"/>
            </a:solidFill>
            <a:prstDash val="solid"/>
          </a:ln>
        </p:spPr>
        <p:txBody>
          <a:bodyPr/>
          <a:lstStyle/>
          <a:p>
            <a:endParaRPr lang="fr-FR"/>
          </a:p>
        </p:txBody>
      </p:sp>
      <p:sp>
        <p:nvSpPr>
          <p:cNvPr id="17" name="Text 15"/>
          <p:cNvSpPr/>
          <p:nvPr/>
        </p:nvSpPr>
        <p:spPr>
          <a:xfrm>
            <a:off x="6246724" y="2615184"/>
            <a:ext cx="1417320" cy="274320"/>
          </a:xfrm>
          <a:prstGeom prst="rect">
            <a:avLst/>
          </a:prstGeom>
          <a:noFill/>
          <a:ln/>
        </p:spPr>
        <p:txBody>
          <a:bodyPr wrap="square" lIns="0" tIns="0" rIns="0" bIns="0" rtlCol="0" anchor="ctr"/>
          <a:lstStyle/>
          <a:p>
            <a:pPr marL="0" indent="0" algn="ctr">
              <a:buNone/>
            </a:pPr>
            <a:r>
              <a:rPr lang="en-US" sz="900" b="1" dirty="0">
                <a:solidFill>
                  <a:srgbClr val="3A3F4B"/>
                </a:solidFill>
                <a:latin typeface="Calibri" pitchFamily="34" charset="0"/>
                <a:ea typeface="Calibri" pitchFamily="34" charset="-122"/>
                <a:cs typeface="Calibri" pitchFamily="34" charset="-120"/>
              </a:rPr>
              <a:t>6 - 9 sem.</a:t>
            </a:r>
            <a:endParaRPr lang="en-US" sz="900" dirty="0"/>
          </a:p>
        </p:txBody>
      </p:sp>
      <p:sp>
        <p:nvSpPr>
          <p:cNvPr id="18" name="Text 16"/>
          <p:cNvSpPr/>
          <p:nvPr/>
        </p:nvSpPr>
        <p:spPr>
          <a:xfrm>
            <a:off x="4582516" y="2999232"/>
            <a:ext cx="3026664" cy="2441448"/>
          </a:xfrm>
          <a:prstGeom prst="rect">
            <a:avLst/>
          </a:prstGeom>
          <a:noFill/>
          <a:ln/>
        </p:spPr>
        <p:txBody>
          <a:bodyPr wrap="square" lIns="0" tIns="0" rIns="0" bIns="0" rtlCol="0" anchor="t"/>
          <a:lstStyle/>
          <a:p>
            <a:pPr marL="152400" indent="-152400" algn="l">
              <a:lnSpc>
                <a:spcPts val="1700"/>
              </a:lnSpc>
              <a:buSzPct val="100000"/>
              <a:buChar char="•"/>
            </a:pPr>
            <a:r>
              <a:rPr lang="en-US" sz="1100" dirty="0">
                <a:solidFill>
                  <a:srgbClr val="3A3F4B"/>
                </a:solidFill>
                <a:latin typeface="Calibri" pitchFamily="34" charset="0"/>
                <a:ea typeface="Calibri" pitchFamily="34" charset="-122"/>
                <a:cs typeface="Calibri" pitchFamily="34" charset="-120"/>
              </a:rPr>
              <a:t>Déploiement &amp; exposition des modèles</a:t>
            </a:r>
            <a:endParaRPr lang="en-US" sz="1100" dirty="0"/>
          </a:p>
          <a:p>
            <a:pPr marL="152400" indent="-152400" algn="l">
              <a:lnSpc>
                <a:spcPts val="1700"/>
              </a:lnSpc>
              <a:buSzPct val="100000"/>
              <a:buChar char="•"/>
            </a:pPr>
            <a:r>
              <a:rPr lang="en-US" sz="1100" dirty="0">
                <a:solidFill>
                  <a:srgbClr val="3A3F4B"/>
                </a:solidFill>
                <a:latin typeface="Calibri" pitchFamily="34" charset="0"/>
                <a:ea typeface="Calibri" pitchFamily="34" charset="-122"/>
                <a:cs typeface="Calibri" pitchFamily="34" charset="-120"/>
              </a:rPr>
              <a:t>Model serving</a:t>
            </a:r>
            <a:endParaRPr lang="en-US" sz="1100" dirty="0"/>
          </a:p>
          <a:p>
            <a:pPr marL="152400" indent="-152400" algn="l">
              <a:lnSpc>
                <a:spcPts val="1700"/>
              </a:lnSpc>
              <a:buSzPct val="100000"/>
              <a:buChar char="•"/>
            </a:pPr>
            <a:r>
              <a:rPr lang="en-US" sz="1100" dirty="0">
                <a:solidFill>
                  <a:srgbClr val="3A3F4B"/>
                </a:solidFill>
                <a:latin typeface="Calibri" pitchFamily="34" charset="0"/>
                <a:ea typeface="Calibri" pitchFamily="34" charset="-122"/>
                <a:cs typeface="Calibri" pitchFamily="34" charset="-120"/>
              </a:rPr>
              <a:t>Monitoring modèles &amp; environnement</a:t>
            </a:r>
            <a:endParaRPr lang="en-US" sz="1100" dirty="0"/>
          </a:p>
          <a:p>
            <a:pPr marL="152400" indent="-152400" algn="l">
              <a:lnSpc>
                <a:spcPts val="1700"/>
              </a:lnSpc>
              <a:buSzPct val="100000"/>
              <a:buChar char="•"/>
            </a:pPr>
            <a:r>
              <a:rPr lang="en-US" sz="1100" dirty="0">
                <a:solidFill>
                  <a:srgbClr val="3A3F4B"/>
                </a:solidFill>
                <a:latin typeface="Calibri" pitchFamily="34" charset="0"/>
                <a:ea typeface="Calibri" pitchFamily="34" charset="-122"/>
                <a:cs typeface="Calibri" pitchFamily="34" charset="-120"/>
              </a:rPr>
              <a:t>Suivi performance / drift</a:t>
            </a:r>
            <a:endParaRPr lang="en-US" sz="1100" dirty="0"/>
          </a:p>
          <a:p>
            <a:pPr marL="152400" indent="-152400" algn="l">
              <a:lnSpc>
                <a:spcPts val="1700"/>
              </a:lnSpc>
              <a:buSzPct val="100000"/>
              <a:buChar char="•"/>
            </a:pPr>
            <a:r>
              <a:rPr lang="en-US" sz="1100" dirty="0">
                <a:solidFill>
                  <a:srgbClr val="3A3F4B"/>
                </a:solidFill>
                <a:latin typeface="Calibri" pitchFamily="34" charset="0"/>
                <a:ea typeface="Calibri" pitchFamily="34" charset="-122"/>
                <a:cs typeface="Calibri" pitchFamily="34" charset="-120"/>
              </a:rPr>
              <a:t>Gestion du cycle de vie des modèles</a:t>
            </a:r>
            <a:endParaRPr lang="en-US" sz="1100" dirty="0"/>
          </a:p>
          <a:p>
            <a:pPr marL="152400" indent="-152400" algn="l">
              <a:lnSpc>
                <a:spcPts val="1700"/>
              </a:lnSpc>
              <a:buSzPct val="100000"/>
              <a:buChar char="•"/>
            </a:pPr>
            <a:r>
              <a:rPr lang="en-US" sz="1100" dirty="0">
                <a:solidFill>
                  <a:srgbClr val="3A3F4B"/>
                </a:solidFill>
                <a:latin typeface="Calibri" pitchFamily="34" charset="0"/>
                <a:ea typeface="Calibri" pitchFamily="34" charset="-122"/>
                <a:cs typeface="Calibri" pitchFamily="34" charset="-120"/>
              </a:rPr>
              <a:t>Exploitation &amp; amélioration continue</a:t>
            </a:r>
            <a:endParaRPr lang="en-US" sz="1100" dirty="0"/>
          </a:p>
        </p:txBody>
      </p:sp>
      <p:sp>
        <p:nvSpPr>
          <p:cNvPr id="19" name="Text 17"/>
          <p:cNvSpPr/>
          <p:nvPr/>
        </p:nvSpPr>
        <p:spPr>
          <a:xfrm>
            <a:off x="7810348" y="3451860"/>
            <a:ext cx="384048" cy="548640"/>
          </a:xfrm>
          <a:prstGeom prst="rect">
            <a:avLst/>
          </a:prstGeom>
          <a:noFill/>
          <a:ln/>
        </p:spPr>
        <p:txBody>
          <a:bodyPr wrap="square" lIns="0" tIns="0" rIns="0" bIns="0" rtlCol="0" anchor="ctr"/>
          <a:lstStyle/>
          <a:p>
            <a:pPr marL="0" indent="0" algn="ctr">
              <a:buNone/>
            </a:pPr>
            <a:r>
              <a:rPr lang="en-US" sz="2200" b="1" dirty="0">
                <a:solidFill>
                  <a:srgbClr val="8A8F9C"/>
                </a:solidFill>
                <a:latin typeface="Calibri" pitchFamily="34" charset="0"/>
                <a:ea typeface="Calibri" pitchFamily="34" charset="-122"/>
                <a:cs typeface="Calibri" pitchFamily="34" charset="-120"/>
              </a:rPr>
              <a:t>→</a:t>
            </a:r>
            <a:endParaRPr lang="en-US" sz="2200" dirty="0"/>
          </a:p>
        </p:txBody>
      </p:sp>
      <p:sp>
        <p:nvSpPr>
          <p:cNvPr id="20" name="Shape 18"/>
          <p:cNvSpPr/>
          <p:nvPr/>
        </p:nvSpPr>
        <p:spPr>
          <a:xfrm>
            <a:off x="8194396" y="1828800"/>
            <a:ext cx="3429000" cy="3794760"/>
          </a:xfrm>
          <a:prstGeom prst="roundRect">
            <a:avLst>
              <a:gd name="adj" fmla="val 2133"/>
            </a:avLst>
          </a:prstGeom>
          <a:solidFill>
            <a:srgbClr val="EFFAFB"/>
          </a:solidFill>
          <a:ln w="15875">
            <a:solidFill>
              <a:srgbClr val="0FA3B1"/>
            </a:solidFill>
            <a:prstDash val="dash"/>
          </a:ln>
          <a:effectLst>
            <a:outerShdw blurRad="63500" dist="25400" dir="5400000" algn="bl" rotWithShape="0">
              <a:srgbClr val="9AA3B5">
                <a:alpha val="20000"/>
              </a:srgbClr>
            </a:outerShdw>
          </a:effectLst>
        </p:spPr>
        <p:txBody>
          <a:bodyPr/>
          <a:lstStyle/>
          <a:p>
            <a:endParaRPr lang="fr-FR"/>
          </a:p>
        </p:txBody>
      </p:sp>
      <p:sp>
        <p:nvSpPr>
          <p:cNvPr id="21" name="Shape 19"/>
          <p:cNvSpPr/>
          <p:nvPr/>
        </p:nvSpPr>
        <p:spPr>
          <a:xfrm>
            <a:off x="8194396" y="1828800"/>
            <a:ext cx="3429000" cy="658368"/>
          </a:xfrm>
          <a:prstGeom prst="roundRect">
            <a:avLst>
              <a:gd name="adj" fmla="val 11111"/>
            </a:avLst>
          </a:prstGeom>
          <a:solidFill>
            <a:srgbClr val="0FA3B1"/>
          </a:solidFill>
          <a:ln/>
        </p:spPr>
        <p:txBody>
          <a:bodyPr/>
          <a:lstStyle/>
          <a:p>
            <a:endParaRPr lang="fr-FR"/>
          </a:p>
        </p:txBody>
      </p:sp>
      <p:sp>
        <p:nvSpPr>
          <p:cNvPr id="22" name="Shape 20"/>
          <p:cNvSpPr/>
          <p:nvPr/>
        </p:nvSpPr>
        <p:spPr>
          <a:xfrm>
            <a:off x="8194396" y="2359152"/>
            <a:ext cx="3429000" cy="128016"/>
          </a:xfrm>
          <a:prstGeom prst="rect">
            <a:avLst/>
          </a:prstGeom>
          <a:solidFill>
            <a:srgbClr val="0FA3B1"/>
          </a:solidFill>
          <a:ln/>
        </p:spPr>
        <p:txBody>
          <a:bodyPr/>
          <a:lstStyle/>
          <a:p>
            <a:endParaRPr lang="fr-FR"/>
          </a:p>
        </p:txBody>
      </p:sp>
      <p:sp>
        <p:nvSpPr>
          <p:cNvPr id="23" name="Text 21"/>
          <p:cNvSpPr/>
          <p:nvPr/>
        </p:nvSpPr>
        <p:spPr>
          <a:xfrm>
            <a:off x="8377276" y="1828800"/>
            <a:ext cx="3063240" cy="658368"/>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M7  </a:t>
            </a:r>
            <a:r>
              <a:rPr lang="en-US" sz="1250" b="1" dirty="0">
                <a:solidFill>
                  <a:srgbClr val="FFFFFF"/>
                </a:solidFill>
                <a:latin typeface="Calibri" pitchFamily="34" charset="0"/>
                <a:ea typeface="Calibri" pitchFamily="34" charset="-122"/>
                <a:cs typeface="Calibri" pitchFamily="34" charset="-120"/>
              </a:rPr>
              <a:t>Converger &amp; Continuous Improvement</a:t>
            </a:r>
            <a:endParaRPr lang="en-US" sz="1700" dirty="0"/>
          </a:p>
        </p:txBody>
      </p:sp>
      <p:sp>
        <p:nvSpPr>
          <p:cNvPr id="24" name="Shape 22"/>
          <p:cNvSpPr/>
          <p:nvPr/>
        </p:nvSpPr>
        <p:spPr>
          <a:xfrm>
            <a:off x="10059772" y="2615184"/>
            <a:ext cx="1417320" cy="274320"/>
          </a:xfrm>
          <a:prstGeom prst="roundRect">
            <a:avLst>
              <a:gd name="adj" fmla="val 46667"/>
            </a:avLst>
          </a:prstGeom>
          <a:solidFill>
            <a:srgbClr val="D9F0F2"/>
          </a:solidFill>
          <a:ln w="9525">
            <a:solidFill>
              <a:srgbClr val="0FA3B1"/>
            </a:solidFill>
            <a:prstDash val="solid"/>
          </a:ln>
        </p:spPr>
        <p:txBody>
          <a:bodyPr/>
          <a:lstStyle/>
          <a:p>
            <a:endParaRPr lang="fr-FR"/>
          </a:p>
        </p:txBody>
      </p:sp>
      <p:sp>
        <p:nvSpPr>
          <p:cNvPr id="25" name="Text 23"/>
          <p:cNvSpPr/>
          <p:nvPr/>
        </p:nvSpPr>
        <p:spPr>
          <a:xfrm>
            <a:off x="10059772" y="2615184"/>
            <a:ext cx="1417320" cy="274320"/>
          </a:xfrm>
          <a:prstGeom prst="rect">
            <a:avLst/>
          </a:prstGeom>
          <a:noFill/>
          <a:ln/>
        </p:spPr>
        <p:txBody>
          <a:bodyPr wrap="square" lIns="0" tIns="0" rIns="0" bIns="0" rtlCol="0" anchor="ctr"/>
          <a:lstStyle/>
          <a:p>
            <a:pPr marL="0" indent="0" algn="ctr">
              <a:buNone/>
            </a:pPr>
            <a:r>
              <a:rPr lang="en-US" sz="900" b="1" dirty="0">
                <a:solidFill>
                  <a:srgbClr val="0C7C88"/>
                </a:solidFill>
                <a:latin typeface="Calibri" pitchFamily="34" charset="0"/>
                <a:ea typeface="Calibri" pitchFamily="34" charset="-122"/>
                <a:cs typeface="Calibri" pitchFamily="34" charset="-120"/>
              </a:rPr>
              <a:t>Effort continu</a:t>
            </a:r>
            <a:endParaRPr lang="en-US" sz="900" dirty="0"/>
          </a:p>
        </p:txBody>
      </p:sp>
      <p:sp>
        <p:nvSpPr>
          <p:cNvPr id="26" name="Text 24"/>
          <p:cNvSpPr/>
          <p:nvPr/>
        </p:nvSpPr>
        <p:spPr>
          <a:xfrm>
            <a:off x="8395564" y="2999232"/>
            <a:ext cx="3026664" cy="1938528"/>
          </a:xfrm>
          <a:prstGeom prst="rect">
            <a:avLst/>
          </a:prstGeom>
          <a:noFill/>
          <a:ln/>
        </p:spPr>
        <p:txBody>
          <a:bodyPr wrap="square" lIns="0" tIns="0" rIns="0" bIns="0" rtlCol="0" anchor="t"/>
          <a:lstStyle/>
          <a:p>
            <a:pPr marL="152400" indent="-152400" algn="l">
              <a:lnSpc>
                <a:spcPts val="1700"/>
              </a:lnSpc>
              <a:buSzPct val="100000"/>
              <a:buChar char="•"/>
            </a:pPr>
            <a:r>
              <a:rPr lang="en-US" sz="1100" dirty="0">
                <a:solidFill>
                  <a:srgbClr val="3A3F4B"/>
                </a:solidFill>
                <a:latin typeface="Calibri" pitchFamily="34" charset="0"/>
                <a:ea typeface="Calibri" pitchFamily="34" charset="-122"/>
                <a:cs typeface="Calibri" pitchFamily="34" charset="-120"/>
              </a:rPr>
              <a:t>Convergence des pratiques Data &amp; ML</a:t>
            </a:r>
            <a:endParaRPr lang="en-US" sz="1100" dirty="0"/>
          </a:p>
          <a:p>
            <a:pPr marL="152400" indent="-152400" algn="l">
              <a:lnSpc>
                <a:spcPts val="1700"/>
              </a:lnSpc>
              <a:buSzPct val="100000"/>
              <a:buChar char="•"/>
            </a:pPr>
            <a:r>
              <a:rPr lang="en-US" sz="1100" dirty="0">
                <a:solidFill>
                  <a:srgbClr val="3A3F4B"/>
                </a:solidFill>
                <a:latin typeface="Calibri" pitchFamily="34" charset="0"/>
                <a:ea typeface="Calibri" pitchFamily="34" charset="-122"/>
                <a:cs typeface="Calibri" pitchFamily="34" charset="-120"/>
              </a:rPr>
              <a:t>Patterns de delivery réutilisés</a:t>
            </a:r>
            <a:endParaRPr lang="en-US" sz="1100" dirty="0"/>
          </a:p>
          <a:p>
            <a:pPr marL="152400" indent="-152400" algn="l">
              <a:lnSpc>
                <a:spcPts val="1700"/>
              </a:lnSpc>
              <a:buSzPct val="100000"/>
              <a:buChar char="•"/>
            </a:pPr>
            <a:r>
              <a:rPr lang="en-US" sz="1100" dirty="0">
                <a:solidFill>
                  <a:srgbClr val="3A3F4B"/>
                </a:solidFill>
                <a:latin typeface="Calibri" pitchFamily="34" charset="0"/>
                <a:ea typeface="Calibri" pitchFamily="34" charset="-122"/>
                <a:cs typeface="Calibri" pitchFamily="34" charset="-120"/>
              </a:rPr>
              <a:t>Expériences &amp; outils unifiés</a:t>
            </a:r>
            <a:endParaRPr lang="en-US" sz="1100" dirty="0"/>
          </a:p>
          <a:p>
            <a:pPr marL="152400" indent="-152400" algn="l">
              <a:lnSpc>
                <a:spcPts val="1700"/>
              </a:lnSpc>
              <a:buSzPct val="100000"/>
              <a:buChar char="•"/>
            </a:pPr>
            <a:r>
              <a:rPr lang="en-US" sz="1100" dirty="0">
                <a:solidFill>
                  <a:srgbClr val="3A3F4B"/>
                </a:solidFill>
                <a:latin typeface="Calibri" pitchFamily="34" charset="0"/>
                <a:ea typeface="Calibri" pitchFamily="34" charset="-122"/>
                <a:cs typeface="Calibri" pitchFamily="34" charset="-120"/>
              </a:rPr>
              <a:t>Onboarding ML industrialisé</a:t>
            </a:r>
            <a:endParaRPr lang="en-US" sz="1100" dirty="0"/>
          </a:p>
          <a:p>
            <a:pPr marL="152400" indent="-152400" algn="l">
              <a:lnSpc>
                <a:spcPts val="1700"/>
              </a:lnSpc>
              <a:buSzPct val="100000"/>
              <a:buChar char="•"/>
            </a:pPr>
            <a:r>
              <a:rPr lang="en-US" sz="1100" dirty="0">
                <a:solidFill>
                  <a:srgbClr val="3A3F4B"/>
                </a:solidFill>
                <a:latin typeface="Calibri" pitchFamily="34" charset="0"/>
                <a:ea typeface="Calibri" pitchFamily="34" charset="-122"/>
                <a:cs typeface="Calibri" pitchFamily="34" charset="-120"/>
              </a:rPr>
              <a:t>Adoption, coût, valeur mesurés</a:t>
            </a:r>
            <a:endParaRPr lang="en-US" sz="1100" dirty="0"/>
          </a:p>
          <a:p>
            <a:pPr marL="152400" indent="-152400" algn="l">
              <a:lnSpc>
                <a:spcPts val="1700"/>
              </a:lnSpc>
              <a:buSzPct val="100000"/>
              <a:buChar char="•"/>
            </a:pPr>
            <a:r>
              <a:rPr lang="en-US" sz="1100" dirty="0">
                <a:solidFill>
                  <a:srgbClr val="3A3F4B"/>
                </a:solidFill>
                <a:latin typeface="Calibri" pitchFamily="34" charset="0"/>
                <a:ea typeface="Calibri" pitchFamily="34" charset="-122"/>
                <a:cs typeface="Calibri" pitchFamily="34" charset="-120"/>
              </a:rPr>
              <a:t>Boucle d'amélioration continue</a:t>
            </a:r>
            <a:endParaRPr lang="en-US" sz="1100" dirty="0"/>
          </a:p>
        </p:txBody>
      </p:sp>
      <p:sp>
        <p:nvSpPr>
          <p:cNvPr id="27" name="Shape 25"/>
          <p:cNvSpPr/>
          <p:nvPr/>
        </p:nvSpPr>
        <p:spPr>
          <a:xfrm>
            <a:off x="8395564" y="5001768"/>
            <a:ext cx="3026664" cy="0"/>
          </a:xfrm>
          <a:prstGeom prst="line">
            <a:avLst/>
          </a:prstGeom>
          <a:noFill/>
          <a:ln w="9525">
            <a:solidFill>
              <a:srgbClr val="0FA3B1"/>
            </a:solidFill>
            <a:prstDash val="solid"/>
          </a:ln>
        </p:spPr>
        <p:txBody>
          <a:bodyPr/>
          <a:lstStyle/>
          <a:p>
            <a:endParaRPr lang="fr-FR"/>
          </a:p>
        </p:txBody>
      </p:sp>
      <p:sp>
        <p:nvSpPr>
          <p:cNvPr id="28" name="Text 26"/>
          <p:cNvSpPr/>
          <p:nvPr/>
        </p:nvSpPr>
        <p:spPr>
          <a:xfrm>
            <a:off x="8395564" y="5074920"/>
            <a:ext cx="3026664" cy="502920"/>
          </a:xfrm>
          <a:prstGeom prst="rect">
            <a:avLst/>
          </a:prstGeom>
          <a:noFill/>
          <a:ln/>
        </p:spPr>
        <p:txBody>
          <a:bodyPr wrap="square" lIns="0" tIns="0" rIns="0" bIns="0" rtlCol="0" anchor="t"/>
          <a:lstStyle/>
          <a:p>
            <a:pPr marL="0" indent="0" algn="l">
              <a:buNone/>
            </a:pPr>
            <a:r>
              <a:rPr lang="en-US" sz="950" i="1" dirty="0">
                <a:solidFill>
                  <a:srgbClr val="0C7C88"/>
                </a:solidFill>
                <a:latin typeface="Calibri" pitchFamily="34" charset="0"/>
                <a:ea typeface="Calibri" pitchFamily="34" charset="-122"/>
                <a:cs typeface="Calibri" pitchFamily="34" charset="-120"/>
              </a:rPr>
              <a:t>Rejoint le palier 7 — Converger de la trajectoire Data / Services</a:t>
            </a:r>
            <a:endParaRPr lang="en-US" sz="950" dirty="0"/>
          </a:p>
        </p:txBody>
      </p:sp>
      <p:sp>
        <p:nvSpPr>
          <p:cNvPr id="29" name="Shape 27"/>
          <p:cNvSpPr/>
          <p:nvPr/>
        </p:nvSpPr>
        <p:spPr>
          <a:xfrm>
            <a:off x="0" y="6263640"/>
            <a:ext cx="12191695" cy="594360"/>
          </a:xfrm>
          <a:prstGeom prst="rect">
            <a:avLst/>
          </a:prstGeom>
          <a:solidFill>
            <a:srgbClr val="1E2761"/>
          </a:solidFill>
          <a:ln/>
        </p:spPr>
        <p:txBody>
          <a:bodyPr/>
          <a:lstStyle/>
          <a:p>
            <a:endParaRPr lang="fr-FR"/>
          </a:p>
        </p:txBody>
      </p:sp>
      <p:sp>
        <p:nvSpPr>
          <p:cNvPr id="30" name="Text 28"/>
          <p:cNvSpPr/>
          <p:nvPr/>
        </p:nvSpPr>
        <p:spPr>
          <a:xfrm>
            <a:off x="548640" y="6263640"/>
            <a:ext cx="11094415" cy="594360"/>
          </a:xfrm>
          <a:prstGeom prst="rect">
            <a:avLst/>
          </a:prstGeom>
          <a:noFill/>
          <a:ln/>
        </p:spPr>
        <p:txBody>
          <a:bodyPr wrap="square" lIns="0" tIns="0" rIns="0" bIns="0" rtlCol="0" anchor="ctr"/>
          <a:lstStyle/>
          <a:p>
            <a:pPr marL="0" indent="0" algn="ctr">
              <a:buNone/>
            </a:pPr>
            <a:r>
              <a:rPr lang="en-US" sz="1300" i="1" dirty="0">
                <a:solidFill>
                  <a:srgbClr val="FFFFFF"/>
                </a:solidFill>
                <a:latin typeface="Cambria" pitchFamily="34" charset="0"/>
                <a:ea typeface="Cambria" pitchFamily="34" charset="-122"/>
                <a:cs typeface="Cambria" pitchFamily="34" charset="-120"/>
              </a:rPr>
              <a:t>M5 et M6 livrent la capacité ML ; M7 la maintient vivante et alignée avec le reste de la plateforme.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640080"/>
          </a:xfrm>
          <a:prstGeom prst="rect">
            <a:avLst/>
          </a:prstGeom>
          <a:noFill/>
          <a:ln/>
        </p:spPr>
        <p:txBody>
          <a:bodyPr wrap="square" lIns="0" tIns="0" rIns="0" bIns="0" rtlCol="0" anchor="ctr"/>
          <a:lstStyle/>
          <a:p>
            <a:pPr marL="0" indent="0" algn="l">
              <a:buNone/>
            </a:pPr>
            <a:r>
              <a:rPr lang="en-US" sz="2700" b="1" dirty="0">
                <a:solidFill>
                  <a:srgbClr val="1E2761"/>
                </a:solidFill>
                <a:latin typeface="Cambria" pitchFamily="34" charset="0"/>
                <a:ea typeface="Cambria" pitchFamily="34" charset="-122"/>
                <a:cs typeface="Cambria" pitchFamily="34" charset="-120"/>
              </a:rPr>
              <a:t>Une transformation pilotée par la preuve, pas la promesse</a:t>
            </a:r>
            <a:endParaRPr lang="en-US" sz="2700" dirty="0"/>
          </a:p>
        </p:txBody>
      </p:sp>
      <p:sp>
        <p:nvSpPr>
          <p:cNvPr id="3" name="Shape 1"/>
          <p:cNvSpPr/>
          <p:nvPr/>
        </p:nvSpPr>
        <p:spPr>
          <a:xfrm>
            <a:off x="769468" y="1417320"/>
            <a:ext cx="1874520" cy="777240"/>
          </a:xfrm>
          <a:prstGeom prst="roundRect">
            <a:avLst>
              <a:gd name="adj" fmla="val 10588"/>
            </a:avLst>
          </a:prstGeom>
          <a:solidFill>
            <a:srgbClr val="1E2761"/>
          </a:solidFill>
          <a:ln/>
        </p:spPr>
        <p:txBody>
          <a:bodyPr/>
          <a:lstStyle/>
          <a:p>
            <a:endParaRPr lang="fr-FR"/>
          </a:p>
        </p:txBody>
      </p:sp>
      <p:sp>
        <p:nvSpPr>
          <p:cNvPr id="4" name="Text 2"/>
          <p:cNvSpPr/>
          <p:nvPr/>
        </p:nvSpPr>
        <p:spPr>
          <a:xfrm>
            <a:off x="769468" y="1417320"/>
            <a:ext cx="1874520"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Explorer</a:t>
            </a:r>
            <a:endParaRPr lang="en-US" sz="1300" dirty="0"/>
          </a:p>
        </p:txBody>
      </p:sp>
      <p:sp>
        <p:nvSpPr>
          <p:cNvPr id="5" name="Text 3"/>
          <p:cNvSpPr/>
          <p:nvPr/>
        </p:nvSpPr>
        <p:spPr>
          <a:xfrm>
            <a:off x="2643988" y="1417320"/>
            <a:ext cx="320040" cy="777240"/>
          </a:xfrm>
          <a:prstGeom prst="rect">
            <a:avLst/>
          </a:prstGeom>
          <a:noFill/>
          <a:ln/>
        </p:spPr>
        <p:txBody>
          <a:bodyPr wrap="square" lIns="0" tIns="0" rIns="0" bIns="0"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6" name="Shape 4"/>
          <p:cNvSpPr/>
          <p:nvPr/>
        </p:nvSpPr>
        <p:spPr>
          <a:xfrm>
            <a:off x="2964028" y="1417320"/>
            <a:ext cx="1874520" cy="777240"/>
          </a:xfrm>
          <a:prstGeom prst="roundRect">
            <a:avLst>
              <a:gd name="adj" fmla="val 10588"/>
            </a:avLst>
          </a:prstGeom>
          <a:solidFill>
            <a:srgbClr val="1E2761"/>
          </a:solidFill>
          <a:ln/>
        </p:spPr>
        <p:txBody>
          <a:bodyPr/>
          <a:lstStyle/>
          <a:p>
            <a:endParaRPr lang="fr-FR"/>
          </a:p>
        </p:txBody>
      </p:sp>
      <p:sp>
        <p:nvSpPr>
          <p:cNvPr id="7" name="Text 5"/>
          <p:cNvSpPr/>
          <p:nvPr/>
        </p:nvSpPr>
        <p:spPr>
          <a:xfrm>
            <a:off x="2964028" y="1417320"/>
            <a:ext cx="1874520"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Construire</a:t>
            </a:r>
            <a:endParaRPr lang="en-US" sz="1300" dirty="0"/>
          </a:p>
        </p:txBody>
      </p:sp>
      <p:sp>
        <p:nvSpPr>
          <p:cNvPr id="8" name="Text 6"/>
          <p:cNvSpPr/>
          <p:nvPr/>
        </p:nvSpPr>
        <p:spPr>
          <a:xfrm>
            <a:off x="4838548" y="1417320"/>
            <a:ext cx="320040" cy="777240"/>
          </a:xfrm>
          <a:prstGeom prst="rect">
            <a:avLst/>
          </a:prstGeom>
          <a:noFill/>
          <a:ln/>
        </p:spPr>
        <p:txBody>
          <a:bodyPr wrap="square" lIns="0" tIns="0" rIns="0" bIns="0"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5158588" y="1417320"/>
            <a:ext cx="1874520" cy="777240"/>
          </a:xfrm>
          <a:prstGeom prst="roundRect">
            <a:avLst>
              <a:gd name="adj" fmla="val 10588"/>
            </a:avLst>
          </a:prstGeom>
          <a:solidFill>
            <a:srgbClr val="1E2761"/>
          </a:solidFill>
          <a:ln/>
        </p:spPr>
        <p:txBody>
          <a:bodyPr/>
          <a:lstStyle/>
          <a:p>
            <a:endParaRPr lang="fr-FR"/>
          </a:p>
        </p:txBody>
      </p:sp>
      <p:sp>
        <p:nvSpPr>
          <p:cNvPr id="10" name="Text 8"/>
          <p:cNvSpPr/>
          <p:nvPr/>
        </p:nvSpPr>
        <p:spPr>
          <a:xfrm>
            <a:off x="5158588" y="1417320"/>
            <a:ext cx="1874520"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Adopter</a:t>
            </a:r>
            <a:endParaRPr lang="en-US" sz="1300" dirty="0"/>
          </a:p>
        </p:txBody>
      </p:sp>
      <p:sp>
        <p:nvSpPr>
          <p:cNvPr id="11" name="Text 9"/>
          <p:cNvSpPr/>
          <p:nvPr/>
        </p:nvSpPr>
        <p:spPr>
          <a:xfrm>
            <a:off x="7033108" y="1417320"/>
            <a:ext cx="320040" cy="777240"/>
          </a:xfrm>
          <a:prstGeom prst="rect">
            <a:avLst/>
          </a:prstGeom>
          <a:noFill/>
          <a:ln/>
        </p:spPr>
        <p:txBody>
          <a:bodyPr wrap="square" lIns="0" tIns="0" rIns="0" bIns="0"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7353148" y="1417320"/>
            <a:ext cx="1874520" cy="777240"/>
          </a:xfrm>
          <a:prstGeom prst="roundRect">
            <a:avLst>
              <a:gd name="adj" fmla="val 10588"/>
            </a:avLst>
          </a:prstGeom>
          <a:solidFill>
            <a:srgbClr val="1E2761"/>
          </a:solidFill>
          <a:ln/>
        </p:spPr>
        <p:txBody>
          <a:bodyPr/>
          <a:lstStyle/>
          <a:p>
            <a:endParaRPr lang="fr-FR"/>
          </a:p>
        </p:txBody>
      </p:sp>
      <p:sp>
        <p:nvSpPr>
          <p:cNvPr id="13" name="Text 11"/>
          <p:cNvSpPr/>
          <p:nvPr/>
        </p:nvSpPr>
        <p:spPr>
          <a:xfrm>
            <a:off x="7353148" y="1417320"/>
            <a:ext cx="1874520"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Mesurer</a:t>
            </a:r>
            <a:endParaRPr lang="en-US" sz="1300" dirty="0"/>
          </a:p>
        </p:txBody>
      </p:sp>
      <p:sp>
        <p:nvSpPr>
          <p:cNvPr id="14" name="Text 12"/>
          <p:cNvSpPr/>
          <p:nvPr/>
        </p:nvSpPr>
        <p:spPr>
          <a:xfrm>
            <a:off x="9227668" y="1417320"/>
            <a:ext cx="320040" cy="777240"/>
          </a:xfrm>
          <a:prstGeom prst="rect">
            <a:avLst/>
          </a:prstGeom>
          <a:noFill/>
          <a:ln/>
        </p:spPr>
        <p:txBody>
          <a:bodyPr wrap="square" lIns="0" tIns="0" rIns="0" bIns="0"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9547708" y="1417320"/>
            <a:ext cx="1874520" cy="777240"/>
          </a:xfrm>
          <a:prstGeom prst="roundRect">
            <a:avLst>
              <a:gd name="adj" fmla="val 10588"/>
            </a:avLst>
          </a:prstGeom>
          <a:solidFill>
            <a:srgbClr val="0FA3B1"/>
          </a:solidFill>
          <a:ln/>
        </p:spPr>
        <p:txBody>
          <a:bodyPr/>
          <a:lstStyle/>
          <a:p>
            <a:endParaRPr lang="fr-FR"/>
          </a:p>
        </p:txBody>
      </p:sp>
      <p:sp>
        <p:nvSpPr>
          <p:cNvPr id="16" name="Text 14"/>
          <p:cNvSpPr/>
          <p:nvPr/>
        </p:nvSpPr>
        <p:spPr>
          <a:xfrm>
            <a:off x="9547708" y="1417320"/>
            <a:ext cx="1874520"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Industrialiser</a:t>
            </a:r>
            <a:endParaRPr lang="en-US" sz="1300" dirty="0"/>
          </a:p>
        </p:txBody>
      </p:sp>
      <p:sp>
        <p:nvSpPr>
          <p:cNvPr id="17" name="Text 15"/>
          <p:cNvSpPr/>
          <p:nvPr/>
        </p:nvSpPr>
        <p:spPr>
          <a:xfrm>
            <a:off x="548640" y="2697480"/>
            <a:ext cx="11094415" cy="274320"/>
          </a:xfrm>
          <a:prstGeom prst="rect">
            <a:avLst/>
          </a:prstGeom>
          <a:noFill/>
          <a:ln/>
        </p:spPr>
        <p:txBody>
          <a:bodyPr wrap="square" lIns="0" tIns="0" rIns="0" bIns="0" rtlCol="0" anchor="ctr"/>
          <a:lstStyle/>
          <a:p>
            <a:pPr marL="0" indent="0" algn="ctr">
              <a:buNone/>
            </a:pPr>
            <a:r>
              <a:rPr lang="en-US" sz="1100" b="1" kern="0" spc="100" dirty="0">
                <a:solidFill>
                  <a:srgbClr val="8A8F9C"/>
                </a:solidFill>
                <a:latin typeface="Calibri" pitchFamily="34" charset="0"/>
                <a:ea typeface="Calibri" pitchFamily="34" charset="-122"/>
                <a:cs typeface="Calibri" pitchFamily="34" charset="-120"/>
              </a:rPr>
              <a:t>EXEMPLE CONCRET — FIL ROUGE</a:t>
            </a:r>
            <a:endParaRPr lang="en-US" sz="1100" dirty="0"/>
          </a:p>
        </p:txBody>
      </p:sp>
      <p:sp>
        <p:nvSpPr>
          <p:cNvPr id="18" name="Shape 16"/>
          <p:cNvSpPr/>
          <p:nvPr/>
        </p:nvSpPr>
        <p:spPr>
          <a:xfrm>
            <a:off x="632308" y="3044952"/>
            <a:ext cx="1965960" cy="868680"/>
          </a:xfrm>
          <a:prstGeom prst="roundRect">
            <a:avLst>
              <a:gd name="adj" fmla="val 8421"/>
            </a:avLst>
          </a:prstGeom>
          <a:solidFill>
            <a:srgbClr val="F0FBFC"/>
          </a:solidFill>
          <a:ln w="15875">
            <a:solidFill>
              <a:srgbClr val="0FA3B1"/>
            </a:solidFill>
            <a:prstDash val="solid"/>
          </a:ln>
          <a:effectLst>
            <a:outerShdw blurRad="63500" dist="25400" dir="5400000" algn="bl" rotWithShape="0">
              <a:srgbClr val="9AA3B5">
                <a:alpha val="25000"/>
              </a:srgbClr>
            </a:outerShdw>
          </a:effectLst>
        </p:spPr>
        <p:txBody>
          <a:bodyPr/>
          <a:lstStyle/>
          <a:p>
            <a:endParaRPr lang="fr-FR"/>
          </a:p>
        </p:txBody>
      </p:sp>
      <p:sp>
        <p:nvSpPr>
          <p:cNvPr id="19" name="Text 17"/>
          <p:cNvSpPr/>
          <p:nvPr/>
        </p:nvSpPr>
        <p:spPr>
          <a:xfrm>
            <a:off x="705460" y="3044952"/>
            <a:ext cx="1819656" cy="868680"/>
          </a:xfrm>
          <a:prstGeom prst="rect">
            <a:avLst/>
          </a:prstGeom>
          <a:noFill/>
          <a:ln/>
        </p:spPr>
        <p:txBody>
          <a:bodyPr wrap="square" lIns="0" tIns="0" rIns="0" bIns="0" rtlCol="0" anchor="ctr"/>
          <a:lstStyle/>
          <a:p>
            <a:pPr marL="0" indent="0" algn="ctr">
              <a:buNone/>
            </a:pPr>
            <a:r>
              <a:rPr lang="en-US" sz="1100" b="1" dirty="0">
                <a:solidFill>
                  <a:srgbClr val="0FA3B1"/>
                </a:solidFill>
                <a:latin typeface="Calibri" pitchFamily="34" charset="0"/>
                <a:ea typeface="Calibri" pitchFamily="34" charset="-122"/>
                <a:cs typeface="Calibri" pitchFamily="34" charset="-120"/>
              </a:rPr>
              <a:t>Notebook silos …</a:t>
            </a:r>
            <a:endParaRPr lang="en-US" sz="1100" dirty="0">
              <a:solidFill>
                <a:srgbClr val="0FA3B1"/>
              </a:solidFill>
            </a:endParaRPr>
          </a:p>
        </p:txBody>
      </p:sp>
      <p:sp>
        <p:nvSpPr>
          <p:cNvPr id="20" name="Text 18"/>
          <p:cNvSpPr/>
          <p:nvPr/>
        </p:nvSpPr>
        <p:spPr>
          <a:xfrm>
            <a:off x="2598268" y="3044952"/>
            <a:ext cx="274320" cy="868680"/>
          </a:xfrm>
          <a:prstGeom prst="rect">
            <a:avLst/>
          </a:prstGeom>
          <a:noFill/>
          <a:ln/>
        </p:spPr>
        <p:txBody>
          <a:bodyPr wrap="square" lIns="0" tIns="0" rIns="0" bIns="0" rtlCol="0" anchor="ctr"/>
          <a:lstStyle/>
          <a:p>
            <a:pPr marL="0" indent="0" algn="ctr">
              <a:buNone/>
            </a:pPr>
            <a:r>
              <a:rPr lang="en-US" sz="1400" b="1" dirty="0">
                <a:solidFill>
                  <a:srgbClr val="8A8F9C"/>
                </a:solidFill>
                <a:latin typeface="Calibri" pitchFamily="34" charset="0"/>
                <a:ea typeface="Calibri" pitchFamily="34" charset="-122"/>
                <a:cs typeface="Calibri" pitchFamily="34" charset="-120"/>
              </a:rPr>
              <a:t>→</a:t>
            </a:r>
            <a:endParaRPr lang="en-US" sz="1400" dirty="0"/>
          </a:p>
        </p:txBody>
      </p:sp>
      <p:sp>
        <p:nvSpPr>
          <p:cNvPr id="21" name="Shape 19"/>
          <p:cNvSpPr/>
          <p:nvPr/>
        </p:nvSpPr>
        <p:spPr>
          <a:xfrm>
            <a:off x="2872588" y="3044952"/>
            <a:ext cx="1965960" cy="868680"/>
          </a:xfrm>
          <a:prstGeom prst="roundRect">
            <a:avLst>
              <a:gd name="adj" fmla="val 8421"/>
            </a:avLst>
          </a:prstGeom>
          <a:solidFill>
            <a:srgbClr val="F0FBFC"/>
          </a:solidFill>
          <a:ln w="15875">
            <a:solidFill>
              <a:srgbClr val="0FA3B1"/>
            </a:solidFill>
            <a:prstDash val="solid"/>
          </a:ln>
          <a:effectLst>
            <a:outerShdw blurRad="63500" dist="25400" dir="5400000" algn="bl" rotWithShape="0">
              <a:srgbClr val="9AA3B5">
                <a:alpha val="25000"/>
              </a:srgbClr>
            </a:outerShdw>
          </a:effectLst>
        </p:spPr>
        <p:txBody>
          <a:bodyPr/>
          <a:lstStyle/>
          <a:p>
            <a:endParaRPr lang="fr-FR"/>
          </a:p>
        </p:txBody>
      </p:sp>
      <p:sp>
        <p:nvSpPr>
          <p:cNvPr id="22" name="Text 20"/>
          <p:cNvSpPr/>
          <p:nvPr/>
        </p:nvSpPr>
        <p:spPr>
          <a:xfrm>
            <a:off x="2945740" y="3044952"/>
            <a:ext cx="1819656" cy="868680"/>
          </a:xfrm>
          <a:prstGeom prst="rect">
            <a:avLst/>
          </a:prstGeom>
          <a:noFill/>
          <a:ln/>
        </p:spPr>
        <p:txBody>
          <a:bodyPr wrap="square" lIns="0" tIns="0" rIns="0" bIns="0" rtlCol="0" anchor="ctr"/>
          <a:lstStyle/>
          <a:p>
            <a:pPr marL="0" indent="0" algn="ctr">
              <a:buNone/>
            </a:pPr>
            <a:r>
              <a:rPr lang="en-US" sz="1100" b="1" dirty="0">
                <a:solidFill>
                  <a:srgbClr val="0FA3B1"/>
                </a:solidFill>
                <a:latin typeface="Calibri" pitchFamily="34" charset="0"/>
                <a:ea typeface="Calibri" pitchFamily="34" charset="-122"/>
                <a:cs typeface="Calibri" pitchFamily="34" charset="-120"/>
              </a:rPr>
              <a:t>Projet standardisé</a:t>
            </a:r>
            <a:endParaRPr lang="en-US" sz="1100" dirty="0">
              <a:solidFill>
                <a:srgbClr val="0FA3B1"/>
              </a:solidFill>
            </a:endParaRPr>
          </a:p>
          <a:p>
            <a:pPr marL="0" indent="0" algn="ctr">
              <a:buNone/>
            </a:pPr>
            <a:r>
              <a:rPr lang="en-US" sz="1100" b="1" dirty="0">
                <a:solidFill>
                  <a:srgbClr val="0FA3B1"/>
                </a:solidFill>
                <a:latin typeface="Calibri" pitchFamily="34" charset="0"/>
                <a:ea typeface="Calibri" pitchFamily="34" charset="-122"/>
                <a:cs typeface="Calibri" pitchFamily="34" charset="-120"/>
              </a:rPr>
              <a:t>(platformctl)</a:t>
            </a:r>
            <a:endParaRPr lang="en-US" sz="1100" dirty="0">
              <a:solidFill>
                <a:srgbClr val="0FA3B1"/>
              </a:solidFill>
            </a:endParaRPr>
          </a:p>
        </p:txBody>
      </p:sp>
      <p:sp>
        <p:nvSpPr>
          <p:cNvPr id="23" name="Text 21"/>
          <p:cNvSpPr/>
          <p:nvPr/>
        </p:nvSpPr>
        <p:spPr>
          <a:xfrm>
            <a:off x="4838548" y="3044952"/>
            <a:ext cx="274320" cy="868680"/>
          </a:xfrm>
          <a:prstGeom prst="rect">
            <a:avLst/>
          </a:prstGeom>
          <a:noFill/>
          <a:ln/>
        </p:spPr>
        <p:txBody>
          <a:bodyPr wrap="square" lIns="0" tIns="0" rIns="0" bIns="0" rtlCol="0" anchor="ctr"/>
          <a:lstStyle/>
          <a:p>
            <a:pPr marL="0" indent="0" algn="ctr">
              <a:buNone/>
            </a:pPr>
            <a:r>
              <a:rPr lang="en-US" sz="1400" b="1" dirty="0">
                <a:solidFill>
                  <a:srgbClr val="8A8F9C"/>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5112868" y="3044952"/>
            <a:ext cx="1965960" cy="868680"/>
          </a:xfrm>
          <a:prstGeom prst="roundRect">
            <a:avLst>
              <a:gd name="adj" fmla="val 8421"/>
            </a:avLst>
          </a:prstGeom>
          <a:solidFill>
            <a:srgbClr val="F0FBFC"/>
          </a:solidFill>
          <a:ln w="15875">
            <a:solidFill>
              <a:srgbClr val="0FA3B1"/>
            </a:solidFill>
            <a:prstDash val="solid"/>
          </a:ln>
          <a:effectLst>
            <a:outerShdw blurRad="63500" dist="25400" dir="5400000" algn="bl" rotWithShape="0">
              <a:srgbClr val="9AA3B5">
                <a:alpha val="25000"/>
              </a:srgbClr>
            </a:outerShdw>
          </a:effectLst>
        </p:spPr>
        <p:txBody>
          <a:bodyPr/>
          <a:lstStyle/>
          <a:p>
            <a:endParaRPr lang="fr-FR"/>
          </a:p>
        </p:txBody>
      </p:sp>
      <p:sp>
        <p:nvSpPr>
          <p:cNvPr id="25" name="Text 23"/>
          <p:cNvSpPr/>
          <p:nvPr/>
        </p:nvSpPr>
        <p:spPr>
          <a:xfrm>
            <a:off x="5186020" y="3044952"/>
            <a:ext cx="1819656" cy="868680"/>
          </a:xfrm>
          <a:prstGeom prst="rect">
            <a:avLst/>
          </a:prstGeom>
          <a:noFill/>
          <a:ln/>
        </p:spPr>
        <p:txBody>
          <a:bodyPr wrap="square" lIns="0" tIns="0" rIns="0" bIns="0" rtlCol="0" anchor="ctr"/>
          <a:lstStyle/>
          <a:p>
            <a:pPr marL="0" indent="0" algn="ctr">
              <a:buNone/>
            </a:pPr>
            <a:r>
              <a:rPr lang="en-US" sz="1100" b="1" dirty="0">
                <a:solidFill>
                  <a:srgbClr val="0FA3B1"/>
                </a:solidFill>
                <a:latin typeface="Calibri" pitchFamily="34" charset="0"/>
                <a:ea typeface="Calibri" pitchFamily="34" charset="-122"/>
                <a:cs typeface="Calibri" pitchFamily="34" charset="-120"/>
              </a:rPr>
              <a:t>Data Product adoption</a:t>
            </a:r>
            <a:endParaRPr lang="en-US" sz="1100" dirty="0">
              <a:solidFill>
                <a:srgbClr val="0FA3B1"/>
              </a:solidFill>
            </a:endParaRPr>
          </a:p>
        </p:txBody>
      </p:sp>
      <p:sp>
        <p:nvSpPr>
          <p:cNvPr id="26" name="Text 24"/>
          <p:cNvSpPr/>
          <p:nvPr/>
        </p:nvSpPr>
        <p:spPr>
          <a:xfrm>
            <a:off x="7078828" y="3044952"/>
            <a:ext cx="274320" cy="868680"/>
          </a:xfrm>
          <a:prstGeom prst="rect">
            <a:avLst/>
          </a:prstGeom>
          <a:noFill/>
          <a:ln/>
        </p:spPr>
        <p:txBody>
          <a:bodyPr wrap="square" lIns="0" tIns="0" rIns="0" bIns="0" rtlCol="0" anchor="ctr"/>
          <a:lstStyle/>
          <a:p>
            <a:pPr marL="0" indent="0" algn="ctr">
              <a:buNone/>
            </a:pPr>
            <a:r>
              <a:rPr lang="en-US" sz="1400" b="1" dirty="0">
                <a:solidFill>
                  <a:srgbClr val="8A8F9C"/>
                </a:solidFill>
                <a:latin typeface="Calibri" pitchFamily="34" charset="0"/>
                <a:ea typeface="Calibri" pitchFamily="34" charset="-122"/>
                <a:cs typeface="Calibri" pitchFamily="34" charset="-120"/>
              </a:rPr>
              <a:t>→</a:t>
            </a:r>
            <a:endParaRPr lang="en-US" sz="1400" dirty="0"/>
          </a:p>
        </p:txBody>
      </p:sp>
      <p:sp>
        <p:nvSpPr>
          <p:cNvPr id="27" name="Shape 25"/>
          <p:cNvSpPr/>
          <p:nvPr/>
        </p:nvSpPr>
        <p:spPr>
          <a:xfrm>
            <a:off x="7353148" y="3044952"/>
            <a:ext cx="1965960" cy="868680"/>
          </a:xfrm>
          <a:prstGeom prst="roundRect">
            <a:avLst>
              <a:gd name="adj" fmla="val 8421"/>
            </a:avLst>
          </a:prstGeom>
          <a:solidFill>
            <a:srgbClr val="FDF1DD"/>
          </a:solidFill>
          <a:ln w="15875">
            <a:solidFill>
              <a:srgbClr val="E8A33D"/>
            </a:solidFill>
            <a:prstDash val="solid"/>
          </a:ln>
          <a:effectLst>
            <a:outerShdw blurRad="88900" dist="25400" dir="5400000" algn="bl" rotWithShape="0">
              <a:srgbClr val="D89B3D">
                <a:alpha val="35000"/>
              </a:srgbClr>
            </a:outerShdw>
          </a:effectLst>
        </p:spPr>
        <p:txBody>
          <a:bodyPr/>
          <a:lstStyle/>
          <a:p>
            <a:endParaRPr lang="fr-FR"/>
          </a:p>
        </p:txBody>
      </p:sp>
      <p:sp>
        <p:nvSpPr>
          <p:cNvPr id="28" name="Text 26"/>
          <p:cNvSpPr/>
          <p:nvPr/>
        </p:nvSpPr>
        <p:spPr>
          <a:xfrm>
            <a:off x="7426300" y="3044952"/>
            <a:ext cx="1819656" cy="868680"/>
          </a:xfrm>
          <a:prstGeom prst="rect">
            <a:avLst/>
          </a:prstGeom>
          <a:noFill/>
          <a:ln/>
        </p:spPr>
        <p:txBody>
          <a:bodyPr wrap="square" lIns="0" tIns="0" rIns="0" bIns="0" rtlCol="0" anchor="ctr"/>
          <a:lstStyle/>
          <a:p>
            <a:pPr marL="0" indent="0" algn="ctr">
              <a:buNone/>
            </a:pPr>
            <a:r>
              <a:rPr lang="en-US" sz="1100" b="1" dirty="0">
                <a:solidFill>
                  <a:srgbClr val="A6660B"/>
                </a:solidFill>
                <a:latin typeface="Calibri" pitchFamily="34" charset="0"/>
                <a:ea typeface="Calibri" pitchFamily="34" charset="-122"/>
                <a:cs typeface="Calibri" pitchFamily="34" charset="-120"/>
              </a:rPr>
              <a:t>Evaluer Adoption</a:t>
            </a:r>
            <a:r>
              <a:rPr lang="en-US" sz="1100" dirty="0">
                <a:solidFill>
                  <a:srgbClr val="A6660B"/>
                </a:solidFill>
              </a:rPr>
              <a:t> </a:t>
            </a:r>
            <a:r>
              <a:rPr lang="en-US" sz="1100" b="1" dirty="0">
                <a:solidFill>
                  <a:srgbClr val="A6660B"/>
                </a:solidFill>
                <a:latin typeface="Calibri" pitchFamily="34" charset="0"/>
                <a:ea typeface="Calibri" pitchFamily="34" charset="-122"/>
                <a:cs typeface="Calibri" pitchFamily="34" charset="-120"/>
              </a:rPr>
              <a:t>&amp; </a:t>
            </a:r>
            <a:r>
              <a:rPr lang="en-US" sz="1100" b="1" dirty="0" err="1">
                <a:solidFill>
                  <a:srgbClr val="A6660B"/>
                </a:solidFill>
                <a:latin typeface="Calibri" pitchFamily="34" charset="0"/>
                <a:ea typeface="Calibri" pitchFamily="34" charset="-122"/>
                <a:cs typeface="Calibri" pitchFamily="34" charset="-120"/>
              </a:rPr>
              <a:t>Accélération</a:t>
            </a:r>
            <a:endParaRPr lang="en-US" sz="1100" b="1" dirty="0">
              <a:solidFill>
                <a:srgbClr val="A6660B"/>
              </a:solidFill>
              <a:latin typeface="Calibri" pitchFamily="34" charset="0"/>
              <a:ea typeface="Calibri" pitchFamily="34" charset="-122"/>
              <a:cs typeface="Calibri" pitchFamily="34" charset="-120"/>
            </a:endParaRPr>
          </a:p>
          <a:p>
            <a:pPr algn="ctr"/>
            <a:r>
              <a:rPr lang="en-US" sz="800" b="1" dirty="0">
                <a:solidFill>
                  <a:srgbClr val="A6660B"/>
                </a:solidFill>
                <a:latin typeface="Calibri" pitchFamily="34" charset="0"/>
                <a:ea typeface="Calibri" pitchFamily="34" charset="-122"/>
                <a:cs typeface="Calibri" pitchFamily="34" charset="-120"/>
              </a:rPr>
              <a:t>(EN COURS)</a:t>
            </a:r>
          </a:p>
        </p:txBody>
      </p:sp>
      <p:sp>
        <p:nvSpPr>
          <p:cNvPr id="29" name="Text 27"/>
          <p:cNvSpPr/>
          <p:nvPr/>
        </p:nvSpPr>
        <p:spPr>
          <a:xfrm>
            <a:off x="9319108" y="3044952"/>
            <a:ext cx="274320" cy="868680"/>
          </a:xfrm>
          <a:prstGeom prst="rect">
            <a:avLst/>
          </a:prstGeom>
          <a:noFill/>
          <a:ln/>
        </p:spPr>
        <p:txBody>
          <a:bodyPr wrap="square" lIns="0" tIns="0" rIns="0" bIns="0" rtlCol="0" anchor="ctr"/>
          <a:lstStyle/>
          <a:p>
            <a:pPr marL="0" indent="0" algn="ctr">
              <a:buNone/>
            </a:pPr>
            <a:r>
              <a:rPr lang="en-US" sz="1400" b="1" dirty="0">
                <a:solidFill>
                  <a:srgbClr val="8A8F9C"/>
                </a:solidFill>
                <a:latin typeface="Calibri" pitchFamily="34" charset="0"/>
                <a:ea typeface="Calibri" pitchFamily="34" charset="-122"/>
                <a:cs typeface="Calibri" pitchFamily="34" charset="-120"/>
              </a:rPr>
              <a:t>→</a:t>
            </a:r>
            <a:endParaRPr lang="en-US" sz="1400" dirty="0"/>
          </a:p>
        </p:txBody>
      </p:sp>
      <p:sp>
        <p:nvSpPr>
          <p:cNvPr id="30" name="Shape 28"/>
          <p:cNvSpPr/>
          <p:nvPr/>
        </p:nvSpPr>
        <p:spPr>
          <a:xfrm>
            <a:off x="9593428" y="3044952"/>
            <a:ext cx="1965960" cy="868680"/>
          </a:xfrm>
          <a:prstGeom prst="roundRect">
            <a:avLst>
              <a:gd name="adj" fmla="val 8421"/>
            </a:avLst>
          </a:prstGeom>
          <a:solidFill>
            <a:srgbClr val="F2F4F8"/>
          </a:solidFill>
          <a:ln w="12700">
            <a:solidFill>
              <a:srgbClr val="D9DEE8"/>
            </a:solidFill>
            <a:prstDash val="solid"/>
          </a:ln>
        </p:spPr>
        <p:txBody>
          <a:bodyPr/>
          <a:lstStyle/>
          <a:p>
            <a:endParaRPr lang="fr-FR"/>
          </a:p>
        </p:txBody>
      </p:sp>
      <p:sp>
        <p:nvSpPr>
          <p:cNvPr id="31" name="Text 29"/>
          <p:cNvSpPr/>
          <p:nvPr/>
        </p:nvSpPr>
        <p:spPr>
          <a:xfrm>
            <a:off x="9666580" y="3044952"/>
            <a:ext cx="1819656" cy="86868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Extension au</a:t>
            </a:r>
            <a:endParaRPr lang="en-US" sz="1100" dirty="0"/>
          </a:p>
          <a:p>
            <a:pPr marL="0" indent="0" algn="ctr">
              <a:buNone/>
            </a:pPr>
            <a:r>
              <a:rPr lang="en-US" sz="1100" b="1" dirty="0">
                <a:solidFill>
                  <a:srgbClr val="141B45"/>
                </a:solidFill>
                <a:latin typeface="Calibri" pitchFamily="34" charset="0"/>
                <a:ea typeface="Calibri" pitchFamily="34" charset="-122"/>
                <a:cs typeface="Calibri" pitchFamily="34" charset="-120"/>
              </a:rPr>
              <a:t>palier suivant</a:t>
            </a:r>
            <a:endParaRPr lang="en-US" sz="1100" dirty="0"/>
          </a:p>
        </p:txBody>
      </p:sp>
      <p:sp>
        <p:nvSpPr>
          <p:cNvPr id="32" name="Shape 30"/>
          <p:cNvSpPr/>
          <p:nvPr/>
        </p:nvSpPr>
        <p:spPr>
          <a:xfrm>
            <a:off x="632308" y="4416552"/>
            <a:ext cx="3429000" cy="1051560"/>
          </a:xfrm>
          <a:prstGeom prst="roundRect">
            <a:avLst>
              <a:gd name="adj" fmla="val 6957"/>
            </a:avLst>
          </a:prstGeom>
          <a:solidFill>
            <a:srgbClr val="1E2761"/>
          </a:solidFill>
          <a:ln/>
        </p:spPr>
        <p:txBody>
          <a:bodyPr/>
          <a:lstStyle/>
          <a:p>
            <a:endParaRPr lang="fr-FR"/>
          </a:p>
        </p:txBody>
      </p:sp>
      <p:sp>
        <p:nvSpPr>
          <p:cNvPr id="33" name="Text 31"/>
          <p:cNvSpPr/>
          <p:nvPr/>
        </p:nvSpPr>
        <p:spPr>
          <a:xfrm>
            <a:off x="833476" y="4526280"/>
            <a:ext cx="3026664" cy="832104"/>
          </a:xfrm>
          <a:prstGeom prst="rect">
            <a:avLst/>
          </a:prstGeom>
          <a:noFill/>
          <a:ln/>
        </p:spPr>
        <p:txBody>
          <a:bodyPr wrap="square" lIns="0" tIns="0" rIns="0" bIns="0" rtlCol="0" anchor="t"/>
          <a:lstStyle/>
          <a:p>
            <a:pPr marL="0" indent="0" algn="l">
              <a:buNone/>
            </a:pPr>
            <a:r>
              <a:rPr lang="en-US" sz="1300" b="1" dirty="0">
                <a:solidFill>
                  <a:srgbClr val="6FE3EA"/>
                </a:solidFill>
                <a:latin typeface="Calibri" pitchFamily="34" charset="0"/>
                <a:ea typeface="Calibri" pitchFamily="34" charset="-122"/>
                <a:cs typeface="Calibri" pitchFamily="34" charset="-120"/>
              </a:rPr>
              <a:t>Preuve avant généralisation
</a:t>
            </a:r>
            <a:r>
              <a:rPr lang="en-US" sz="1100" dirty="0">
                <a:solidFill>
                  <a:srgbClr val="CADCFC"/>
                </a:solidFill>
                <a:latin typeface="Calibri" pitchFamily="34" charset="0"/>
                <a:ea typeface="Calibri" pitchFamily="34" charset="-122"/>
                <a:cs typeface="Calibri" pitchFamily="34" charset="-120"/>
              </a:rPr>
              <a:t>Chaque palier commence petit, mesuré, réversible</a:t>
            </a:r>
            <a:endParaRPr lang="en-US" sz="1300" dirty="0"/>
          </a:p>
        </p:txBody>
      </p:sp>
      <p:sp>
        <p:nvSpPr>
          <p:cNvPr id="34" name="Shape 32"/>
          <p:cNvSpPr/>
          <p:nvPr/>
        </p:nvSpPr>
        <p:spPr>
          <a:xfrm>
            <a:off x="4381348" y="4416552"/>
            <a:ext cx="3429000" cy="1051560"/>
          </a:xfrm>
          <a:prstGeom prst="roundRect">
            <a:avLst>
              <a:gd name="adj" fmla="val 6957"/>
            </a:avLst>
          </a:prstGeom>
          <a:solidFill>
            <a:srgbClr val="1E2761"/>
          </a:solidFill>
          <a:ln/>
        </p:spPr>
        <p:txBody>
          <a:bodyPr/>
          <a:lstStyle/>
          <a:p>
            <a:endParaRPr lang="fr-FR"/>
          </a:p>
        </p:txBody>
      </p:sp>
      <p:sp>
        <p:nvSpPr>
          <p:cNvPr id="35" name="Text 33"/>
          <p:cNvSpPr/>
          <p:nvPr/>
        </p:nvSpPr>
        <p:spPr>
          <a:xfrm>
            <a:off x="4582516" y="4526280"/>
            <a:ext cx="3026664" cy="832104"/>
          </a:xfrm>
          <a:prstGeom prst="rect">
            <a:avLst/>
          </a:prstGeom>
          <a:noFill/>
          <a:ln/>
        </p:spPr>
        <p:txBody>
          <a:bodyPr wrap="square" lIns="0" tIns="0" rIns="0" bIns="0" rtlCol="0" anchor="t"/>
          <a:lstStyle/>
          <a:p>
            <a:pPr marL="0" indent="0" algn="l">
              <a:buNone/>
            </a:pPr>
            <a:r>
              <a:rPr lang="en-US" sz="1300" b="1" dirty="0">
                <a:solidFill>
                  <a:srgbClr val="6FE3EA"/>
                </a:solidFill>
                <a:latin typeface="Calibri" pitchFamily="34" charset="0"/>
                <a:ea typeface="Calibri" pitchFamily="34" charset="-122"/>
                <a:cs typeface="Calibri" pitchFamily="34" charset="-120"/>
              </a:rPr>
              <a:t>Adoption pendant la construction
</a:t>
            </a:r>
            <a:r>
              <a:rPr lang="en-US" sz="1100" dirty="0">
                <a:solidFill>
                  <a:srgbClr val="CADCFC"/>
                </a:solidFill>
                <a:latin typeface="Calibri" pitchFamily="34" charset="0"/>
                <a:ea typeface="Calibri" pitchFamily="34" charset="-122"/>
                <a:cs typeface="Calibri" pitchFamily="34" charset="-120"/>
              </a:rPr>
              <a:t>Pas de plateforme qui reste vide faute d'usage</a:t>
            </a:r>
            <a:endParaRPr lang="en-US" sz="1300" dirty="0"/>
          </a:p>
        </p:txBody>
      </p:sp>
      <p:sp>
        <p:nvSpPr>
          <p:cNvPr id="36" name="Shape 34"/>
          <p:cNvSpPr/>
          <p:nvPr/>
        </p:nvSpPr>
        <p:spPr>
          <a:xfrm>
            <a:off x="8130388" y="4416552"/>
            <a:ext cx="3429000" cy="1051560"/>
          </a:xfrm>
          <a:prstGeom prst="roundRect">
            <a:avLst>
              <a:gd name="adj" fmla="val 6957"/>
            </a:avLst>
          </a:prstGeom>
          <a:solidFill>
            <a:srgbClr val="1E2761"/>
          </a:solidFill>
          <a:ln/>
        </p:spPr>
        <p:txBody>
          <a:bodyPr/>
          <a:lstStyle/>
          <a:p>
            <a:endParaRPr lang="fr-FR"/>
          </a:p>
        </p:txBody>
      </p:sp>
      <p:sp>
        <p:nvSpPr>
          <p:cNvPr id="37" name="Text 35"/>
          <p:cNvSpPr/>
          <p:nvPr/>
        </p:nvSpPr>
        <p:spPr>
          <a:xfrm>
            <a:off x="8331556" y="4526280"/>
            <a:ext cx="3026664" cy="832104"/>
          </a:xfrm>
          <a:prstGeom prst="rect">
            <a:avLst/>
          </a:prstGeom>
          <a:noFill/>
          <a:ln/>
        </p:spPr>
        <p:txBody>
          <a:bodyPr wrap="square" lIns="0" tIns="0" rIns="0" bIns="0" rtlCol="0" anchor="t"/>
          <a:lstStyle/>
          <a:p>
            <a:pPr marL="0" indent="0" algn="l">
              <a:buNone/>
            </a:pPr>
            <a:r>
              <a:rPr lang="en-US" sz="1300" b="1" dirty="0">
                <a:solidFill>
                  <a:srgbClr val="6FE3EA"/>
                </a:solidFill>
                <a:latin typeface="Calibri" pitchFamily="34" charset="0"/>
                <a:ea typeface="Calibri" pitchFamily="34" charset="-122"/>
                <a:cs typeface="Calibri" pitchFamily="34" charset="-120"/>
              </a:rPr>
              <a:t>Arbitrage par indicateurs
</a:t>
            </a:r>
            <a:r>
              <a:rPr lang="en-US" sz="1100" dirty="0">
                <a:solidFill>
                  <a:srgbClr val="CADCFC"/>
                </a:solidFill>
                <a:latin typeface="Calibri" pitchFamily="34" charset="0"/>
                <a:ea typeface="Calibri" pitchFamily="34" charset="-122"/>
                <a:cs typeface="Calibri" pitchFamily="34" charset="-120"/>
              </a:rPr>
              <a:t>Délai, coût, adoption, impact — pas les convictions</a:t>
            </a:r>
            <a:endParaRPr lang="en-US" sz="1300" dirty="0"/>
          </a:p>
        </p:txBody>
      </p:sp>
      <p:sp>
        <p:nvSpPr>
          <p:cNvPr id="38" name="Text 36"/>
          <p:cNvSpPr/>
          <p:nvPr/>
        </p:nvSpPr>
        <p:spPr>
          <a:xfrm>
            <a:off x="548640" y="5788152"/>
            <a:ext cx="11094415" cy="502920"/>
          </a:xfrm>
          <a:prstGeom prst="rect">
            <a:avLst/>
          </a:prstGeom>
          <a:noFill/>
          <a:ln/>
        </p:spPr>
        <p:txBody>
          <a:bodyPr wrap="square" lIns="0" tIns="0" rIns="0" bIns="0" rtlCol="0" anchor="ctr"/>
          <a:lstStyle/>
          <a:p>
            <a:pPr marL="0" indent="0" algn="ctr">
              <a:buNone/>
            </a:pPr>
            <a:r>
              <a:rPr lang="en-US" sz="1500" b="1" i="1" dirty="0" err="1">
                <a:solidFill>
                  <a:srgbClr val="141B45"/>
                </a:solidFill>
                <a:latin typeface="Cambria" pitchFamily="34" charset="0"/>
                <a:ea typeface="Cambria" pitchFamily="34" charset="-122"/>
                <a:cs typeface="Cambria" pitchFamily="34" charset="-120"/>
              </a:rPr>
              <a:t>Chaque</a:t>
            </a:r>
            <a:r>
              <a:rPr lang="en-US" sz="1500" b="1" i="1" dirty="0">
                <a:solidFill>
                  <a:srgbClr val="141B45"/>
                </a:solidFill>
                <a:latin typeface="Cambria" pitchFamily="34" charset="0"/>
                <a:ea typeface="Cambria" pitchFamily="34" charset="-122"/>
                <a:cs typeface="Cambria" pitchFamily="34" charset="-120"/>
              </a:rPr>
              <a:t> étape produit un </a:t>
            </a:r>
            <a:r>
              <a:rPr lang="en-US" sz="1500" b="1" i="1" dirty="0" err="1">
                <a:solidFill>
                  <a:srgbClr val="141B45"/>
                </a:solidFill>
                <a:latin typeface="Cambria" pitchFamily="34" charset="0"/>
                <a:ea typeface="Cambria" pitchFamily="34" charset="-122"/>
                <a:cs typeface="Cambria" pitchFamily="34" charset="-120"/>
              </a:rPr>
              <a:t>livrable</a:t>
            </a:r>
            <a:r>
              <a:rPr lang="en-US" sz="1500" b="1" i="1" dirty="0">
                <a:solidFill>
                  <a:srgbClr val="141B45"/>
                </a:solidFill>
                <a:latin typeface="Cambria" pitchFamily="34" charset="0"/>
                <a:ea typeface="Cambria" pitchFamily="34" charset="-122"/>
                <a:cs typeface="Cambria" pitchFamily="34" charset="-120"/>
              </a:rPr>
              <a:t> tangible ET un bénéfice visible pour la banque.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2200" b="1" dirty="0">
                <a:solidFill>
                  <a:srgbClr val="1B2A41"/>
                </a:solidFill>
                <a:latin typeface="Arial" pitchFamily="34" charset="0"/>
                <a:ea typeface="Arial" pitchFamily="34" charset="-122"/>
                <a:cs typeface="Arial" pitchFamily="34" charset="-120"/>
              </a:rPr>
              <a:t>Planning indicatif — Data Engineering vs ML</a:t>
            </a:r>
            <a:endParaRPr lang="en-US" sz="2200" dirty="0"/>
          </a:p>
        </p:txBody>
      </p:sp>
      <p:sp>
        <p:nvSpPr>
          <p:cNvPr id="3" name="Text 1"/>
          <p:cNvSpPr/>
          <p:nvPr/>
        </p:nvSpPr>
        <p:spPr>
          <a:xfrm>
            <a:off x="457200" y="731520"/>
            <a:ext cx="8229600" cy="457200"/>
          </a:xfrm>
          <a:prstGeom prst="rect">
            <a:avLst/>
          </a:prstGeom>
          <a:noFill/>
          <a:ln/>
        </p:spPr>
        <p:txBody>
          <a:bodyPr wrap="square" lIns="0" tIns="0" rIns="0" bIns="0" rtlCol="0" anchor="ctr"/>
          <a:lstStyle/>
          <a:p>
            <a:pPr marL="0" indent="0">
              <a:buNone/>
            </a:pPr>
            <a:r>
              <a:rPr lang="en-US" sz="1100" i="1" dirty="0">
                <a:solidFill>
                  <a:srgbClr val="3A4A63"/>
                </a:solidFill>
                <a:latin typeface="Arial" pitchFamily="34" charset="0"/>
                <a:ea typeface="Arial" pitchFamily="34" charset="-122"/>
                <a:cs typeface="Arial" pitchFamily="34" charset="-120"/>
              </a:rPr>
              <a:t>Scénario : Architecte seul (1 personne au total, R=1). Les phases se chevauchent lorsque les dépendances techniques le permettent.</a:t>
            </a:r>
            <a:endParaRPr lang="en-US" sz="1100" dirty="0"/>
          </a:p>
        </p:txBody>
      </p:sp>
      <p:sp>
        <p:nvSpPr>
          <p:cNvPr id="4" name="Shape 2"/>
          <p:cNvSpPr/>
          <p:nvPr/>
        </p:nvSpPr>
        <p:spPr>
          <a:xfrm>
            <a:off x="8961120" y="274320"/>
            <a:ext cx="2770632" cy="566928"/>
          </a:xfrm>
          <a:prstGeom prst="roundRect">
            <a:avLst>
              <a:gd name="adj" fmla="val 12903"/>
            </a:avLst>
          </a:prstGeom>
          <a:solidFill>
            <a:srgbClr val="FFFFFF"/>
          </a:solidFill>
          <a:ln w="12700">
            <a:solidFill>
              <a:srgbClr val="E4E7EC"/>
            </a:solidFill>
            <a:prstDash val="solid"/>
          </a:ln>
        </p:spPr>
        <p:txBody>
          <a:bodyPr/>
          <a:lstStyle/>
          <a:p>
            <a:endParaRPr lang="fr-FR"/>
          </a:p>
        </p:txBody>
      </p:sp>
      <p:sp>
        <p:nvSpPr>
          <p:cNvPr id="5" name="Text 3"/>
          <p:cNvSpPr/>
          <p:nvPr/>
        </p:nvSpPr>
        <p:spPr>
          <a:xfrm>
            <a:off x="9098280" y="329184"/>
            <a:ext cx="2514600" cy="475488"/>
          </a:xfrm>
          <a:prstGeom prst="rect">
            <a:avLst/>
          </a:prstGeom>
          <a:noFill/>
          <a:ln/>
        </p:spPr>
        <p:txBody>
          <a:bodyPr wrap="square" lIns="0" tIns="0" rIns="0" bIns="0" rtlCol="0" anchor="ctr"/>
          <a:lstStyle/>
          <a:p>
            <a:pPr marL="0" indent="0">
              <a:buNone/>
            </a:pPr>
            <a:r>
              <a:rPr lang="en-US" sz="1100" b="1" dirty="0">
                <a:solidFill>
                  <a:srgbClr val="1B2A41"/>
                </a:solidFill>
                <a:latin typeface="Arial" pitchFamily="34" charset="0"/>
                <a:ea typeface="Arial" pitchFamily="34" charset="-122"/>
                <a:cs typeface="Arial" pitchFamily="34" charset="-120"/>
              </a:rPr>
              <a:t>Architecte seul</a:t>
            </a:r>
            <a:endParaRPr lang="en-US" sz="1100" dirty="0"/>
          </a:p>
          <a:p>
            <a:pPr marL="0" indent="0">
              <a:buNone/>
            </a:pPr>
            <a:r>
              <a:rPr lang="en-US" sz="950" dirty="0">
                <a:solidFill>
                  <a:srgbClr val="3A4A63"/>
                </a:solidFill>
                <a:latin typeface="Arial" pitchFamily="34" charset="0"/>
                <a:ea typeface="Arial" pitchFamily="34" charset="-122"/>
                <a:cs typeface="Arial" pitchFamily="34" charset="-120"/>
              </a:rPr>
              <a:t>Durée totale : 62–66 semaines</a:t>
            </a:r>
            <a:endParaRPr lang="en-US" sz="1100" dirty="0"/>
          </a:p>
        </p:txBody>
      </p:sp>
      <p:sp>
        <p:nvSpPr>
          <p:cNvPr id="6" name="Text 4"/>
          <p:cNvSpPr/>
          <p:nvPr/>
        </p:nvSpPr>
        <p:spPr>
          <a:xfrm>
            <a:off x="457200" y="1371600"/>
            <a:ext cx="4572000" cy="201168"/>
          </a:xfrm>
          <a:prstGeom prst="rect">
            <a:avLst/>
          </a:prstGeom>
          <a:noFill/>
          <a:ln/>
        </p:spPr>
        <p:txBody>
          <a:bodyPr wrap="square" lIns="0" tIns="0" rIns="0" bIns="0" rtlCol="0" anchor="ctr"/>
          <a:lstStyle/>
          <a:p>
            <a:pPr marL="0" indent="0">
              <a:buNone/>
            </a:pPr>
            <a:r>
              <a:rPr lang="en-US" sz="950" b="1" kern="0" spc="100" dirty="0">
                <a:solidFill>
                  <a:srgbClr val="5B7091"/>
                </a:solidFill>
                <a:latin typeface="Arial" pitchFamily="34" charset="0"/>
                <a:ea typeface="Arial" pitchFamily="34" charset="-122"/>
                <a:cs typeface="Arial" pitchFamily="34" charset="-120"/>
              </a:rPr>
              <a:t>PHASE DATA ENGINEERING</a:t>
            </a:r>
            <a:endParaRPr lang="en-US" sz="950" dirty="0"/>
          </a:p>
        </p:txBody>
      </p:sp>
      <p:sp>
        <p:nvSpPr>
          <p:cNvPr id="7" name="Shape 5"/>
          <p:cNvSpPr/>
          <p:nvPr/>
        </p:nvSpPr>
        <p:spPr>
          <a:xfrm>
            <a:off x="457200" y="1627632"/>
            <a:ext cx="11277295" cy="2359152"/>
          </a:xfrm>
          <a:prstGeom prst="rect">
            <a:avLst/>
          </a:prstGeom>
          <a:solidFill>
            <a:srgbClr val="F6F7FB"/>
          </a:solidFill>
          <a:ln/>
        </p:spPr>
        <p:txBody>
          <a:bodyPr/>
          <a:lstStyle/>
          <a:p>
            <a:endParaRPr lang="fr-FR"/>
          </a:p>
        </p:txBody>
      </p:sp>
      <p:sp>
        <p:nvSpPr>
          <p:cNvPr id="8" name="Text 6"/>
          <p:cNvSpPr/>
          <p:nvPr/>
        </p:nvSpPr>
        <p:spPr>
          <a:xfrm>
            <a:off x="457200" y="1664208"/>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M0  </a:t>
            </a:r>
            <a:r>
              <a:rPr lang="en-US" sz="1050" dirty="0">
                <a:solidFill>
                  <a:srgbClr val="3A4A63"/>
                </a:solidFill>
                <a:latin typeface="Arial" pitchFamily="34" charset="0"/>
                <a:ea typeface="Arial" pitchFamily="34" charset="-122"/>
                <a:cs typeface="Arial" pitchFamily="34" charset="-120"/>
              </a:rPr>
              <a:t>Explorer &amp; Architecturer</a:t>
            </a:r>
            <a:endParaRPr lang="en-US" sz="1050" dirty="0"/>
          </a:p>
        </p:txBody>
      </p:sp>
      <p:sp>
        <p:nvSpPr>
          <p:cNvPr id="9" name="Shape 7"/>
          <p:cNvSpPr/>
          <p:nvPr/>
        </p:nvSpPr>
        <p:spPr>
          <a:xfrm>
            <a:off x="3017520" y="1719072"/>
            <a:ext cx="788396" cy="292608"/>
          </a:xfrm>
          <a:prstGeom prst="roundRect">
            <a:avLst>
              <a:gd name="adj" fmla="val 14063"/>
            </a:avLst>
          </a:prstGeom>
          <a:solidFill>
            <a:srgbClr val="1E8A78"/>
          </a:solidFill>
          <a:ln/>
        </p:spPr>
        <p:txBody>
          <a:bodyPr/>
          <a:lstStyle/>
          <a:p>
            <a:endParaRPr lang="fr-FR"/>
          </a:p>
        </p:txBody>
      </p:sp>
      <p:sp>
        <p:nvSpPr>
          <p:cNvPr id="10" name="Shape 8"/>
          <p:cNvSpPr/>
          <p:nvPr/>
        </p:nvSpPr>
        <p:spPr>
          <a:xfrm>
            <a:off x="3805916" y="1719072"/>
            <a:ext cx="118232" cy="292608"/>
          </a:xfrm>
          <a:prstGeom prst="rect">
            <a:avLst/>
          </a:prstGeom>
          <a:solidFill>
            <a:srgbClr val="1E8A78">
              <a:alpha val="45000"/>
            </a:srgbClr>
          </a:solidFill>
          <a:ln/>
        </p:spPr>
        <p:txBody>
          <a:bodyPr/>
          <a:lstStyle/>
          <a:p>
            <a:endParaRPr lang="fr-FR"/>
          </a:p>
        </p:txBody>
      </p:sp>
      <p:sp>
        <p:nvSpPr>
          <p:cNvPr id="11" name="Text 9"/>
          <p:cNvSpPr/>
          <p:nvPr/>
        </p:nvSpPr>
        <p:spPr>
          <a:xfrm>
            <a:off x="3017520" y="1719072"/>
            <a:ext cx="788396"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M0</a:t>
            </a:r>
            <a:endParaRPr lang="en-US" sz="900" dirty="0"/>
          </a:p>
        </p:txBody>
      </p:sp>
      <p:sp>
        <p:nvSpPr>
          <p:cNvPr id="12" name="Text 10"/>
          <p:cNvSpPr/>
          <p:nvPr/>
        </p:nvSpPr>
        <p:spPr>
          <a:xfrm>
            <a:off x="457200" y="2121408"/>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M1  </a:t>
            </a:r>
            <a:r>
              <a:rPr lang="en-US" sz="1050" dirty="0">
                <a:solidFill>
                  <a:srgbClr val="3A4A63"/>
                </a:solidFill>
                <a:latin typeface="Arial" pitchFamily="34" charset="0"/>
                <a:ea typeface="Arial" pitchFamily="34" charset="-122"/>
                <a:cs typeface="Arial" pitchFamily="34" charset="-120"/>
              </a:rPr>
              <a:t>Accélérer les Data Products</a:t>
            </a:r>
            <a:endParaRPr lang="en-US" sz="1050" dirty="0"/>
          </a:p>
        </p:txBody>
      </p:sp>
      <p:sp>
        <p:nvSpPr>
          <p:cNvPr id="13" name="Shape 11"/>
          <p:cNvSpPr/>
          <p:nvPr/>
        </p:nvSpPr>
        <p:spPr>
          <a:xfrm>
            <a:off x="3805916" y="2176272"/>
            <a:ext cx="898764" cy="292608"/>
          </a:xfrm>
          <a:prstGeom prst="roundRect">
            <a:avLst>
              <a:gd name="adj" fmla="val 14063"/>
            </a:avLst>
          </a:prstGeom>
          <a:solidFill>
            <a:srgbClr val="D98E33"/>
          </a:solidFill>
          <a:ln/>
        </p:spPr>
        <p:txBody>
          <a:bodyPr/>
          <a:lstStyle/>
          <a:p>
            <a:endParaRPr lang="fr-FR"/>
          </a:p>
        </p:txBody>
      </p:sp>
      <p:sp>
        <p:nvSpPr>
          <p:cNvPr id="14" name="Shape 12"/>
          <p:cNvSpPr/>
          <p:nvPr/>
        </p:nvSpPr>
        <p:spPr>
          <a:xfrm>
            <a:off x="4704679" y="2176272"/>
            <a:ext cx="299557" cy="292608"/>
          </a:xfrm>
          <a:prstGeom prst="rect">
            <a:avLst/>
          </a:prstGeom>
          <a:solidFill>
            <a:srgbClr val="D98E33">
              <a:alpha val="45000"/>
            </a:srgbClr>
          </a:solidFill>
          <a:ln/>
        </p:spPr>
        <p:txBody>
          <a:bodyPr/>
          <a:lstStyle/>
          <a:p>
            <a:endParaRPr lang="fr-FR"/>
          </a:p>
        </p:txBody>
      </p:sp>
      <p:sp>
        <p:nvSpPr>
          <p:cNvPr id="15" name="Text 13"/>
          <p:cNvSpPr/>
          <p:nvPr/>
        </p:nvSpPr>
        <p:spPr>
          <a:xfrm>
            <a:off x="3805916" y="2176272"/>
            <a:ext cx="89876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M1</a:t>
            </a:r>
            <a:endParaRPr lang="en-US" sz="900" dirty="0"/>
          </a:p>
        </p:txBody>
      </p:sp>
      <p:sp>
        <p:nvSpPr>
          <p:cNvPr id="16" name="Text 14"/>
          <p:cNvSpPr/>
          <p:nvPr/>
        </p:nvSpPr>
        <p:spPr>
          <a:xfrm>
            <a:off x="457200" y="2578608"/>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M2  </a:t>
            </a:r>
            <a:r>
              <a:rPr lang="en-US" sz="1050" dirty="0">
                <a:solidFill>
                  <a:srgbClr val="3A4A63"/>
                </a:solidFill>
                <a:latin typeface="Arial" pitchFamily="34" charset="0"/>
                <a:ea typeface="Arial" pitchFamily="34" charset="-122"/>
                <a:cs typeface="Arial" pitchFamily="34" charset="-120"/>
              </a:rPr>
              <a:t>Industrialiser le Data Delivery</a:t>
            </a:r>
            <a:endParaRPr lang="en-US" sz="1050" dirty="0"/>
          </a:p>
        </p:txBody>
      </p:sp>
      <p:sp>
        <p:nvSpPr>
          <p:cNvPr id="17" name="Shape 15"/>
          <p:cNvSpPr/>
          <p:nvPr/>
        </p:nvSpPr>
        <p:spPr>
          <a:xfrm>
            <a:off x="4804623" y="2633472"/>
            <a:ext cx="1284000" cy="292608"/>
          </a:xfrm>
          <a:prstGeom prst="roundRect">
            <a:avLst>
              <a:gd name="adj" fmla="val 14063"/>
            </a:avLst>
          </a:prstGeom>
          <a:solidFill>
            <a:srgbClr val="5B7091"/>
          </a:solidFill>
          <a:ln/>
        </p:spPr>
        <p:txBody>
          <a:bodyPr/>
          <a:lstStyle/>
          <a:p>
            <a:endParaRPr lang="fr-FR"/>
          </a:p>
        </p:txBody>
      </p:sp>
      <p:sp>
        <p:nvSpPr>
          <p:cNvPr id="18" name="Shape 16"/>
          <p:cNvSpPr/>
          <p:nvPr/>
        </p:nvSpPr>
        <p:spPr>
          <a:xfrm>
            <a:off x="6088624" y="2633472"/>
            <a:ext cx="570677" cy="292608"/>
          </a:xfrm>
          <a:prstGeom prst="rect">
            <a:avLst/>
          </a:prstGeom>
          <a:solidFill>
            <a:srgbClr val="5B7091">
              <a:alpha val="45000"/>
            </a:srgbClr>
          </a:solidFill>
          <a:ln/>
        </p:spPr>
        <p:txBody>
          <a:bodyPr/>
          <a:lstStyle/>
          <a:p>
            <a:endParaRPr lang="fr-FR"/>
          </a:p>
        </p:txBody>
      </p:sp>
      <p:sp>
        <p:nvSpPr>
          <p:cNvPr id="19" name="Text 17"/>
          <p:cNvSpPr/>
          <p:nvPr/>
        </p:nvSpPr>
        <p:spPr>
          <a:xfrm>
            <a:off x="4804623" y="2633472"/>
            <a:ext cx="1284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M2</a:t>
            </a:r>
            <a:endParaRPr lang="en-US" sz="900" dirty="0"/>
          </a:p>
        </p:txBody>
      </p:sp>
      <p:sp>
        <p:nvSpPr>
          <p:cNvPr id="20" name="Text 18"/>
          <p:cNvSpPr/>
          <p:nvPr/>
        </p:nvSpPr>
        <p:spPr>
          <a:xfrm>
            <a:off x="457200" y="3035808"/>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M3  </a:t>
            </a:r>
            <a:r>
              <a:rPr lang="en-US" sz="1050" dirty="0">
                <a:solidFill>
                  <a:srgbClr val="3A4A63"/>
                </a:solidFill>
                <a:latin typeface="Arial" pitchFamily="34" charset="0"/>
                <a:ea typeface="Arial" pitchFamily="34" charset="-122"/>
                <a:cs typeface="Arial" pitchFamily="34" charset="-120"/>
              </a:rPr>
              <a:t>Fédérer &amp; Self-Servir</a:t>
            </a:r>
            <a:endParaRPr lang="en-US" sz="1050" dirty="0"/>
          </a:p>
        </p:txBody>
      </p:sp>
      <p:sp>
        <p:nvSpPr>
          <p:cNvPr id="21" name="Shape 19"/>
          <p:cNvSpPr/>
          <p:nvPr/>
        </p:nvSpPr>
        <p:spPr>
          <a:xfrm>
            <a:off x="6231270" y="3090672"/>
            <a:ext cx="998616" cy="292608"/>
          </a:xfrm>
          <a:prstGeom prst="roundRect">
            <a:avLst>
              <a:gd name="adj" fmla="val 14063"/>
            </a:avLst>
          </a:prstGeom>
          <a:solidFill>
            <a:srgbClr val="5B7091"/>
          </a:solidFill>
          <a:ln/>
        </p:spPr>
        <p:txBody>
          <a:bodyPr/>
          <a:lstStyle/>
          <a:p>
            <a:endParaRPr lang="fr-FR"/>
          </a:p>
        </p:txBody>
      </p:sp>
      <p:sp>
        <p:nvSpPr>
          <p:cNvPr id="22" name="Shape 20"/>
          <p:cNvSpPr/>
          <p:nvPr/>
        </p:nvSpPr>
        <p:spPr>
          <a:xfrm>
            <a:off x="7229886" y="3090672"/>
            <a:ext cx="399501" cy="292608"/>
          </a:xfrm>
          <a:prstGeom prst="rect">
            <a:avLst/>
          </a:prstGeom>
          <a:solidFill>
            <a:srgbClr val="5B7091">
              <a:alpha val="45000"/>
            </a:srgbClr>
          </a:solidFill>
          <a:ln/>
        </p:spPr>
        <p:txBody>
          <a:bodyPr/>
          <a:lstStyle/>
          <a:p>
            <a:endParaRPr lang="fr-FR"/>
          </a:p>
        </p:txBody>
      </p:sp>
      <p:sp>
        <p:nvSpPr>
          <p:cNvPr id="23" name="Text 21"/>
          <p:cNvSpPr/>
          <p:nvPr/>
        </p:nvSpPr>
        <p:spPr>
          <a:xfrm>
            <a:off x="6231270" y="3090672"/>
            <a:ext cx="998616"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M3</a:t>
            </a:r>
            <a:endParaRPr lang="en-US" sz="900" dirty="0"/>
          </a:p>
        </p:txBody>
      </p:sp>
      <p:sp>
        <p:nvSpPr>
          <p:cNvPr id="24" name="Text 22"/>
          <p:cNvSpPr/>
          <p:nvPr/>
        </p:nvSpPr>
        <p:spPr>
          <a:xfrm>
            <a:off x="457200" y="3493008"/>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M4  </a:t>
            </a:r>
            <a:r>
              <a:rPr lang="en-US" sz="1050" dirty="0">
                <a:solidFill>
                  <a:srgbClr val="3A4A63"/>
                </a:solidFill>
                <a:latin typeface="Arial" pitchFamily="34" charset="0"/>
                <a:ea typeface="Arial" pitchFamily="34" charset="-122"/>
                <a:cs typeface="Arial" pitchFamily="34" charset="-120"/>
              </a:rPr>
              <a:t>Servir la Data</a:t>
            </a:r>
            <a:endParaRPr lang="en-US" sz="1050" dirty="0"/>
          </a:p>
        </p:txBody>
      </p:sp>
      <p:sp>
        <p:nvSpPr>
          <p:cNvPr id="25" name="Shape 23"/>
          <p:cNvSpPr/>
          <p:nvPr/>
        </p:nvSpPr>
        <p:spPr>
          <a:xfrm>
            <a:off x="7229886" y="3547872"/>
            <a:ext cx="962955" cy="292608"/>
          </a:xfrm>
          <a:prstGeom prst="roundRect">
            <a:avLst>
              <a:gd name="adj" fmla="val 14063"/>
            </a:avLst>
          </a:prstGeom>
          <a:solidFill>
            <a:srgbClr val="5B7091"/>
          </a:solidFill>
          <a:ln/>
        </p:spPr>
        <p:txBody>
          <a:bodyPr/>
          <a:lstStyle/>
          <a:p>
            <a:endParaRPr lang="fr-FR"/>
          </a:p>
        </p:txBody>
      </p:sp>
      <p:sp>
        <p:nvSpPr>
          <p:cNvPr id="26" name="Shape 24"/>
          <p:cNvSpPr/>
          <p:nvPr/>
        </p:nvSpPr>
        <p:spPr>
          <a:xfrm>
            <a:off x="8192841" y="3547872"/>
            <a:ext cx="320954" cy="292608"/>
          </a:xfrm>
          <a:prstGeom prst="rect">
            <a:avLst/>
          </a:prstGeom>
          <a:solidFill>
            <a:srgbClr val="5B7091">
              <a:alpha val="45000"/>
            </a:srgbClr>
          </a:solidFill>
          <a:ln/>
        </p:spPr>
        <p:txBody>
          <a:bodyPr/>
          <a:lstStyle/>
          <a:p>
            <a:endParaRPr lang="fr-FR"/>
          </a:p>
        </p:txBody>
      </p:sp>
      <p:sp>
        <p:nvSpPr>
          <p:cNvPr id="27" name="Text 25"/>
          <p:cNvSpPr/>
          <p:nvPr/>
        </p:nvSpPr>
        <p:spPr>
          <a:xfrm>
            <a:off x="7229886" y="3547872"/>
            <a:ext cx="962955"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M4</a:t>
            </a:r>
            <a:endParaRPr lang="en-US" sz="900" dirty="0"/>
          </a:p>
        </p:txBody>
      </p:sp>
      <p:sp>
        <p:nvSpPr>
          <p:cNvPr id="28" name="Text 26"/>
          <p:cNvSpPr/>
          <p:nvPr/>
        </p:nvSpPr>
        <p:spPr>
          <a:xfrm>
            <a:off x="457200" y="4096512"/>
            <a:ext cx="4572000" cy="201168"/>
          </a:xfrm>
          <a:prstGeom prst="rect">
            <a:avLst/>
          </a:prstGeom>
          <a:noFill/>
          <a:ln/>
        </p:spPr>
        <p:txBody>
          <a:bodyPr wrap="square" lIns="0" tIns="0" rIns="0" bIns="0" rtlCol="0" anchor="ctr"/>
          <a:lstStyle/>
          <a:p>
            <a:pPr marL="0" indent="0">
              <a:buNone/>
            </a:pPr>
            <a:r>
              <a:rPr lang="en-US" sz="950" b="1" kern="0" spc="100" dirty="0">
                <a:solidFill>
                  <a:srgbClr val="4A4E8F"/>
                </a:solidFill>
                <a:latin typeface="Arial" pitchFamily="34" charset="0"/>
                <a:ea typeface="Arial" pitchFamily="34" charset="-122"/>
                <a:cs typeface="Arial" pitchFamily="34" charset="-120"/>
              </a:rPr>
              <a:t>PHASE MACHINE LEARNING</a:t>
            </a:r>
            <a:endParaRPr lang="en-US" sz="950" dirty="0"/>
          </a:p>
        </p:txBody>
      </p:sp>
      <p:sp>
        <p:nvSpPr>
          <p:cNvPr id="29" name="Shape 27"/>
          <p:cNvSpPr/>
          <p:nvPr/>
        </p:nvSpPr>
        <p:spPr>
          <a:xfrm>
            <a:off x="457200" y="4352544"/>
            <a:ext cx="11277295" cy="987552"/>
          </a:xfrm>
          <a:prstGeom prst="rect">
            <a:avLst/>
          </a:prstGeom>
          <a:solidFill>
            <a:srgbClr val="EEF7F6"/>
          </a:solidFill>
          <a:ln/>
        </p:spPr>
        <p:txBody>
          <a:bodyPr/>
          <a:lstStyle/>
          <a:p>
            <a:endParaRPr lang="fr-FR"/>
          </a:p>
        </p:txBody>
      </p:sp>
      <p:sp>
        <p:nvSpPr>
          <p:cNvPr id="30" name="Text 28"/>
          <p:cNvSpPr/>
          <p:nvPr/>
        </p:nvSpPr>
        <p:spPr>
          <a:xfrm>
            <a:off x="457200" y="4389120"/>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M5  </a:t>
            </a:r>
            <a:r>
              <a:rPr lang="en-US" sz="1050" dirty="0">
                <a:solidFill>
                  <a:srgbClr val="3A4A63"/>
                </a:solidFill>
                <a:latin typeface="Arial" pitchFamily="34" charset="0"/>
                <a:ea typeface="Arial" pitchFamily="34" charset="-122"/>
                <a:cs typeface="Arial" pitchFamily="34" charset="-120"/>
              </a:rPr>
              <a:t>Industrialiser les ML Products</a:t>
            </a:r>
            <a:endParaRPr lang="en-US" sz="1050" dirty="0"/>
          </a:p>
        </p:txBody>
      </p:sp>
      <p:sp>
        <p:nvSpPr>
          <p:cNvPr id="31" name="Shape 29"/>
          <p:cNvSpPr/>
          <p:nvPr/>
        </p:nvSpPr>
        <p:spPr>
          <a:xfrm>
            <a:off x="8299917" y="4443984"/>
            <a:ext cx="1123523" cy="292608"/>
          </a:xfrm>
          <a:prstGeom prst="roundRect">
            <a:avLst>
              <a:gd name="adj" fmla="val 14063"/>
            </a:avLst>
          </a:prstGeom>
          <a:solidFill>
            <a:srgbClr val="4A4E8F"/>
          </a:solidFill>
          <a:ln/>
        </p:spPr>
        <p:txBody>
          <a:bodyPr/>
          <a:lstStyle/>
          <a:p>
            <a:endParaRPr lang="fr-FR"/>
          </a:p>
        </p:txBody>
      </p:sp>
      <p:sp>
        <p:nvSpPr>
          <p:cNvPr id="32" name="Shape 30"/>
          <p:cNvSpPr/>
          <p:nvPr/>
        </p:nvSpPr>
        <p:spPr>
          <a:xfrm>
            <a:off x="9423441" y="4443984"/>
            <a:ext cx="499354" cy="292608"/>
          </a:xfrm>
          <a:prstGeom prst="rect">
            <a:avLst/>
          </a:prstGeom>
          <a:solidFill>
            <a:srgbClr val="4A4E8F">
              <a:alpha val="45000"/>
            </a:srgbClr>
          </a:solidFill>
          <a:ln/>
        </p:spPr>
        <p:txBody>
          <a:bodyPr/>
          <a:lstStyle/>
          <a:p>
            <a:endParaRPr lang="fr-FR"/>
          </a:p>
        </p:txBody>
      </p:sp>
      <p:sp>
        <p:nvSpPr>
          <p:cNvPr id="33" name="Text 31"/>
          <p:cNvSpPr/>
          <p:nvPr/>
        </p:nvSpPr>
        <p:spPr>
          <a:xfrm>
            <a:off x="8299917" y="4443984"/>
            <a:ext cx="1123523"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M5</a:t>
            </a:r>
            <a:endParaRPr lang="en-US" sz="900" dirty="0"/>
          </a:p>
        </p:txBody>
      </p:sp>
      <p:sp>
        <p:nvSpPr>
          <p:cNvPr id="34" name="Text 32"/>
          <p:cNvSpPr/>
          <p:nvPr/>
        </p:nvSpPr>
        <p:spPr>
          <a:xfrm>
            <a:off x="457200" y="4846320"/>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M6  </a:t>
            </a:r>
            <a:r>
              <a:rPr lang="en-US" sz="1050" dirty="0">
                <a:solidFill>
                  <a:srgbClr val="3A4A63"/>
                </a:solidFill>
                <a:latin typeface="Arial" pitchFamily="34" charset="0"/>
                <a:ea typeface="Arial" pitchFamily="34" charset="-122"/>
                <a:cs typeface="Arial" pitchFamily="34" charset="-120"/>
              </a:rPr>
              <a:t>Servir &amp; Opérer les modèles</a:t>
            </a:r>
            <a:endParaRPr lang="en-US" sz="1050" dirty="0"/>
          </a:p>
        </p:txBody>
      </p:sp>
      <p:sp>
        <p:nvSpPr>
          <p:cNvPr id="35" name="Shape 33"/>
          <p:cNvSpPr/>
          <p:nvPr/>
        </p:nvSpPr>
        <p:spPr>
          <a:xfrm>
            <a:off x="9548165" y="4901184"/>
            <a:ext cx="1198413" cy="292608"/>
          </a:xfrm>
          <a:prstGeom prst="roundRect">
            <a:avLst>
              <a:gd name="adj" fmla="val 14063"/>
            </a:avLst>
          </a:prstGeom>
          <a:solidFill>
            <a:srgbClr val="4A4E8F"/>
          </a:solidFill>
          <a:ln/>
        </p:spPr>
        <p:txBody>
          <a:bodyPr/>
          <a:lstStyle/>
          <a:p>
            <a:endParaRPr lang="fr-FR"/>
          </a:p>
        </p:txBody>
      </p:sp>
      <p:sp>
        <p:nvSpPr>
          <p:cNvPr id="36" name="Shape 34"/>
          <p:cNvSpPr/>
          <p:nvPr/>
        </p:nvSpPr>
        <p:spPr>
          <a:xfrm>
            <a:off x="10746577" y="4901184"/>
            <a:ext cx="466070" cy="292608"/>
          </a:xfrm>
          <a:prstGeom prst="rect">
            <a:avLst/>
          </a:prstGeom>
          <a:solidFill>
            <a:srgbClr val="4A4E8F">
              <a:alpha val="45000"/>
            </a:srgbClr>
          </a:solidFill>
          <a:ln/>
        </p:spPr>
        <p:txBody>
          <a:bodyPr/>
          <a:lstStyle/>
          <a:p>
            <a:endParaRPr lang="fr-FR"/>
          </a:p>
        </p:txBody>
      </p:sp>
      <p:sp>
        <p:nvSpPr>
          <p:cNvPr id="37" name="Text 35"/>
          <p:cNvSpPr/>
          <p:nvPr/>
        </p:nvSpPr>
        <p:spPr>
          <a:xfrm>
            <a:off x="9548165" y="4901184"/>
            <a:ext cx="1198413"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M6</a:t>
            </a:r>
            <a:endParaRPr lang="en-US" sz="900" dirty="0"/>
          </a:p>
        </p:txBody>
      </p:sp>
      <p:sp>
        <p:nvSpPr>
          <p:cNvPr id="38" name="Shape 36"/>
          <p:cNvSpPr/>
          <p:nvPr/>
        </p:nvSpPr>
        <p:spPr>
          <a:xfrm>
            <a:off x="3017520" y="5504688"/>
            <a:ext cx="8686800" cy="0"/>
          </a:xfrm>
          <a:prstGeom prst="line">
            <a:avLst/>
          </a:prstGeom>
          <a:noFill/>
          <a:ln w="12700">
            <a:solidFill>
              <a:srgbClr val="E4E7EC"/>
            </a:solidFill>
            <a:prstDash val="solid"/>
          </a:ln>
        </p:spPr>
        <p:txBody>
          <a:bodyPr/>
          <a:lstStyle/>
          <a:p>
            <a:endParaRPr lang="fr-FR"/>
          </a:p>
        </p:txBody>
      </p:sp>
      <p:sp>
        <p:nvSpPr>
          <p:cNvPr id="39" name="Text 37"/>
          <p:cNvSpPr/>
          <p:nvPr/>
        </p:nvSpPr>
        <p:spPr>
          <a:xfrm>
            <a:off x="2852928"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S0</a:t>
            </a:r>
            <a:endParaRPr lang="en-US" sz="750" dirty="0"/>
          </a:p>
        </p:txBody>
      </p:sp>
      <p:sp>
        <p:nvSpPr>
          <p:cNvPr id="40" name="Text 38"/>
          <p:cNvSpPr/>
          <p:nvPr/>
        </p:nvSpPr>
        <p:spPr>
          <a:xfrm>
            <a:off x="3352282"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S4</a:t>
            </a:r>
            <a:endParaRPr lang="en-US" sz="750" dirty="0"/>
          </a:p>
        </p:txBody>
      </p:sp>
      <p:sp>
        <p:nvSpPr>
          <p:cNvPr id="41" name="Text 39"/>
          <p:cNvSpPr/>
          <p:nvPr/>
        </p:nvSpPr>
        <p:spPr>
          <a:xfrm>
            <a:off x="3851544"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S8</a:t>
            </a:r>
            <a:endParaRPr lang="en-US" sz="750" dirty="0"/>
          </a:p>
        </p:txBody>
      </p:sp>
      <p:sp>
        <p:nvSpPr>
          <p:cNvPr id="42" name="Text 40"/>
          <p:cNvSpPr/>
          <p:nvPr/>
        </p:nvSpPr>
        <p:spPr>
          <a:xfrm>
            <a:off x="4350898"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S12</a:t>
            </a:r>
            <a:endParaRPr lang="en-US" sz="750" dirty="0"/>
          </a:p>
        </p:txBody>
      </p:sp>
      <p:sp>
        <p:nvSpPr>
          <p:cNvPr id="43" name="Text 41"/>
          <p:cNvSpPr/>
          <p:nvPr/>
        </p:nvSpPr>
        <p:spPr>
          <a:xfrm>
            <a:off x="4850252"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S16</a:t>
            </a:r>
            <a:endParaRPr lang="en-US" sz="750" dirty="0"/>
          </a:p>
        </p:txBody>
      </p:sp>
      <p:sp>
        <p:nvSpPr>
          <p:cNvPr id="44" name="Text 42"/>
          <p:cNvSpPr/>
          <p:nvPr/>
        </p:nvSpPr>
        <p:spPr>
          <a:xfrm>
            <a:off x="5349606"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S20</a:t>
            </a:r>
            <a:endParaRPr lang="en-US" sz="750" dirty="0"/>
          </a:p>
        </p:txBody>
      </p:sp>
      <p:sp>
        <p:nvSpPr>
          <p:cNvPr id="45" name="Text 43"/>
          <p:cNvSpPr/>
          <p:nvPr/>
        </p:nvSpPr>
        <p:spPr>
          <a:xfrm>
            <a:off x="5848868"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S24</a:t>
            </a:r>
            <a:endParaRPr lang="en-US" sz="750" dirty="0"/>
          </a:p>
        </p:txBody>
      </p:sp>
      <p:sp>
        <p:nvSpPr>
          <p:cNvPr id="46" name="Text 44"/>
          <p:cNvSpPr/>
          <p:nvPr/>
        </p:nvSpPr>
        <p:spPr>
          <a:xfrm>
            <a:off x="6348222"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S28</a:t>
            </a:r>
            <a:endParaRPr lang="en-US" sz="750" dirty="0"/>
          </a:p>
        </p:txBody>
      </p:sp>
      <p:sp>
        <p:nvSpPr>
          <p:cNvPr id="47" name="Text 45"/>
          <p:cNvSpPr/>
          <p:nvPr/>
        </p:nvSpPr>
        <p:spPr>
          <a:xfrm>
            <a:off x="6847576"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S32</a:t>
            </a:r>
            <a:endParaRPr lang="en-US" sz="750" dirty="0"/>
          </a:p>
        </p:txBody>
      </p:sp>
      <p:sp>
        <p:nvSpPr>
          <p:cNvPr id="48" name="Text 46"/>
          <p:cNvSpPr/>
          <p:nvPr/>
        </p:nvSpPr>
        <p:spPr>
          <a:xfrm>
            <a:off x="7346838"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S36</a:t>
            </a:r>
            <a:endParaRPr lang="en-US" sz="750" dirty="0"/>
          </a:p>
        </p:txBody>
      </p:sp>
      <p:sp>
        <p:nvSpPr>
          <p:cNvPr id="49" name="Text 47"/>
          <p:cNvSpPr/>
          <p:nvPr/>
        </p:nvSpPr>
        <p:spPr>
          <a:xfrm>
            <a:off x="7846192"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S40</a:t>
            </a:r>
            <a:endParaRPr lang="en-US" sz="750" dirty="0"/>
          </a:p>
        </p:txBody>
      </p:sp>
      <p:sp>
        <p:nvSpPr>
          <p:cNvPr id="50" name="Text 48"/>
          <p:cNvSpPr/>
          <p:nvPr/>
        </p:nvSpPr>
        <p:spPr>
          <a:xfrm>
            <a:off x="8345546"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S44</a:t>
            </a:r>
            <a:endParaRPr lang="en-US" sz="750" dirty="0"/>
          </a:p>
        </p:txBody>
      </p:sp>
      <p:sp>
        <p:nvSpPr>
          <p:cNvPr id="51" name="Text 49"/>
          <p:cNvSpPr/>
          <p:nvPr/>
        </p:nvSpPr>
        <p:spPr>
          <a:xfrm>
            <a:off x="8844808"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S48</a:t>
            </a:r>
            <a:endParaRPr lang="en-US" sz="750" dirty="0"/>
          </a:p>
        </p:txBody>
      </p:sp>
      <p:sp>
        <p:nvSpPr>
          <p:cNvPr id="52" name="Text 50"/>
          <p:cNvSpPr/>
          <p:nvPr/>
        </p:nvSpPr>
        <p:spPr>
          <a:xfrm>
            <a:off x="9344162"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S52</a:t>
            </a:r>
            <a:endParaRPr lang="en-US" sz="750" dirty="0"/>
          </a:p>
        </p:txBody>
      </p:sp>
      <p:sp>
        <p:nvSpPr>
          <p:cNvPr id="53" name="Text 51"/>
          <p:cNvSpPr/>
          <p:nvPr/>
        </p:nvSpPr>
        <p:spPr>
          <a:xfrm>
            <a:off x="9843516"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S56</a:t>
            </a:r>
            <a:endParaRPr lang="en-US" sz="750" dirty="0"/>
          </a:p>
        </p:txBody>
      </p:sp>
      <p:sp>
        <p:nvSpPr>
          <p:cNvPr id="54" name="Text 52"/>
          <p:cNvSpPr/>
          <p:nvPr/>
        </p:nvSpPr>
        <p:spPr>
          <a:xfrm>
            <a:off x="10342870"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S60</a:t>
            </a:r>
            <a:endParaRPr lang="en-US" sz="750" dirty="0"/>
          </a:p>
        </p:txBody>
      </p:sp>
      <p:sp>
        <p:nvSpPr>
          <p:cNvPr id="55" name="Text 53"/>
          <p:cNvSpPr/>
          <p:nvPr/>
        </p:nvSpPr>
        <p:spPr>
          <a:xfrm>
            <a:off x="10842132"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S64</a:t>
            </a:r>
            <a:endParaRPr lang="en-US" sz="750" dirty="0"/>
          </a:p>
        </p:txBody>
      </p:sp>
      <p:sp>
        <p:nvSpPr>
          <p:cNvPr id="56" name="Text 54"/>
          <p:cNvSpPr/>
          <p:nvPr/>
        </p:nvSpPr>
        <p:spPr>
          <a:xfrm>
            <a:off x="11341486"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S68</a:t>
            </a:r>
            <a:endParaRPr lang="en-US" sz="750" dirty="0"/>
          </a:p>
        </p:txBody>
      </p:sp>
      <p:sp>
        <p:nvSpPr>
          <p:cNvPr id="57" name="Shape 55"/>
          <p:cNvSpPr/>
          <p:nvPr/>
        </p:nvSpPr>
        <p:spPr>
          <a:xfrm>
            <a:off x="457200" y="5907024"/>
            <a:ext cx="128016" cy="128016"/>
          </a:xfrm>
          <a:prstGeom prst="roundRect">
            <a:avLst>
              <a:gd name="adj" fmla="val 21429"/>
            </a:avLst>
          </a:prstGeom>
          <a:solidFill>
            <a:srgbClr val="1E8A78"/>
          </a:solidFill>
          <a:ln/>
        </p:spPr>
        <p:txBody>
          <a:bodyPr/>
          <a:lstStyle/>
          <a:p>
            <a:endParaRPr lang="fr-FR"/>
          </a:p>
        </p:txBody>
      </p:sp>
      <p:sp>
        <p:nvSpPr>
          <p:cNvPr id="58" name="Text 56"/>
          <p:cNvSpPr/>
          <p:nvPr/>
        </p:nvSpPr>
        <p:spPr>
          <a:xfrm>
            <a:off x="640080" y="5861304"/>
            <a:ext cx="2377440" cy="219456"/>
          </a:xfrm>
          <a:prstGeom prst="rect">
            <a:avLst/>
          </a:prstGeom>
          <a:noFill/>
          <a:ln/>
        </p:spPr>
        <p:txBody>
          <a:bodyPr wrap="square" lIns="0" tIns="0" rIns="0" bIns="0" rtlCol="0" anchor="ctr"/>
          <a:lstStyle/>
          <a:p>
            <a:pPr marL="0" indent="0">
              <a:buNone/>
            </a:pPr>
            <a:r>
              <a:rPr lang="en-US" sz="950" dirty="0">
                <a:solidFill>
                  <a:srgbClr val="3A4A63"/>
                </a:solidFill>
                <a:latin typeface="Arial" pitchFamily="34" charset="0"/>
                <a:ea typeface="Arial" pitchFamily="34" charset="-122"/>
                <a:cs typeface="Arial" pitchFamily="34" charset="-120"/>
              </a:rPr>
              <a:t>Fait</a:t>
            </a:r>
            <a:endParaRPr lang="en-US" sz="950" dirty="0"/>
          </a:p>
        </p:txBody>
      </p:sp>
      <p:sp>
        <p:nvSpPr>
          <p:cNvPr id="59" name="Shape 57"/>
          <p:cNvSpPr/>
          <p:nvPr/>
        </p:nvSpPr>
        <p:spPr>
          <a:xfrm>
            <a:off x="1241755" y="5907024"/>
            <a:ext cx="128016" cy="128016"/>
          </a:xfrm>
          <a:prstGeom prst="roundRect">
            <a:avLst>
              <a:gd name="adj" fmla="val 21429"/>
            </a:avLst>
          </a:prstGeom>
          <a:solidFill>
            <a:srgbClr val="D98E33"/>
          </a:solidFill>
          <a:ln/>
        </p:spPr>
        <p:txBody>
          <a:bodyPr/>
          <a:lstStyle/>
          <a:p>
            <a:endParaRPr lang="fr-FR"/>
          </a:p>
        </p:txBody>
      </p:sp>
      <p:sp>
        <p:nvSpPr>
          <p:cNvPr id="60" name="Text 58"/>
          <p:cNvSpPr/>
          <p:nvPr/>
        </p:nvSpPr>
        <p:spPr>
          <a:xfrm>
            <a:off x="1424635" y="5861304"/>
            <a:ext cx="2377440" cy="219456"/>
          </a:xfrm>
          <a:prstGeom prst="rect">
            <a:avLst/>
          </a:prstGeom>
          <a:noFill/>
          <a:ln/>
        </p:spPr>
        <p:txBody>
          <a:bodyPr wrap="square" lIns="0" tIns="0" rIns="0" bIns="0" rtlCol="0" anchor="ctr"/>
          <a:lstStyle/>
          <a:p>
            <a:pPr marL="0" indent="0">
              <a:buNone/>
            </a:pPr>
            <a:r>
              <a:rPr lang="en-US" sz="950" dirty="0">
                <a:solidFill>
                  <a:srgbClr val="3A4A63"/>
                </a:solidFill>
                <a:latin typeface="Arial" pitchFamily="34" charset="0"/>
                <a:ea typeface="Arial" pitchFamily="34" charset="-122"/>
                <a:cs typeface="Arial" pitchFamily="34" charset="-120"/>
              </a:rPr>
              <a:t>En cours</a:t>
            </a:r>
            <a:endParaRPr lang="en-US" sz="950" dirty="0"/>
          </a:p>
        </p:txBody>
      </p:sp>
      <p:sp>
        <p:nvSpPr>
          <p:cNvPr id="61" name="Shape 59"/>
          <p:cNvSpPr/>
          <p:nvPr/>
        </p:nvSpPr>
        <p:spPr>
          <a:xfrm>
            <a:off x="2289658" y="5907024"/>
            <a:ext cx="128016" cy="128016"/>
          </a:xfrm>
          <a:prstGeom prst="roundRect">
            <a:avLst>
              <a:gd name="adj" fmla="val 21429"/>
            </a:avLst>
          </a:prstGeom>
          <a:solidFill>
            <a:srgbClr val="5B7091"/>
          </a:solidFill>
          <a:ln/>
        </p:spPr>
        <p:txBody>
          <a:bodyPr/>
          <a:lstStyle/>
          <a:p>
            <a:endParaRPr lang="fr-FR"/>
          </a:p>
        </p:txBody>
      </p:sp>
      <p:sp>
        <p:nvSpPr>
          <p:cNvPr id="62" name="Text 60"/>
          <p:cNvSpPr/>
          <p:nvPr/>
        </p:nvSpPr>
        <p:spPr>
          <a:xfrm>
            <a:off x="2472538" y="5861304"/>
            <a:ext cx="2377440" cy="219456"/>
          </a:xfrm>
          <a:prstGeom prst="rect">
            <a:avLst/>
          </a:prstGeom>
          <a:noFill/>
          <a:ln/>
        </p:spPr>
        <p:txBody>
          <a:bodyPr wrap="square" lIns="0" tIns="0" rIns="0" bIns="0" rtlCol="0" anchor="ctr"/>
          <a:lstStyle/>
          <a:p>
            <a:pPr marL="0" indent="0">
              <a:buNone/>
            </a:pPr>
            <a:r>
              <a:rPr lang="en-US" sz="950" dirty="0">
                <a:solidFill>
                  <a:srgbClr val="3A4A63"/>
                </a:solidFill>
                <a:latin typeface="Arial" pitchFamily="34" charset="0"/>
                <a:ea typeface="Arial" pitchFamily="34" charset="-122"/>
                <a:cs typeface="Arial" pitchFamily="34" charset="-120"/>
              </a:rPr>
              <a:t>Planifié — Data Engineering</a:t>
            </a:r>
            <a:endParaRPr lang="en-US" sz="950" dirty="0"/>
          </a:p>
        </p:txBody>
      </p:sp>
      <p:sp>
        <p:nvSpPr>
          <p:cNvPr id="63" name="Shape 61"/>
          <p:cNvSpPr/>
          <p:nvPr/>
        </p:nvSpPr>
        <p:spPr>
          <a:xfrm>
            <a:off x="4588459" y="5907024"/>
            <a:ext cx="128016" cy="128016"/>
          </a:xfrm>
          <a:prstGeom prst="roundRect">
            <a:avLst>
              <a:gd name="adj" fmla="val 21429"/>
            </a:avLst>
          </a:prstGeom>
          <a:solidFill>
            <a:srgbClr val="4A4E8F"/>
          </a:solidFill>
          <a:ln/>
        </p:spPr>
        <p:txBody>
          <a:bodyPr/>
          <a:lstStyle/>
          <a:p>
            <a:endParaRPr lang="fr-FR"/>
          </a:p>
        </p:txBody>
      </p:sp>
      <p:sp>
        <p:nvSpPr>
          <p:cNvPr id="64" name="Text 62"/>
          <p:cNvSpPr/>
          <p:nvPr/>
        </p:nvSpPr>
        <p:spPr>
          <a:xfrm>
            <a:off x="4771339" y="5861304"/>
            <a:ext cx="2377440" cy="219456"/>
          </a:xfrm>
          <a:prstGeom prst="rect">
            <a:avLst/>
          </a:prstGeom>
          <a:noFill/>
          <a:ln/>
        </p:spPr>
        <p:txBody>
          <a:bodyPr wrap="square" lIns="0" tIns="0" rIns="0" bIns="0" rtlCol="0" anchor="ctr"/>
          <a:lstStyle/>
          <a:p>
            <a:pPr marL="0" indent="0">
              <a:buNone/>
            </a:pPr>
            <a:r>
              <a:rPr lang="en-US" sz="950" dirty="0">
                <a:solidFill>
                  <a:srgbClr val="3A4A63"/>
                </a:solidFill>
                <a:latin typeface="Arial" pitchFamily="34" charset="0"/>
                <a:ea typeface="Arial" pitchFamily="34" charset="-122"/>
                <a:cs typeface="Arial" pitchFamily="34" charset="-120"/>
              </a:rPr>
              <a:t>Planifié — ML</a:t>
            </a:r>
            <a:endParaRPr lang="en-US" sz="950" dirty="0"/>
          </a:p>
        </p:txBody>
      </p:sp>
      <p:sp>
        <p:nvSpPr>
          <p:cNvPr id="65" name="Shape 63"/>
          <p:cNvSpPr/>
          <p:nvPr/>
        </p:nvSpPr>
        <p:spPr>
          <a:xfrm>
            <a:off x="0" y="6355080"/>
            <a:ext cx="12191695" cy="502920"/>
          </a:xfrm>
          <a:prstGeom prst="rect">
            <a:avLst/>
          </a:prstGeom>
          <a:solidFill>
            <a:srgbClr val="1B2A41"/>
          </a:solidFill>
          <a:ln/>
        </p:spPr>
        <p:txBody>
          <a:bodyPr/>
          <a:lstStyle/>
          <a:p>
            <a:endParaRPr lang="fr-FR"/>
          </a:p>
        </p:txBody>
      </p:sp>
      <p:sp>
        <p:nvSpPr>
          <p:cNvPr id="66" name="Text 64"/>
          <p:cNvSpPr/>
          <p:nvPr/>
        </p:nvSpPr>
        <p:spPr>
          <a:xfrm>
            <a:off x="457200" y="6355080"/>
            <a:ext cx="11277295" cy="502920"/>
          </a:xfrm>
          <a:prstGeom prst="rect">
            <a:avLst/>
          </a:prstGeom>
          <a:noFill/>
          <a:ln/>
        </p:spPr>
        <p:txBody>
          <a:bodyPr wrap="square" lIns="0" tIns="0" rIns="0" bIns="0" rtlCol="0" anchor="ctr"/>
          <a:lstStyle/>
          <a:p>
            <a:pPr marL="0" indent="0" algn="ctr">
              <a:buNone/>
            </a:pPr>
            <a:r>
              <a:rPr lang="en-US" sz="1050" i="1" dirty="0">
                <a:solidFill>
                  <a:srgbClr val="FFFFFF"/>
                </a:solidFill>
                <a:latin typeface="Arial" pitchFamily="34" charset="0"/>
                <a:ea typeface="Arial" pitchFamily="34" charset="-122"/>
                <a:cs typeface="Arial" pitchFamily="34" charset="-120"/>
              </a:rPr>
              <a:t>Scénario — Architecte seul · programme total estimé : 62–66 semaines. Ressource unique : les pistes DE et ML s'exécutent entièrement en séquence — aucun chevauchement n'est possible tant qu'il n'y a qu'une seule personne.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2200" b="1" dirty="0">
                <a:solidFill>
                  <a:srgbClr val="1B2A41"/>
                </a:solidFill>
                <a:latin typeface="Arial" pitchFamily="34" charset="0"/>
                <a:ea typeface="Arial" pitchFamily="34" charset="-122"/>
                <a:cs typeface="Arial" pitchFamily="34" charset="-120"/>
              </a:rPr>
              <a:t>Planning indicatif — Data Engineering vs ML</a:t>
            </a:r>
            <a:endParaRPr lang="en-US" sz="2200" dirty="0"/>
          </a:p>
        </p:txBody>
      </p:sp>
      <p:sp>
        <p:nvSpPr>
          <p:cNvPr id="3" name="Text 1"/>
          <p:cNvSpPr/>
          <p:nvPr/>
        </p:nvSpPr>
        <p:spPr>
          <a:xfrm>
            <a:off x="457200" y="731520"/>
            <a:ext cx="8229600" cy="457200"/>
          </a:xfrm>
          <a:prstGeom prst="rect">
            <a:avLst/>
          </a:prstGeom>
          <a:noFill/>
          <a:ln/>
        </p:spPr>
        <p:txBody>
          <a:bodyPr wrap="square" lIns="0" tIns="0" rIns="0" bIns="0" rtlCol="0" anchor="ctr"/>
          <a:lstStyle/>
          <a:p>
            <a:pPr marL="0" indent="0">
              <a:buNone/>
            </a:pPr>
            <a:r>
              <a:rPr lang="en-US" sz="1100" i="1" dirty="0">
                <a:solidFill>
                  <a:srgbClr val="3A4A63"/>
                </a:solidFill>
                <a:latin typeface="Arial" pitchFamily="34" charset="0"/>
                <a:ea typeface="Arial" pitchFamily="34" charset="-122"/>
                <a:cs typeface="Arial" pitchFamily="34" charset="-120"/>
              </a:rPr>
              <a:t>Scénario : Architecte + 1 dev (2 personnes au total, R=2). Les phases se chevauchent lorsque les dépendances techniques le permettent.</a:t>
            </a:r>
            <a:endParaRPr lang="en-US" sz="1100" dirty="0"/>
          </a:p>
        </p:txBody>
      </p:sp>
      <p:sp>
        <p:nvSpPr>
          <p:cNvPr id="4" name="Shape 2"/>
          <p:cNvSpPr/>
          <p:nvPr/>
        </p:nvSpPr>
        <p:spPr>
          <a:xfrm>
            <a:off x="8961120" y="274320"/>
            <a:ext cx="2770632" cy="566928"/>
          </a:xfrm>
          <a:prstGeom prst="roundRect">
            <a:avLst>
              <a:gd name="adj" fmla="val 12903"/>
            </a:avLst>
          </a:prstGeom>
          <a:solidFill>
            <a:srgbClr val="FFFFFF"/>
          </a:solidFill>
          <a:ln w="12700">
            <a:solidFill>
              <a:srgbClr val="E4E7EC"/>
            </a:solidFill>
            <a:prstDash val="solid"/>
          </a:ln>
        </p:spPr>
        <p:txBody>
          <a:bodyPr/>
          <a:lstStyle/>
          <a:p>
            <a:endParaRPr lang="fr-FR"/>
          </a:p>
        </p:txBody>
      </p:sp>
      <p:sp>
        <p:nvSpPr>
          <p:cNvPr id="5" name="Text 3"/>
          <p:cNvSpPr/>
          <p:nvPr/>
        </p:nvSpPr>
        <p:spPr>
          <a:xfrm>
            <a:off x="9098280" y="329184"/>
            <a:ext cx="2514600" cy="475488"/>
          </a:xfrm>
          <a:prstGeom prst="rect">
            <a:avLst/>
          </a:prstGeom>
          <a:noFill/>
          <a:ln/>
        </p:spPr>
        <p:txBody>
          <a:bodyPr wrap="square" lIns="0" tIns="0" rIns="0" bIns="0" rtlCol="0" anchor="ctr"/>
          <a:lstStyle/>
          <a:p>
            <a:pPr marL="0" indent="0">
              <a:buNone/>
            </a:pPr>
            <a:r>
              <a:rPr lang="en-US" sz="1100" b="1" dirty="0">
                <a:solidFill>
                  <a:srgbClr val="1B2A41"/>
                </a:solidFill>
                <a:latin typeface="Arial" pitchFamily="34" charset="0"/>
                <a:ea typeface="Arial" pitchFamily="34" charset="-122"/>
                <a:cs typeface="Arial" pitchFamily="34" charset="-120"/>
              </a:rPr>
              <a:t>Architecte + 1 dev</a:t>
            </a:r>
            <a:endParaRPr lang="en-US" sz="1100" dirty="0"/>
          </a:p>
          <a:p>
            <a:pPr marL="0" indent="0">
              <a:buNone/>
            </a:pPr>
            <a:r>
              <a:rPr lang="en-US" sz="950" dirty="0">
                <a:solidFill>
                  <a:srgbClr val="3A4A63"/>
                </a:solidFill>
                <a:latin typeface="Arial" pitchFamily="34" charset="0"/>
                <a:ea typeface="Arial" pitchFamily="34" charset="-122"/>
                <a:cs typeface="Arial" pitchFamily="34" charset="-120"/>
              </a:rPr>
              <a:t>Durée totale : 38–40 semaines</a:t>
            </a:r>
            <a:endParaRPr lang="en-US" sz="1100" dirty="0"/>
          </a:p>
        </p:txBody>
      </p:sp>
      <p:sp>
        <p:nvSpPr>
          <p:cNvPr id="6" name="Text 4"/>
          <p:cNvSpPr/>
          <p:nvPr/>
        </p:nvSpPr>
        <p:spPr>
          <a:xfrm>
            <a:off x="457200" y="1371600"/>
            <a:ext cx="4572000" cy="201168"/>
          </a:xfrm>
          <a:prstGeom prst="rect">
            <a:avLst/>
          </a:prstGeom>
          <a:noFill/>
          <a:ln/>
        </p:spPr>
        <p:txBody>
          <a:bodyPr wrap="square" lIns="0" tIns="0" rIns="0" bIns="0" rtlCol="0" anchor="ctr"/>
          <a:lstStyle/>
          <a:p>
            <a:pPr marL="0" indent="0">
              <a:buNone/>
            </a:pPr>
            <a:r>
              <a:rPr lang="en-US" sz="950" b="1" kern="0" spc="100" dirty="0">
                <a:solidFill>
                  <a:srgbClr val="5B7091"/>
                </a:solidFill>
                <a:latin typeface="Arial" pitchFamily="34" charset="0"/>
                <a:ea typeface="Arial" pitchFamily="34" charset="-122"/>
                <a:cs typeface="Arial" pitchFamily="34" charset="-120"/>
              </a:rPr>
              <a:t>PHASE DATA ENGINEERING</a:t>
            </a:r>
            <a:endParaRPr lang="en-US" sz="950" dirty="0"/>
          </a:p>
        </p:txBody>
      </p:sp>
      <p:sp>
        <p:nvSpPr>
          <p:cNvPr id="7" name="Shape 5"/>
          <p:cNvSpPr/>
          <p:nvPr/>
        </p:nvSpPr>
        <p:spPr>
          <a:xfrm>
            <a:off x="457200" y="1627632"/>
            <a:ext cx="11277295" cy="2359152"/>
          </a:xfrm>
          <a:prstGeom prst="rect">
            <a:avLst/>
          </a:prstGeom>
          <a:solidFill>
            <a:srgbClr val="F6F7FB"/>
          </a:solidFill>
          <a:ln/>
        </p:spPr>
        <p:txBody>
          <a:bodyPr/>
          <a:lstStyle/>
          <a:p>
            <a:endParaRPr lang="fr-FR"/>
          </a:p>
        </p:txBody>
      </p:sp>
      <p:sp>
        <p:nvSpPr>
          <p:cNvPr id="8" name="Text 6"/>
          <p:cNvSpPr/>
          <p:nvPr/>
        </p:nvSpPr>
        <p:spPr>
          <a:xfrm>
            <a:off x="457200" y="1664208"/>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M0  </a:t>
            </a:r>
            <a:r>
              <a:rPr lang="en-US" sz="1050" dirty="0">
                <a:solidFill>
                  <a:srgbClr val="3A4A63"/>
                </a:solidFill>
                <a:latin typeface="Arial" pitchFamily="34" charset="0"/>
                <a:ea typeface="Arial" pitchFamily="34" charset="-122"/>
                <a:cs typeface="Arial" pitchFamily="34" charset="-120"/>
              </a:rPr>
              <a:t>Explorer &amp; Architecturer</a:t>
            </a:r>
            <a:endParaRPr lang="en-US" sz="1050" dirty="0"/>
          </a:p>
        </p:txBody>
      </p:sp>
      <p:sp>
        <p:nvSpPr>
          <p:cNvPr id="9" name="Shape 7"/>
          <p:cNvSpPr/>
          <p:nvPr/>
        </p:nvSpPr>
        <p:spPr>
          <a:xfrm>
            <a:off x="3017520" y="1719072"/>
            <a:ext cx="1230782" cy="292608"/>
          </a:xfrm>
          <a:prstGeom prst="roundRect">
            <a:avLst>
              <a:gd name="adj" fmla="val 14063"/>
            </a:avLst>
          </a:prstGeom>
          <a:solidFill>
            <a:srgbClr val="1E8A78"/>
          </a:solidFill>
          <a:ln/>
        </p:spPr>
        <p:txBody>
          <a:bodyPr/>
          <a:lstStyle/>
          <a:p>
            <a:endParaRPr lang="fr-FR"/>
          </a:p>
        </p:txBody>
      </p:sp>
      <p:sp>
        <p:nvSpPr>
          <p:cNvPr id="10" name="Shape 8"/>
          <p:cNvSpPr/>
          <p:nvPr/>
        </p:nvSpPr>
        <p:spPr>
          <a:xfrm>
            <a:off x="4248302" y="1719072"/>
            <a:ext cx="184617" cy="292608"/>
          </a:xfrm>
          <a:prstGeom prst="rect">
            <a:avLst/>
          </a:prstGeom>
          <a:solidFill>
            <a:srgbClr val="1E8A78">
              <a:alpha val="45000"/>
            </a:srgbClr>
          </a:solidFill>
          <a:ln/>
        </p:spPr>
        <p:txBody>
          <a:bodyPr/>
          <a:lstStyle/>
          <a:p>
            <a:endParaRPr lang="fr-FR"/>
          </a:p>
        </p:txBody>
      </p:sp>
      <p:sp>
        <p:nvSpPr>
          <p:cNvPr id="11" name="Text 9"/>
          <p:cNvSpPr/>
          <p:nvPr/>
        </p:nvSpPr>
        <p:spPr>
          <a:xfrm>
            <a:off x="3017520" y="1719072"/>
            <a:ext cx="123078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M0</a:t>
            </a:r>
            <a:endParaRPr lang="en-US" sz="900" dirty="0"/>
          </a:p>
        </p:txBody>
      </p:sp>
      <p:sp>
        <p:nvSpPr>
          <p:cNvPr id="12" name="Text 10"/>
          <p:cNvSpPr/>
          <p:nvPr/>
        </p:nvSpPr>
        <p:spPr>
          <a:xfrm>
            <a:off x="457200" y="2121408"/>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M1  </a:t>
            </a:r>
            <a:r>
              <a:rPr lang="en-US" sz="1050" dirty="0">
                <a:solidFill>
                  <a:srgbClr val="3A4A63"/>
                </a:solidFill>
                <a:latin typeface="Arial" pitchFamily="34" charset="0"/>
                <a:ea typeface="Arial" pitchFamily="34" charset="-122"/>
                <a:cs typeface="Arial" pitchFamily="34" charset="-120"/>
              </a:rPr>
              <a:t>Accélérer les Data Products</a:t>
            </a:r>
            <a:endParaRPr lang="en-US" sz="1050" dirty="0"/>
          </a:p>
        </p:txBody>
      </p:sp>
      <p:sp>
        <p:nvSpPr>
          <p:cNvPr id="13" name="Shape 11"/>
          <p:cNvSpPr/>
          <p:nvPr/>
        </p:nvSpPr>
        <p:spPr>
          <a:xfrm>
            <a:off x="4094500" y="2176272"/>
            <a:ext cx="1107704" cy="292608"/>
          </a:xfrm>
          <a:prstGeom prst="roundRect">
            <a:avLst>
              <a:gd name="adj" fmla="val 14063"/>
            </a:avLst>
          </a:prstGeom>
          <a:solidFill>
            <a:srgbClr val="D98E33"/>
          </a:solidFill>
          <a:ln/>
        </p:spPr>
        <p:txBody>
          <a:bodyPr/>
          <a:lstStyle/>
          <a:p>
            <a:endParaRPr lang="fr-FR"/>
          </a:p>
        </p:txBody>
      </p:sp>
      <p:sp>
        <p:nvSpPr>
          <p:cNvPr id="14" name="Shape 12"/>
          <p:cNvSpPr/>
          <p:nvPr/>
        </p:nvSpPr>
        <p:spPr>
          <a:xfrm>
            <a:off x="5202204" y="2176272"/>
            <a:ext cx="369235" cy="292608"/>
          </a:xfrm>
          <a:prstGeom prst="rect">
            <a:avLst/>
          </a:prstGeom>
          <a:solidFill>
            <a:srgbClr val="D98E33">
              <a:alpha val="45000"/>
            </a:srgbClr>
          </a:solidFill>
          <a:ln/>
        </p:spPr>
        <p:txBody>
          <a:bodyPr/>
          <a:lstStyle/>
          <a:p>
            <a:endParaRPr lang="fr-FR"/>
          </a:p>
        </p:txBody>
      </p:sp>
      <p:sp>
        <p:nvSpPr>
          <p:cNvPr id="15" name="Text 13"/>
          <p:cNvSpPr/>
          <p:nvPr/>
        </p:nvSpPr>
        <p:spPr>
          <a:xfrm>
            <a:off x="4094500" y="2176272"/>
            <a:ext cx="110770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M1</a:t>
            </a:r>
            <a:endParaRPr lang="en-US" sz="900" dirty="0"/>
          </a:p>
        </p:txBody>
      </p:sp>
      <p:sp>
        <p:nvSpPr>
          <p:cNvPr id="16" name="Text 14"/>
          <p:cNvSpPr/>
          <p:nvPr/>
        </p:nvSpPr>
        <p:spPr>
          <a:xfrm>
            <a:off x="457200" y="2578608"/>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M2  </a:t>
            </a:r>
            <a:r>
              <a:rPr lang="en-US" sz="1050" dirty="0">
                <a:solidFill>
                  <a:srgbClr val="3A4A63"/>
                </a:solidFill>
                <a:latin typeface="Arial" pitchFamily="34" charset="0"/>
                <a:ea typeface="Arial" pitchFamily="34" charset="-122"/>
                <a:cs typeface="Arial" pitchFamily="34" charset="-120"/>
              </a:rPr>
              <a:t>Industrialiser le Data Delivery</a:t>
            </a:r>
            <a:endParaRPr lang="en-US" sz="1050" dirty="0"/>
          </a:p>
        </p:txBody>
      </p:sp>
      <p:sp>
        <p:nvSpPr>
          <p:cNvPr id="17" name="Shape 15"/>
          <p:cNvSpPr/>
          <p:nvPr/>
        </p:nvSpPr>
        <p:spPr>
          <a:xfrm>
            <a:off x="5017587" y="2633472"/>
            <a:ext cx="1476939" cy="292608"/>
          </a:xfrm>
          <a:prstGeom prst="roundRect">
            <a:avLst>
              <a:gd name="adj" fmla="val 14063"/>
            </a:avLst>
          </a:prstGeom>
          <a:solidFill>
            <a:srgbClr val="5B7091"/>
          </a:solidFill>
          <a:ln/>
        </p:spPr>
        <p:txBody>
          <a:bodyPr/>
          <a:lstStyle/>
          <a:p>
            <a:endParaRPr lang="fr-FR"/>
          </a:p>
        </p:txBody>
      </p:sp>
      <p:sp>
        <p:nvSpPr>
          <p:cNvPr id="18" name="Shape 16"/>
          <p:cNvSpPr/>
          <p:nvPr/>
        </p:nvSpPr>
        <p:spPr>
          <a:xfrm>
            <a:off x="6494526" y="2633472"/>
            <a:ext cx="656448" cy="292608"/>
          </a:xfrm>
          <a:prstGeom prst="rect">
            <a:avLst/>
          </a:prstGeom>
          <a:solidFill>
            <a:srgbClr val="5B7091">
              <a:alpha val="45000"/>
            </a:srgbClr>
          </a:solidFill>
          <a:ln/>
        </p:spPr>
        <p:txBody>
          <a:bodyPr/>
          <a:lstStyle/>
          <a:p>
            <a:endParaRPr lang="fr-FR"/>
          </a:p>
        </p:txBody>
      </p:sp>
      <p:sp>
        <p:nvSpPr>
          <p:cNvPr id="19" name="Text 17"/>
          <p:cNvSpPr/>
          <p:nvPr/>
        </p:nvSpPr>
        <p:spPr>
          <a:xfrm>
            <a:off x="5017587" y="2633472"/>
            <a:ext cx="1476939"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M2</a:t>
            </a:r>
            <a:endParaRPr lang="en-US" sz="900" dirty="0"/>
          </a:p>
        </p:txBody>
      </p:sp>
      <p:sp>
        <p:nvSpPr>
          <p:cNvPr id="20" name="Text 18"/>
          <p:cNvSpPr/>
          <p:nvPr/>
        </p:nvSpPr>
        <p:spPr>
          <a:xfrm>
            <a:off x="457200" y="3035808"/>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M3  </a:t>
            </a:r>
            <a:r>
              <a:rPr lang="en-US" sz="1050" dirty="0">
                <a:solidFill>
                  <a:srgbClr val="3A4A63"/>
                </a:solidFill>
                <a:latin typeface="Arial" pitchFamily="34" charset="0"/>
                <a:ea typeface="Arial" pitchFamily="34" charset="-122"/>
                <a:cs typeface="Arial" pitchFamily="34" charset="-120"/>
              </a:rPr>
              <a:t>Fédérer &amp; Self-Servir</a:t>
            </a:r>
            <a:endParaRPr lang="en-US" sz="1050" dirty="0"/>
          </a:p>
        </p:txBody>
      </p:sp>
      <p:sp>
        <p:nvSpPr>
          <p:cNvPr id="21" name="Shape 19"/>
          <p:cNvSpPr/>
          <p:nvPr/>
        </p:nvSpPr>
        <p:spPr>
          <a:xfrm>
            <a:off x="6166348" y="3090672"/>
            <a:ext cx="1230782" cy="292608"/>
          </a:xfrm>
          <a:prstGeom prst="roundRect">
            <a:avLst>
              <a:gd name="adj" fmla="val 14063"/>
            </a:avLst>
          </a:prstGeom>
          <a:solidFill>
            <a:srgbClr val="5B7091"/>
          </a:solidFill>
          <a:ln/>
        </p:spPr>
        <p:txBody>
          <a:bodyPr/>
          <a:lstStyle/>
          <a:p>
            <a:endParaRPr lang="fr-FR"/>
          </a:p>
        </p:txBody>
      </p:sp>
      <p:sp>
        <p:nvSpPr>
          <p:cNvPr id="22" name="Shape 20"/>
          <p:cNvSpPr/>
          <p:nvPr/>
        </p:nvSpPr>
        <p:spPr>
          <a:xfrm>
            <a:off x="7397130" y="3090672"/>
            <a:ext cx="492313" cy="292608"/>
          </a:xfrm>
          <a:prstGeom prst="rect">
            <a:avLst/>
          </a:prstGeom>
          <a:solidFill>
            <a:srgbClr val="5B7091">
              <a:alpha val="45000"/>
            </a:srgbClr>
          </a:solidFill>
          <a:ln/>
        </p:spPr>
        <p:txBody>
          <a:bodyPr/>
          <a:lstStyle/>
          <a:p>
            <a:endParaRPr lang="fr-FR"/>
          </a:p>
        </p:txBody>
      </p:sp>
      <p:sp>
        <p:nvSpPr>
          <p:cNvPr id="23" name="Text 21"/>
          <p:cNvSpPr/>
          <p:nvPr/>
        </p:nvSpPr>
        <p:spPr>
          <a:xfrm>
            <a:off x="6166348" y="3090672"/>
            <a:ext cx="123078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M3</a:t>
            </a:r>
            <a:endParaRPr lang="en-US" sz="900" dirty="0"/>
          </a:p>
        </p:txBody>
      </p:sp>
      <p:sp>
        <p:nvSpPr>
          <p:cNvPr id="24" name="Text 22"/>
          <p:cNvSpPr/>
          <p:nvPr/>
        </p:nvSpPr>
        <p:spPr>
          <a:xfrm>
            <a:off x="457200" y="3493008"/>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M4  </a:t>
            </a:r>
            <a:r>
              <a:rPr lang="en-US" sz="1050" dirty="0">
                <a:solidFill>
                  <a:srgbClr val="3A4A63"/>
                </a:solidFill>
                <a:latin typeface="Arial" pitchFamily="34" charset="0"/>
                <a:ea typeface="Arial" pitchFamily="34" charset="-122"/>
                <a:cs typeface="Arial" pitchFamily="34" charset="-120"/>
              </a:rPr>
              <a:t>Servir la Data</a:t>
            </a:r>
            <a:endParaRPr lang="en-US" sz="1050" dirty="0"/>
          </a:p>
        </p:txBody>
      </p:sp>
      <p:sp>
        <p:nvSpPr>
          <p:cNvPr id="25" name="Shape 23"/>
          <p:cNvSpPr/>
          <p:nvPr/>
        </p:nvSpPr>
        <p:spPr>
          <a:xfrm>
            <a:off x="7150974" y="3547872"/>
            <a:ext cx="1107704" cy="292608"/>
          </a:xfrm>
          <a:prstGeom prst="roundRect">
            <a:avLst>
              <a:gd name="adj" fmla="val 14063"/>
            </a:avLst>
          </a:prstGeom>
          <a:solidFill>
            <a:srgbClr val="5B7091"/>
          </a:solidFill>
          <a:ln/>
        </p:spPr>
        <p:txBody>
          <a:bodyPr/>
          <a:lstStyle/>
          <a:p>
            <a:endParaRPr lang="fr-FR"/>
          </a:p>
        </p:txBody>
      </p:sp>
      <p:sp>
        <p:nvSpPr>
          <p:cNvPr id="26" name="Shape 24"/>
          <p:cNvSpPr/>
          <p:nvPr/>
        </p:nvSpPr>
        <p:spPr>
          <a:xfrm>
            <a:off x="8258678" y="3547872"/>
            <a:ext cx="369235" cy="292608"/>
          </a:xfrm>
          <a:prstGeom prst="rect">
            <a:avLst/>
          </a:prstGeom>
          <a:solidFill>
            <a:srgbClr val="5B7091">
              <a:alpha val="45000"/>
            </a:srgbClr>
          </a:solidFill>
          <a:ln/>
        </p:spPr>
        <p:txBody>
          <a:bodyPr/>
          <a:lstStyle/>
          <a:p>
            <a:endParaRPr lang="fr-FR"/>
          </a:p>
        </p:txBody>
      </p:sp>
      <p:sp>
        <p:nvSpPr>
          <p:cNvPr id="27" name="Text 25"/>
          <p:cNvSpPr/>
          <p:nvPr/>
        </p:nvSpPr>
        <p:spPr>
          <a:xfrm>
            <a:off x="7150974" y="3547872"/>
            <a:ext cx="110770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M4</a:t>
            </a:r>
            <a:endParaRPr lang="en-US" sz="900" dirty="0"/>
          </a:p>
        </p:txBody>
      </p:sp>
      <p:sp>
        <p:nvSpPr>
          <p:cNvPr id="28" name="Text 26"/>
          <p:cNvSpPr/>
          <p:nvPr/>
        </p:nvSpPr>
        <p:spPr>
          <a:xfrm>
            <a:off x="457200" y="4096512"/>
            <a:ext cx="4572000" cy="201168"/>
          </a:xfrm>
          <a:prstGeom prst="rect">
            <a:avLst/>
          </a:prstGeom>
          <a:noFill/>
          <a:ln/>
        </p:spPr>
        <p:txBody>
          <a:bodyPr wrap="square" lIns="0" tIns="0" rIns="0" bIns="0" rtlCol="0" anchor="ctr"/>
          <a:lstStyle/>
          <a:p>
            <a:pPr marL="0" indent="0">
              <a:buNone/>
            </a:pPr>
            <a:r>
              <a:rPr lang="en-US" sz="950" b="1" kern="0" spc="100" dirty="0">
                <a:solidFill>
                  <a:srgbClr val="4A4E8F"/>
                </a:solidFill>
                <a:latin typeface="Arial" pitchFamily="34" charset="0"/>
                <a:ea typeface="Arial" pitchFamily="34" charset="-122"/>
                <a:cs typeface="Arial" pitchFamily="34" charset="-120"/>
              </a:rPr>
              <a:t>PHASE MACHINE LEARNING</a:t>
            </a:r>
            <a:endParaRPr lang="en-US" sz="950" dirty="0"/>
          </a:p>
        </p:txBody>
      </p:sp>
      <p:sp>
        <p:nvSpPr>
          <p:cNvPr id="29" name="Shape 27"/>
          <p:cNvSpPr/>
          <p:nvPr/>
        </p:nvSpPr>
        <p:spPr>
          <a:xfrm>
            <a:off x="457200" y="4352544"/>
            <a:ext cx="11277295" cy="987552"/>
          </a:xfrm>
          <a:prstGeom prst="rect">
            <a:avLst/>
          </a:prstGeom>
          <a:solidFill>
            <a:srgbClr val="EEF7F6"/>
          </a:solidFill>
          <a:ln/>
        </p:spPr>
        <p:txBody>
          <a:bodyPr/>
          <a:lstStyle/>
          <a:p>
            <a:endParaRPr lang="fr-FR"/>
          </a:p>
        </p:txBody>
      </p:sp>
      <p:sp>
        <p:nvSpPr>
          <p:cNvPr id="30" name="Text 28"/>
          <p:cNvSpPr/>
          <p:nvPr/>
        </p:nvSpPr>
        <p:spPr>
          <a:xfrm>
            <a:off x="457200" y="4389120"/>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M5  </a:t>
            </a:r>
            <a:r>
              <a:rPr lang="en-US" sz="1050" dirty="0">
                <a:solidFill>
                  <a:srgbClr val="3A4A63"/>
                </a:solidFill>
                <a:latin typeface="Arial" pitchFamily="34" charset="0"/>
                <a:ea typeface="Arial" pitchFamily="34" charset="-122"/>
                <a:cs typeface="Arial" pitchFamily="34" charset="-120"/>
              </a:rPr>
              <a:t>Industrialiser les ML Products</a:t>
            </a:r>
            <a:endParaRPr lang="en-US" sz="1050" dirty="0"/>
          </a:p>
        </p:txBody>
      </p:sp>
      <p:sp>
        <p:nvSpPr>
          <p:cNvPr id="31" name="Shape 29"/>
          <p:cNvSpPr/>
          <p:nvPr/>
        </p:nvSpPr>
        <p:spPr>
          <a:xfrm>
            <a:off x="7766365" y="4443984"/>
            <a:ext cx="1476939" cy="292608"/>
          </a:xfrm>
          <a:prstGeom prst="roundRect">
            <a:avLst>
              <a:gd name="adj" fmla="val 14063"/>
            </a:avLst>
          </a:prstGeom>
          <a:solidFill>
            <a:srgbClr val="4A4E8F"/>
          </a:solidFill>
          <a:ln/>
        </p:spPr>
        <p:txBody>
          <a:bodyPr/>
          <a:lstStyle/>
          <a:p>
            <a:endParaRPr lang="fr-FR"/>
          </a:p>
        </p:txBody>
      </p:sp>
      <p:sp>
        <p:nvSpPr>
          <p:cNvPr id="32" name="Shape 30"/>
          <p:cNvSpPr/>
          <p:nvPr/>
        </p:nvSpPr>
        <p:spPr>
          <a:xfrm>
            <a:off x="9243304" y="4443984"/>
            <a:ext cx="656448" cy="292608"/>
          </a:xfrm>
          <a:prstGeom prst="rect">
            <a:avLst/>
          </a:prstGeom>
          <a:solidFill>
            <a:srgbClr val="4A4E8F">
              <a:alpha val="45000"/>
            </a:srgbClr>
          </a:solidFill>
          <a:ln/>
        </p:spPr>
        <p:txBody>
          <a:bodyPr/>
          <a:lstStyle/>
          <a:p>
            <a:endParaRPr lang="fr-FR"/>
          </a:p>
        </p:txBody>
      </p:sp>
      <p:sp>
        <p:nvSpPr>
          <p:cNvPr id="33" name="Text 31"/>
          <p:cNvSpPr/>
          <p:nvPr/>
        </p:nvSpPr>
        <p:spPr>
          <a:xfrm>
            <a:off x="7766365" y="4443984"/>
            <a:ext cx="1476939"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M5</a:t>
            </a:r>
            <a:endParaRPr lang="en-US" sz="900" dirty="0"/>
          </a:p>
        </p:txBody>
      </p:sp>
      <p:sp>
        <p:nvSpPr>
          <p:cNvPr id="34" name="Text 32"/>
          <p:cNvSpPr/>
          <p:nvPr/>
        </p:nvSpPr>
        <p:spPr>
          <a:xfrm>
            <a:off x="457200" y="4846320"/>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M6  </a:t>
            </a:r>
            <a:r>
              <a:rPr lang="en-US" sz="1050" dirty="0">
                <a:solidFill>
                  <a:srgbClr val="3A4A63"/>
                </a:solidFill>
                <a:latin typeface="Arial" pitchFamily="34" charset="0"/>
                <a:ea typeface="Arial" pitchFamily="34" charset="-122"/>
                <a:cs typeface="Arial" pitchFamily="34" charset="-120"/>
              </a:rPr>
              <a:t>Servir &amp; Opérer les modèles</a:t>
            </a:r>
            <a:endParaRPr lang="en-US" sz="1050" dirty="0"/>
          </a:p>
        </p:txBody>
      </p:sp>
      <p:sp>
        <p:nvSpPr>
          <p:cNvPr id="35" name="Shape 33"/>
          <p:cNvSpPr/>
          <p:nvPr/>
        </p:nvSpPr>
        <p:spPr>
          <a:xfrm>
            <a:off x="9161282" y="4901184"/>
            <a:ext cx="1476939" cy="292608"/>
          </a:xfrm>
          <a:prstGeom prst="roundRect">
            <a:avLst>
              <a:gd name="adj" fmla="val 14063"/>
            </a:avLst>
          </a:prstGeom>
          <a:solidFill>
            <a:srgbClr val="4A4E8F"/>
          </a:solidFill>
          <a:ln/>
        </p:spPr>
        <p:txBody>
          <a:bodyPr/>
          <a:lstStyle/>
          <a:p>
            <a:endParaRPr lang="fr-FR"/>
          </a:p>
        </p:txBody>
      </p:sp>
      <p:sp>
        <p:nvSpPr>
          <p:cNvPr id="36" name="Shape 34"/>
          <p:cNvSpPr/>
          <p:nvPr/>
        </p:nvSpPr>
        <p:spPr>
          <a:xfrm>
            <a:off x="10638221" y="4901184"/>
            <a:ext cx="574335" cy="292608"/>
          </a:xfrm>
          <a:prstGeom prst="rect">
            <a:avLst/>
          </a:prstGeom>
          <a:solidFill>
            <a:srgbClr val="4A4E8F">
              <a:alpha val="45000"/>
            </a:srgbClr>
          </a:solidFill>
          <a:ln/>
        </p:spPr>
        <p:txBody>
          <a:bodyPr/>
          <a:lstStyle/>
          <a:p>
            <a:endParaRPr lang="fr-FR"/>
          </a:p>
        </p:txBody>
      </p:sp>
      <p:sp>
        <p:nvSpPr>
          <p:cNvPr id="37" name="Text 35"/>
          <p:cNvSpPr/>
          <p:nvPr/>
        </p:nvSpPr>
        <p:spPr>
          <a:xfrm>
            <a:off x="9161282" y="4901184"/>
            <a:ext cx="1476939"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M6</a:t>
            </a:r>
            <a:endParaRPr lang="en-US" sz="900" dirty="0"/>
          </a:p>
        </p:txBody>
      </p:sp>
      <p:sp>
        <p:nvSpPr>
          <p:cNvPr id="38" name="Shape 36"/>
          <p:cNvSpPr/>
          <p:nvPr/>
        </p:nvSpPr>
        <p:spPr>
          <a:xfrm>
            <a:off x="3017520" y="5504688"/>
            <a:ext cx="8686800" cy="0"/>
          </a:xfrm>
          <a:prstGeom prst="line">
            <a:avLst/>
          </a:prstGeom>
          <a:noFill/>
          <a:ln w="12700">
            <a:solidFill>
              <a:srgbClr val="E4E7EC"/>
            </a:solidFill>
            <a:prstDash val="solid"/>
          </a:ln>
        </p:spPr>
        <p:txBody>
          <a:bodyPr/>
          <a:lstStyle/>
          <a:p>
            <a:endParaRPr lang="fr-FR"/>
          </a:p>
        </p:txBody>
      </p:sp>
      <p:sp>
        <p:nvSpPr>
          <p:cNvPr id="39" name="Text 37"/>
          <p:cNvSpPr/>
          <p:nvPr/>
        </p:nvSpPr>
        <p:spPr>
          <a:xfrm>
            <a:off x="2852928"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S0</a:t>
            </a:r>
            <a:endParaRPr lang="en-US" sz="750" dirty="0"/>
          </a:p>
        </p:txBody>
      </p:sp>
      <p:sp>
        <p:nvSpPr>
          <p:cNvPr id="40" name="Text 38"/>
          <p:cNvSpPr/>
          <p:nvPr/>
        </p:nvSpPr>
        <p:spPr>
          <a:xfrm>
            <a:off x="3673419"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S4</a:t>
            </a:r>
            <a:endParaRPr lang="en-US" sz="750" dirty="0"/>
          </a:p>
        </p:txBody>
      </p:sp>
      <p:sp>
        <p:nvSpPr>
          <p:cNvPr id="41" name="Text 39"/>
          <p:cNvSpPr/>
          <p:nvPr/>
        </p:nvSpPr>
        <p:spPr>
          <a:xfrm>
            <a:off x="4494002"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S8</a:t>
            </a:r>
            <a:endParaRPr lang="en-US" sz="750" dirty="0"/>
          </a:p>
        </p:txBody>
      </p:sp>
      <p:sp>
        <p:nvSpPr>
          <p:cNvPr id="42" name="Text 40"/>
          <p:cNvSpPr/>
          <p:nvPr/>
        </p:nvSpPr>
        <p:spPr>
          <a:xfrm>
            <a:off x="5314493"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S12</a:t>
            </a:r>
            <a:endParaRPr lang="en-US" sz="750" dirty="0"/>
          </a:p>
        </p:txBody>
      </p:sp>
      <p:sp>
        <p:nvSpPr>
          <p:cNvPr id="43" name="Text 41"/>
          <p:cNvSpPr/>
          <p:nvPr/>
        </p:nvSpPr>
        <p:spPr>
          <a:xfrm>
            <a:off x="6135075"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S16</a:t>
            </a:r>
            <a:endParaRPr lang="en-US" sz="750" dirty="0"/>
          </a:p>
        </p:txBody>
      </p:sp>
      <p:sp>
        <p:nvSpPr>
          <p:cNvPr id="44" name="Text 42"/>
          <p:cNvSpPr/>
          <p:nvPr/>
        </p:nvSpPr>
        <p:spPr>
          <a:xfrm>
            <a:off x="6955566"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S20</a:t>
            </a:r>
            <a:endParaRPr lang="en-US" sz="750" dirty="0"/>
          </a:p>
        </p:txBody>
      </p:sp>
      <p:sp>
        <p:nvSpPr>
          <p:cNvPr id="45" name="Text 43"/>
          <p:cNvSpPr/>
          <p:nvPr/>
        </p:nvSpPr>
        <p:spPr>
          <a:xfrm>
            <a:off x="7776149"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S24</a:t>
            </a:r>
            <a:endParaRPr lang="en-US" sz="750" dirty="0"/>
          </a:p>
        </p:txBody>
      </p:sp>
      <p:sp>
        <p:nvSpPr>
          <p:cNvPr id="46" name="Text 44"/>
          <p:cNvSpPr/>
          <p:nvPr/>
        </p:nvSpPr>
        <p:spPr>
          <a:xfrm>
            <a:off x="8596640"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S28</a:t>
            </a:r>
            <a:endParaRPr lang="en-US" sz="750" dirty="0"/>
          </a:p>
        </p:txBody>
      </p:sp>
      <p:sp>
        <p:nvSpPr>
          <p:cNvPr id="47" name="Text 45"/>
          <p:cNvSpPr/>
          <p:nvPr/>
        </p:nvSpPr>
        <p:spPr>
          <a:xfrm>
            <a:off x="9417223"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S32</a:t>
            </a:r>
            <a:endParaRPr lang="en-US" sz="750" dirty="0"/>
          </a:p>
        </p:txBody>
      </p:sp>
      <p:sp>
        <p:nvSpPr>
          <p:cNvPr id="48" name="Text 46"/>
          <p:cNvSpPr/>
          <p:nvPr/>
        </p:nvSpPr>
        <p:spPr>
          <a:xfrm>
            <a:off x="10237714"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S36</a:t>
            </a:r>
            <a:endParaRPr lang="en-US" sz="750" dirty="0"/>
          </a:p>
        </p:txBody>
      </p:sp>
      <p:sp>
        <p:nvSpPr>
          <p:cNvPr id="49" name="Text 47"/>
          <p:cNvSpPr/>
          <p:nvPr/>
        </p:nvSpPr>
        <p:spPr>
          <a:xfrm>
            <a:off x="11058296"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S40</a:t>
            </a:r>
            <a:endParaRPr lang="en-US" sz="750" dirty="0"/>
          </a:p>
        </p:txBody>
      </p:sp>
      <p:sp>
        <p:nvSpPr>
          <p:cNvPr id="50" name="Shape 48"/>
          <p:cNvSpPr/>
          <p:nvPr/>
        </p:nvSpPr>
        <p:spPr>
          <a:xfrm>
            <a:off x="457200" y="5907024"/>
            <a:ext cx="128016" cy="128016"/>
          </a:xfrm>
          <a:prstGeom prst="roundRect">
            <a:avLst>
              <a:gd name="adj" fmla="val 21429"/>
            </a:avLst>
          </a:prstGeom>
          <a:solidFill>
            <a:srgbClr val="1E8A78"/>
          </a:solidFill>
          <a:ln/>
        </p:spPr>
        <p:txBody>
          <a:bodyPr/>
          <a:lstStyle/>
          <a:p>
            <a:endParaRPr lang="fr-FR"/>
          </a:p>
        </p:txBody>
      </p:sp>
      <p:sp>
        <p:nvSpPr>
          <p:cNvPr id="51" name="Text 49"/>
          <p:cNvSpPr/>
          <p:nvPr/>
        </p:nvSpPr>
        <p:spPr>
          <a:xfrm>
            <a:off x="640080" y="5861304"/>
            <a:ext cx="2377440" cy="219456"/>
          </a:xfrm>
          <a:prstGeom prst="rect">
            <a:avLst/>
          </a:prstGeom>
          <a:noFill/>
          <a:ln/>
        </p:spPr>
        <p:txBody>
          <a:bodyPr wrap="square" lIns="0" tIns="0" rIns="0" bIns="0" rtlCol="0" anchor="ctr"/>
          <a:lstStyle/>
          <a:p>
            <a:pPr marL="0" indent="0">
              <a:buNone/>
            </a:pPr>
            <a:r>
              <a:rPr lang="en-US" sz="950" dirty="0">
                <a:solidFill>
                  <a:srgbClr val="3A4A63"/>
                </a:solidFill>
                <a:latin typeface="Arial" pitchFamily="34" charset="0"/>
                <a:ea typeface="Arial" pitchFamily="34" charset="-122"/>
                <a:cs typeface="Arial" pitchFamily="34" charset="-120"/>
              </a:rPr>
              <a:t>Fait</a:t>
            </a:r>
            <a:endParaRPr lang="en-US" sz="950" dirty="0"/>
          </a:p>
        </p:txBody>
      </p:sp>
      <p:sp>
        <p:nvSpPr>
          <p:cNvPr id="52" name="Shape 50"/>
          <p:cNvSpPr/>
          <p:nvPr/>
        </p:nvSpPr>
        <p:spPr>
          <a:xfrm>
            <a:off x="1241755" y="5907024"/>
            <a:ext cx="128016" cy="128016"/>
          </a:xfrm>
          <a:prstGeom prst="roundRect">
            <a:avLst>
              <a:gd name="adj" fmla="val 21429"/>
            </a:avLst>
          </a:prstGeom>
          <a:solidFill>
            <a:srgbClr val="D98E33"/>
          </a:solidFill>
          <a:ln/>
        </p:spPr>
        <p:txBody>
          <a:bodyPr/>
          <a:lstStyle/>
          <a:p>
            <a:endParaRPr lang="fr-FR"/>
          </a:p>
        </p:txBody>
      </p:sp>
      <p:sp>
        <p:nvSpPr>
          <p:cNvPr id="53" name="Text 51"/>
          <p:cNvSpPr/>
          <p:nvPr/>
        </p:nvSpPr>
        <p:spPr>
          <a:xfrm>
            <a:off x="1424635" y="5861304"/>
            <a:ext cx="2377440" cy="219456"/>
          </a:xfrm>
          <a:prstGeom prst="rect">
            <a:avLst/>
          </a:prstGeom>
          <a:noFill/>
          <a:ln/>
        </p:spPr>
        <p:txBody>
          <a:bodyPr wrap="square" lIns="0" tIns="0" rIns="0" bIns="0" rtlCol="0" anchor="ctr"/>
          <a:lstStyle/>
          <a:p>
            <a:pPr marL="0" indent="0">
              <a:buNone/>
            </a:pPr>
            <a:r>
              <a:rPr lang="en-US" sz="950" dirty="0">
                <a:solidFill>
                  <a:srgbClr val="3A4A63"/>
                </a:solidFill>
                <a:latin typeface="Arial" pitchFamily="34" charset="0"/>
                <a:ea typeface="Arial" pitchFamily="34" charset="-122"/>
                <a:cs typeface="Arial" pitchFamily="34" charset="-120"/>
              </a:rPr>
              <a:t>En cours</a:t>
            </a:r>
            <a:endParaRPr lang="en-US" sz="950" dirty="0"/>
          </a:p>
        </p:txBody>
      </p:sp>
      <p:sp>
        <p:nvSpPr>
          <p:cNvPr id="54" name="Shape 52"/>
          <p:cNvSpPr/>
          <p:nvPr/>
        </p:nvSpPr>
        <p:spPr>
          <a:xfrm>
            <a:off x="2289658" y="5907024"/>
            <a:ext cx="128016" cy="128016"/>
          </a:xfrm>
          <a:prstGeom prst="roundRect">
            <a:avLst>
              <a:gd name="adj" fmla="val 21429"/>
            </a:avLst>
          </a:prstGeom>
          <a:solidFill>
            <a:srgbClr val="5B7091"/>
          </a:solidFill>
          <a:ln/>
        </p:spPr>
        <p:txBody>
          <a:bodyPr/>
          <a:lstStyle/>
          <a:p>
            <a:endParaRPr lang="fr-FR"/>
          </a:p>
        </p:txBody>
      </p:sp>
      <p:sp>
        <p:nvSpPr>
          <p:cNvPr id="55" name="Text 53"/>
          <p:cNvSpPr/>
          <p:nvPr/>
        </p:nvSpPr>
        <p:spPr>
          <a:xfrm>
            <a:off x="2472538" y="5861304"/>
            <a:ext cx="2377440" cy="219456"/>
          </a:xfrm>
          <a:prstGeom prst="rect">
            <a:avLst/>
          </a:prstGeom>
          <a:noFill/>
          <a:ln/>
        </p:spPr>
        <p:txBody>
          <a:bodyPr wrap="square" lIns="0" tIns="0" rIns="0" bIns="0" rtlCol="0" anchor="ctr"/>
          <a:lstStyle/>
          <a:p>
            <a:pPr marL="0" indent="0">
              <a:buNone/>
            </a:pPr>
            <a:r>
              <a:rPr lang="en-US" sz="950" dirty="0">
                <a:solidFill>
                  <a:srgbClr val="3A4A63"/>
                </a:solidFill>
                <a:latin typeface="Arial" pitchFamily="34" charset="0"/>
                <a:ea typeface="Arial" pitchFamily="34" charset="-122"/>
                <a:cs typeface="Arial" pitchFamily="34" charset="-120"/>
              </a:rPr>
              <a:t>Planifié — Data Engineering</a:t>
            </a:r>
            <a:endParaRPr lang="en-US" sz="950" dirty="0"/>
          </a:p>
        </p:txBody>
      </p:sp>
      <p:sp>
        <p:nvSpPr>
          <p:cNvPr id="56" name="Shape 54"/>
          <p:cNvSpPr/>
          <p:nvPr/>
        </p:nvSpPr>
        <p:spPr>
          <a:xfrm>
            <a:off x="4588459" y="5907024"/>
            <a:ext cx="128016" cy="128016"/>
          </a:xfrm>
          <a:prstGeom prst="roundRect">
            <a:avLst>
              <a:gd name="adj" fmla="val 21429"/>
            </a:avLst>
          </a:prstGeom>
          <a:solidFill>
            <a:srgbClr val="4A4E8F"/>
          </a:solidFill>
          <a:ln/>
        </p:spPr>
        <p:txBody>
          <a:bodyPr/>
          <a:lstStyle/>
          <a:p>
            <a:endParaRPr lang="fr-FR"/>
          </a:p>
        </p:txBody>
      </p:sp>
      <p:sp>
        <p:nvSpPr>
          <p:cNvPr id="57" name="Text 55"/>
          <p:cNvSpPr/>
          <p:nvPr/>
        </p:nvSpPr>
        <p:spPr>
          <a:xfrm>
            <a:off x="4771339" y="5861304"/>
            <a:ext cx="2377440" cy="219456"/>
          </a:xfrm>
          <a:prstGeom prst="rect">
            <a:avLst/>
          </a:prstGeom>
          <a:noFill/>
          <a:ln/>
        </p:spPr>
        <p:txBody>
          <a:bodyPr wrap="square" lIns="0" tIns="0" rIns="0" bIns="0" rtlCol="0" anchor="ctr"/>
          <a:lstStyle/>
          <a:p>
            <a:pPr marL="0" indent="0">
              <a:buNone/>
            </a:pPr>
            <a:r>
              <a:rPr lang="en-US" sz="950" dirty="0">
                <a:solidFill>
                  <a:srgbClr val="3A4A63"/>
                </a:solidFill>
                <a:latin typeface="Arial" pitchFamily="34" charset="0"/>
                <a:ea typeface="Arial" pitchFamily="34" charset="-122"/>
                <a:cs typeface="Arial" pitchFamily="34" charset="-120"/>
              </a:rPr>
              <a:t>Planifié — ML</a:t>
            </a:r>
            <a:endParaRPr lang="en-US" sz="950" dirty="0"/>
          </a:p>
        </p:txBody>
      </p:sp>
      <p:sp>
        <p:nvSpPr>
          <p:cNvPr id="58" name="Shape 56"/>
          <p:cNvSpPr/>
          <p:nvPr/>
        </p:nvSpPr>
        <p:spPr>
          <a:xfrm>
            <a:off x="0" y="6355080"/>
            <a:ext cx="12191695" cy="502920"/>
          </a:xfrm>
          <a:prstGeom prst="rect">
            <a:avLst/>
          </a:prstGeom>
          <a:solidFill>
            <a:srgbClr val="1B2A41"/>
          </a:solidFill>
          <a:ln/>
        </p:spPr>
        <p:txBody>
          <a:bodyPr/>
          <a:lstStyle/>
          <a:p>
            <a:endParaRPr lang="fr-FR"/>
          </a:p>
        </p:txBody>
      </p:sp>
      <p:sp>
        <p:nvSpPr>
          <p:cNvPr id="59" name="Text 57"/>
          <p:cNvSpPr/>
          <p:nvPr/>
        </p:nvSpPr>
        <p:spPr>
          <a:xfrm>
            <a:off x="457200" y="6355080"/>
            <a:ext cx="11277295" cy="502920"/>
          </a:xfrm>
          <a:prstGeom prst="rect">
            <a:avLst/>
          </a:prstGeom>
          <a:noFill/>
          <a:ln/>
        </p:spPr>
        <p:txBody>
          <a:bodyPr wrap="square" lIns="0" tIns="0" rIns="0" bIns="0" rtlCol="0" anchor="ctr"/>
          <a:lstStyle/>
          <a:p>
            <a:pPr marL="0" indent="0" algn="ctr">
              <a:buNone/>
            </a:pPr>
            <a:r>
              <a:rPr lang="en-US" sz="1050" i="1" dirty="0">
                <a:solidFill>
                  <a:srgbClr val="FFFFFF"/>
                </a:solidFill>
                <a:latin typeface="Arial" pitchFamily="34" charset="0"/>
                <a:ea typeface="Arial" pitchFamily="34" charset="-122"/>
                <a:cs typeface="Arial" pitchFamily="34" charset="-120"/>
              </a:rPr>
              <a:t>Scénario — Architecte + 1 dev · programme total estimé : 38–40 semaines. Capacité limitée : DE et ML ne peuvent se chevaucher que partiellement, l'équipe restant restreinte.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2200" b="1" dirty="0">
                <a:solidFill>
                  <a:srgbClr val="1B2A41"/>
                </a:solidFill>
                <a:latin typeface="Arial" pitchFamily="34" charset="0"/>
                <a:ea typeface="Arial" pitchFamily="34" charset="-122"/>
                <a:cs typeface="Arial" pitchFamily="34" charset="-120"/>
              </a:rPr>
              <a:t>Planning indicatif — Data Engineering vs ML</a:t>
            </a:r>
            <a:endParaRPr lang="en-US" sz="2200" dirty="0"/>
          </a:p>
        </p:txBody>
      </p:sp>
      <p:sp>
        <p:nvSpPr>
          <p:cNvPr id="3" name="Text 1"/>
          <p:cNvSpPr/>
          <p:nvPr/>
        </p:nvSpPr>
        <p:spPr>
          <a:xfrm>
            <a:off x="457200" y="731520"/>
            <a:ext cx="8229600" cy="457200"/>
          </a:xfrm>
          <a:prstGeom prst="rect">
            <a:avLst/>
          </a:prstGeom>
          <a:noFill/>
          <a:ln/>
        </p:spPr>
        <p:txBody>
          <a:bodyPr wrap="square" lIns="0" tIns="0" rIns="0" bIns="0" rtlCol="0" anchor="ctr"/>
          <a:lstStyle/>
          <a:p>
            <a:pPr marL="0" indent="0">
              <a:buNone/>
            </a:pPr>
            <a:r>
              <a:rPr lang="en-US" sz="1100" i="1" dirty="0">
                <a:solidFill>
                  <a:srgbClr val="3A4A63"/>
                </a:solidFill>
                <a:latin typeface="Arial" pitchFamily="34" charset="0"/>
                <a:ea typeface="Arial" pitchFamily="34" charset="-122"/>
                <a:cs typeface="Arial" pitchFamily="34" charset="-120"/>
              </a:rPr>
              <a:t>Scénario : Architecte + 2 devs (3 personnes au total, R=3). Les phases se chevauchent lorsque les dépendances techniques le permettent.</a:t>
            </a:r>
            <a:endParaRPr lang="en-US" sz="1100" dirty="0"/>
          </a:p>
        </p:txBody>
      </p:sp>
      <p:sp>
        <p:nvSpPr>
          <p:cNvPr id="4" name="Shape 2"/>
          <p:cNvSpPr/>
          <p:nvPr/>
        </p:nvSpPr>
        <p:spPr>
          <a:xfrm>
            <a:off x="8961120" y="274320"/>
            <a:ext cx="2770632" cy="566928"/>
          </a:xfrm>
          <a:prstGeom prst="roundRect">
            <a:avLst>
              <a:gd name="adj" fmla="val 12903"/>
            </a:avLst>
          </a:prstGeom>
          <a:solidFill>
            <a:srgbClr val="FFFFFF"/>
          </a:solidFill>
          <a:ln w="12700">
            <a:solidFill>
              <a:srgbClr val="E4E7EC"/>
            </a:solidFill>
            <a:prstDash val="solid"/>
          </a:ln>
        </p:spPr>
        <p:txBody>
          <a:bodyPr/>
          <a:lstStyle/>
          <a:p>
            <a:endParaRPr lang="fr-FR"/>
          </a:p>
        </p:txBody>
      </p:sp>
      <p:sp>
        <p:nvSpPr>
          <p:cNvPr id="5" name="Text 3"/>
          <p:cNvSpPr/>
          <p:nvPr/>
        </p:nvSpPr>
        <p:spPr>
          <a:xfrm>
            <a:off x="9098280" y="329184"/>
            <a:ext cx="2514600" cy="475488"/>
          </a:xfrm>
          <a:prstGeom prst="rect">
            <a:avLst/>
          </a:prstGeom>
          <a:noFill/>
          <a:ln/>
        </p:spPr>
        <p:txBody>
          <a:bodyPr wrap="square" lIns="0" tIns="0" rIns="0" bIns="0" rtlCol="0" anchor="ctr"/>
          <a:lstStyle/>
          <a:p>
            <a:pPr marL="0" indent="0">
              <a:buNone/>
            </a:pPr>
            <a:r>
              <a:rPr lang="en-US" sz="1100" b="1" dirty="0">
                <a:solidFill>
                  <a:srgbClr val="1B2A41"/>
                </a:solidFill>
                <a:latin typeface="Arial" pitchFamily="34" charset="0"/>
                <a:ea typeface="Arial" pitchFamily="34" charset="-122"/>
                <a:cs typeface="Arial" pitchFamily="34" charset="-120"/>
              </a:rPr>
              <a:t>Architecte + 2 devs</a:t>
            </a:r>
            <a:endParaRPr lang="en-US" sz="1100" dirty="0"/>
          </a:p>
          <a:p>
            <a:pPr marL="0" indent="0">
              <a:buNone/>
            </a:pPr>
            <a:r>
              <a:rPr lang="en-US" sz="950" dirty="0">
                <a:solidFill>
                  <a:srgbClr val="3A4A63"/>
                </a:solidFill>
                <a:latin typeface="Arial" pitchFamily="34" charset="0"/>
                <a:ea typeface="Arial" pitchFamily="34" charset="-122"/>
                <a:cs typeface="Arial" pitchFamily="34" charset="-120"/>
              </a:rPr>
              <a:t>Durée totale : 31–33 semaines</a:t>
            </a:r>
            <a:endParaRPr lang="en-US" sz="1100" dirty="0"/>
          </a:p>
        </p:txBody>
      </p:sp>
      <p:sp>
        <p:nvSpPr>
          <p:cNvPr id="6" name="Text 4"/>
          <p:cNvSpPr/>
          <p:nvPr/>
        </p:nvSpPr>
        <p:spPr>
          <a:xfrm>
            <a:off x="457200" y="1371600"/>
            <a:ext cx="4572000" cy="201168"/>
          </a:xfrm>
          <a:prstGeom prst="rect">
            <a:avLst/>
          </a:prstGeom>
          <a:noFill/>
          <a:ln/>
        </p:spPr>
        <p:txBody>
          <a:bodyPr wrap="square" lIns="0" tIns="0" rIns="0" bIns="0" rtlCol="0" anchor="ctr"/>
          <a:lstStyle/>
          <a:p>
            <a:pPr marL="0" indent="0">
              <a:buNone/>
            </a:pPr>
            <a:r>
              <a:rPr lang="en-US" sz="950" b="1" kern="0" spc="100" dirty="0">
                <a:solidFill>
                  <a:srgbClr val="5B7091"/>
                </a:solidFill>
                <a:latin typeface="Arial" pitchFamily="34" charset="0"/>
                <a:ea typeface="Arial" pitchFamily="34" charset="-122"/>
                <a:cs typeface="Arial" pitchFamily="34" charset="-120"/>
              </a:rPr>
              <a:t>PHASE DATA ENGINEERING</a:t>
            </a:r>
            <a:endParaRPr lang="en-US" sz="950" dirty="0"/>
          </a:p>
        </p:txBody>
      </p:sp>
      <p:sp>
        <p:nvSpPr>
          <p:cNvPr id="7" name="Shape 5"/>
          <p:cNvSpPr/>
          <p:nvPr/>
        </p:nvSpPr>
        <p:spPr>
          <a:xfrm>
            <a:off x="457200" y="1627632"/>
            <a:ext cx="11277295" cy="2359152"/>
          </a:xfrm>
          <a:prstGeom prst="rect">
            <a:avLst/>
          </a:prstGeom>
          <a:solidFill>
            <a:srgbClr val="F6F7FB"/>
          </a:solidFill>
          <a:ln/>
        </p:spPr>
        <p:txBody>
          <a:bodyPr/>
          <a:lstStyle/>
          <a:p>
            <a:endParaRPr lang="fr-FR"/>
          </a:p>
        </p:txBody>
      </p:sp>
      <p:sp>
        <p:nvSpPr>
          <p:cNvPr id="8" name="Text 6"/>
          <p:cNvSpPr/>
          <p:nvPr/>
        </p:nvSpPr>
        <p:spPr>
          <a:xfrm>
            <a:off x="457200" y="1664208"/>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M0  </a:t>
            </a:r>
            <a:r>
              <a:rPr lang="en-US" sz="1050" dirty="0">
                <a:solidFill>
                  <a:srgbClr val="3A4A63"/>
                </a:solidFill>
                <a:latin typeface="Arial" pitchFamily="34" charset="0"/>
                <a:ea typeface="Arial" pitchFamily="34" charset="-122"/>
                <a:cs typeface="Arial" pitchFamily="34" charset="-120"/>
              </a:rPr>
              <a:t>Explorer &amp; Architecturer</a:t>
            </a:r>
            <a:endParaRPr lang="en-US" sz="1050" dirty="0"/>
          </a:p>
        </p:txBody>
      </p:sp>
      <p:sp>
        <p:nvSpPr>
          <p:cNvPr id="9" name="Shape 7"/>
          <p:cNvSpPr/>
          <p:nvPr/>
        </p:nvSpPr>
        <p:spPr>
          <a:xfrm>
            <a:off x="3017520" y="1719072"/>
            <a:ext cx="1465509" cy="292608"/>
          </a:xfrm>
          <a:prstGeom prst="roundRect">
            <a:avLst>
              <a:gd name="adj" fmla="val 14063"/>
            </a:avLst>
          </a:prstGeom>
          <a:solidFill>
            <a:srgbClr val="1E8A78"/>
          </a:solidFill>
          <a:ln/>
        </p:spPr>
        <p:txBody>
          <a:bodyPr/>
          <a:lstStyle/>
          <a:p>
            <a:endParaRPr lang="fr-FR"/>
          </a:p>
        </p:txBody>
      </p:sp>
      <p:sp>
        <p:nvSpPr>
          <p:cNvPr id="10" name="Shape 8"/>
          <p:cNvSpPr/>
          <p:nvPr/>
        </p:nvSpPr>
        <p:spPr>
          <a:xfrm>
            <a:off x="4483029" y="1719072"/>
            <a:ext cx="219822" cy="292608"/>
          </a:xfrm>
          <a:prstGeom prst="rect">
            <a:avLst/>
          </a:prstGeom>
          <a:solidFill>
            <a:srgbClr val="1E8A78">
              <a:alpha val="45000"/>
            </a:srgbClr>
          </a:solidFill>
          <a:ln/>
        </p:spPr>
        <p:txBody>
          <a:bodyPr/>
          <a:lstStyle/>
          <a:p>
            <a:endParaRPr lang="fr-FR"/>
          </a:p>
        </p:txBody>
      </p:sp>
      <p:sp>
        <p:nvSpPr>
          <p:cNvPr id="11" name="Text 9"/>
          <p:cNvSpPr/>
          <p:nvPr/>
        </p:nvSpPr>
        <p:spPr>
          <a:xfrm>
            <a:off x="3017520" y="1719072"/>
            <a:ext cx="1465509"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M0</a:t>
            </a:r>
            <a:endParaRPr lang="en-US" sz="900" dirty="0"/>
          </a:p>
        </p:txBody>
      </p:sp>
      <p:sp>
        <p:nvSpPr>
          <p:cNvPr id="12" name="Text 10"/>
          <p:cNvSpPr/>
          <p:nvPr/>
        </p:nvSpPr>
        <p:spPr>
          <a:xfrm>
            <a:off x="457200" y="2121408"/>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M1  </a:t>
            </a:r>
            <a:r>
              <a:rPr lang="en-US" sz="1050" dirty="0">
                <a:solidFill>
                  <a:srgbClr val="3A4A63"/>
                </a:solidFill>
                <a:latin typeface="Arial" pitchFamily="34" charset="0"/>
                <a:ea typeface="Arial" pitchFamily="34" charset="-122"/>
                <a:cs typeface="Arial" pitchFamily="34" charset="-120"/>
              </a:rPr>
              <a:t>Accélérer les Data Products</a:t>
            </a:r>
            <a:endParaRPr lang="en-US" sz="1050" dirty="0"/>
          </a:p>
        </p:txBody>
      </p:sp>
      <p:sp>
        <p:nvSpPr>
          <p:cNvPr id="13" name="Shape 11"/>
          <p:cNvSpPr/>
          <p:nvPr/>
        </p:nvSpPr>
        <p:spPr>
          <a:xfrm>
            <a:off x="4238793" y="2176272"/>
            <a:ext cx="1193383" cy="292608"/>
          </a:xfrm>
          <a:prstGeom prst="roundRect">
            <a:avLst>
              <a:gd name="adj" fmla="val 14063"/>
            </a:avLst>
          </a:prstGeom>
          <a:solidFill>
            <a:srgbClr val="D98E33"/>
          </a:solidFill>
          <a:ln/>
        </p:spPr>
        <p:txBody>
          <a:bodyPr/>
          <a:lstStyle/>
          <a:p>
            <a:endParaRPr lang="fr-FR"/>
          </a:p>
        </p:txBody>
      </p:sp>
      <p:sp>
        <p:nvSpPr>
          <p:cNvPr id="14" name="Shape 12"/>
          <p:cNvSpPr/>
          <p:nvPr/>
        </p:nvSpPr>
        <p:spPr>
          <a:xfrm>
            <a:off x="5432176" y="2176272"/>
            <a:ext cx="397764" cy="292608"/>
          </a:xfrm>
          <a:prstGeom prst="rect">
            <a:avLst/>
          </a:prstGeom>
          <a:solidFill>
            <a:srgbClr val="D98E33">
              <a:alpha val="45000"/>
            </a:srgbClr>
          </a:solidFill>
          <a:ln/>
        </p:spPr>
        <p:txBody>
          <a:bodyPr/>
          <a:lstStyle/>
          <a:p>
            <a:endParaRPr lang="fr-FR"/>
          </a:p>
        </p:txBody>
      </p:sp>
      <p:sp>
        <p:nvSpPr>
          <p:cNvPr id="15" name="Text 13"/>
          <p:cNvSpPr/>
          <p:nvPr/>
        </p:nvSpPr>
        <p:spPr>
          <a:xfrm>
            <a:off x="4238793" y="2176272"/>
            <a:ext cx="1193383"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M1</a:t>
            </a:r>
            <a:endParaRPr lang="en-US" sz="900" dirty="0"/>
          </a:p>
        </p:txBody>
      </p:sp>
      <p:sp>
        <p:nvSpPr>
          <p:cNvPr id="16" name="Text 14"/>
          <p:cNvSpPr/>
          <p:nvPr/>
        </p:nvSpPr>
        <p:spPr>
          <a:xfrm>
            <a:off x="457200" y="2578608"/>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M2  </a:t>
            </a:r>
            <a:r>
              <a:rPr lang="en-US" sz="1050" dirty="0">
                <a:solidFill>
                  <a:srgbClr val="3A4A63"/>
                </a:solidFill>
                <a:latin typeface="Arial" pitchFamily="34" charset="0"/>
                <a:ea typeface="Arial" pitchFamily="34" charset="-122"/>
                <a:cs typeface="Arial" pitchFamily="34" charset="-120"/>
              </a:rPr>
              <a:t>Industrialiser le Data Delivery</a:t>
            </a:r>
            <a:endParaRPr lang="en-US" sz="1050" dirty="0"/>
          </a:p>
        </p:txBody>
      </p:sp>
      <p:sp>
        <p:nvSpPr>
          <p:cNvPr id="17" name="Shape 15"/>
          <p:cNvSpPr/>
          <p:nvPr/>
        </p:nvSpPr>
        <p:spPr>
          <a:xfrm>
            <a:off x="5122743" y="2633472"/>
            <a:ext cx="1534272" cy="292608"/>
          </a:xfrm>
          <a:prstGeom prst="roundRect">
            <a:avLst>
              <a:gd name="adj" fmla="val 14063"/>
            </a:avLst>
          </a:prstGeom>
          <a:solidFill>
            <a:srgbClr val="5B7091"/>
          </a:solidFill>
          <a:ln/>
        </p:spPr>
        <p:txBody>
          <a:bodyPr/>
          <a:lstStyle/>
          <a:p>
            <a:endParaRPr lang="fr-FR"/>
          </a:p>
        </p:txBody>
      </p:sp>
      <p:sp>
        <p:nvSpPr>
          <p:cNvPr id="18" name="Shape 16"/>
          <p:cNvSpPr/>
          <p:nvPr/>
        </p:nvSpPr>
        <p:spPr>
          <a:xfrm>
            <a:off x="6657015" y="2633472"/>
            <a:ext cx="681868" cy="292608"/>
          </a:xfrm>
          <a:prstGeom prst="rect">
            <a:avLst/>
          </a:prstGeom>
          <a:solidFill>
            <a:srgbClr val="5B7091">
              <a:alpha val="45000"/>
            </a:srgbClr>
          </a:solidFill>
          <a:ln/>
        </p:spPr>
        <p:txBody>
          <a:bodyPr/>
          <a:lstStyle/>
          <a:p>
            <a:endParaRPr lang="fr-FR"/>
          </a:p>
        </p:txBody>
      </p:sp>
      <p:sp>
        <p:nvSpPr>
          <p:cNvPr id="19" name="Text 17"/>
          <p:cNvSpPr/>
          <p:nvPr/>
        </p:nvSpPr>
        <p:spPr>
          <a:xfrm>
            <a:off x="5122743" y="2633472"/>
            <a:ext cx="153427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M2</a:t>
            </a:r>
            <a:endParaRPr lang="en-US" sz="900" dirty="0"/>
          </a:p>
        </p:txBody>
      </p:sp>
      <p:sp>
        <p:nvSpPr>
          <p:cNvPr id="20" name="Text 18"/>
          <p:cNvSpPr/>
          <p:nvPr/>
        </p:nvSpPr>
        <p:spPr>
          <a:xfrm>
            <a:off x="457200" y="3035808"/>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M3  </a:t>
            </a:r>
            <a:r>
              <a:rPr lang="en-US" sz="1050" dirty="0">
                <a:solidFill>
                  <a:srgbClr val="3A4A63"/>
                </a:solidFill>
                <a:latin typeface="Arial" pitchFamily="34" charset="0"/>
                <a:ea typeface="Arial" pitchFamily="34" charset="-122"/>
                <a:cs typeface="Arial" pitchFamily="34" charset="-120"/>
              </a:rPr>
              <a:t>Fédérer &amp; Self-Servir</a:t>
            </a:r>
            <a:endParaRPr lang="en-US" sz="1050" dirty="0"/>
          </a:p>
        </p:txBody>
      </p:sp>
      <p:sp>
        <p:nvSpPr>
          <p:cNvPr id="21" name="Shape 19"/>
          <p:cNvSpPr/>
          <p:nvPr/>
        </p:nvSpPr>
        <p:spPr>
          <a:xfrm>
            <a:off x="6145591" y="3090672"/>
            <a:ext cx="1325971" cy="292608"/>
          </a:xfrm>
          <a:prstGeom prst="roundRect">
            <a:avLst>
              <a:gd name="adj" fmla="val 14063"/>
            </a:avLst>
          </a:prstGeom>
          <a:solidFill>
            <a:srgbClr val="5B7091"/>
          </a:solidFill>
          <a:ln/>
        </p:spPr>
        <p:txBody>
          <a:bodyPr/>
          <a:lstStyle/>
          <a:p>
            <a:endParaRPr lang="fr-FR"/>
          </a:p>
        </p:txBody>
      </p:sp>
      <p:sp>
        <p:nvSpPr>
          <p:cNvPr id="22" name="Shape 20"/>
          <p:cNvSpPr/>
          <p:nvPr/>
        </p:nvSpPr>
        <p:spPr>
          <a:xfrm>
            <a:off x="7471562" y="3090672"/>
            <a:ext cx="530352" cy="292608"/>
          </a:xfrm>
          <a:prstGeom prst="rect">
            <a:avLst/>
          </a:prstGeom>
          <a:solidFill>
            <a:srgbClr val="5B7091">
              <a:alpha val="45000"/>
            </a:srgbClr>
          </a:solidFill>
          <a:ln/>
        </p:spPr>
        <p:txBody>
          <a:bodyPr/>
          <a:lstStyle/>
          <a:p>
            <a:endParaRPr lang="fr-FR"/>
          </a:p>
        </p:txBody>
      </p:sp>
      <p:sp>
        <p:nvSpPr>
          <p:cNvPr id="23" name="Text 21"/>
          <p:cNvSpPr/>
          <p:nvPr/>
        </p:nvSpPr>
        <p:spPr>
          <a:xfrm>
            <a:off x="6145591" y="3090672"/>
            <a:ext cx="1325971"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M3</a:t>
            </a:r>
            <a:endParaRPr lang="en-US" sz="900" dirty="0"/>
          </a:p>
        </p:txBody>
      </p:sp>
      <p:sp>
        <p:nvSpPr>
          <p:cNvPr id="24" name="Text 22"/>
          <p:cNvSpPr/>
          <p:nvPr/>
        </p:nvSpPr>
        <p:spPr>
          <a:xfrm>
            <a:off x="457200" y="3493008"/>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M4  </a:t>
            </a:r>
            <a:r>
              <a:rPr lang="en-US" sz="1050" dirty="0">
                <a:solidFill>
                  <a:srgbClr val="3A4A63"/>
                </a:solidFill>
                <a:latin typeface="Arial" pitchFamily="34" charset="0"/>
                <a:ea typeface="Arial" pitchFamily="34" charset="-122"/>
                <a:cs typeface="Arial" pitchFamily="34" charset="-120"/>
              </a:rPr>
              <a:t>Servir la Data</a:t>
            </a:r>
            <a:endParaRPr lang="en-US" sz="1050" dirty="0"/>
          </a:p>
        </p:txBody>
      </p:sp>
      <p:sp>
        <p:nvSpPr>
          <p:cNvPr id="25" name="Shape 23"/>
          <p:cNvSpPr/>
          <p:nvPr/>
        </p:nvSpPr>
        <p:spPr>
          <a:xfrm>
            <a:off x="7117964" y="3547872"/>
            <a:ext cx="1150772" cy="292608"/>
          </a:xfrm>
          <a:prstGeom prst="roundRect">
            <a:avLst>
              <a:gd name="adj" fmla="val 14063"/>
            </a:avLst>
          </a:prstGeom>
          <a:solidFill>
            <a:srgbClr val="5B7091"/>
          </a:solidFill>
          <a:ln/>
        </p:spPr>
        <p:txBody>
          <a:bodyPr/>
          <a:lstStyle/>
          <a:p>
            <a:endParaRPr lang="fr-FR"/>
          </a:p>
        </p:txBody>
      </p:sp>
      <p:sp>
        <p:nvSpPr>
          <p:cNvPr id="26" name="Shape 24"/>
          <p:cNvSpPr/>
          <p:nvPr/>
        </p:nvSpPr>
        <p:spPr>
          <a:xfrm>
            <a:off x="8268736" y="3547872"/>
            <a:ext cx="383591" cy="292608"/>
          </a:xfrm>
          <a:prstGeom prst="rect">
            <a:avLst/>
          </a:prstGeom>
          <a:solidFill>
            <a:srgbClr val="5B7091">
              <a:alpha val="45000"/>
            </a:srgbClr>
          </a:solidFill>
          <a:ln/>
        </p:spPr>
        <p:txBody>
          <a:bodyPr/>
          <a:lstStyle/>
          <a:p>
            <a:endParaRPr lang="fr-FR"/>
          </a:p>
        </p:txBody>
      </p:sp>
      <p:sp>
        <p:nvSpPr>
          <p:cNvPr id="27" name="Text 25"/>
          <p:cNvSpPr/>
          <p:nvPr/>
        </p:nvSpPr>
        <p:spPr>
          <a:xfrm>
            <a:off x="7117964" y="3547872"/>
            <a:ext cx="115077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M4</a:t>
            </a:r>
            <a:endParaRPr lang="en-US" sz="900" dirty="0"/>
          </a:p>
        </p:txBody>
      </p:sp>
      <p:sp>
        <p:nvSpPr>
          <p:cNvPr id="28" name="Text 26"/>
          <p:cNvSpPr/>
          <p:nvPr/>
        </p:nvSpPr>
        <p:spPr>
          <a:xfrm>
            <a:off x="457200" y="4096512"/>
            <a:ext cx="4572000" cy="201168"/>
          </a:xfrm>
          <a:prstGeom prst="rect">
            <a:avLst/>
          </a:prstGeom>
          <a:noFill/>
          <a:ln/>
        </p:spPr>
        <p:txBody>
          <a:bodyPr wrap="square" lIns="0" tIns="0" rIns="0" bIns="0" rtlCol="0" anchor="ctr"/>
          <a:lstStyle/>
          <a:p>
            <a:pPr marL="0" indent="0">
              <a:buNone/>
            </a:pPr>
            <a:r>
              <a:rPr lang="en-US" sz="950" b="1" kern="0" spc="100" dirty="0">
                <a:solidFill>
                  <a:srgbClr val="4A4E8F"/>
                </a:solidFill>
                <a:latin typeface="Arial" pitchFamily="34" charset="0"/>
                <a:ea typeface="Arial" pitchFamily="34" charset="-122"/>
                <a:cs typeface="Arial" pitchFamily="34" charset="-120"/>
              </a:rPr>
              <a:t>PHASE MACHINE LEARNING</a:t>
            </a:r>
            <a:endParaRPr lang="en-US" sz="950" dirty="0"/>
          </a:p>
        </p:txBody>
      </p:sp>
      <p:sp>
        <p:nvSpPr>
          <p:cNvPr id="29" name="Shape 27"/>
          <p:cNvSpPr/>
          <p:nvPr/>
        </p:nvSpPr>
        <p:spPr>
          <a:xfrm>
            <a:off x="457200" y="4352544"/>
            <a:ext cx="11277295" cy="987552"/>
          </a:xfrm>
          <a:prstGeom prst="rect">
            <a:avLst/>
          </a:prstGeom>
          <a:solidFill>
            <a:srgbClr val="EEF7F6"/>
          </a:solidFill>
          <a:ln/>
        </p:spPr>
        <p:txBody>
          <a:bodyPr/>
          <a:lstStyle/>
          <a:p>
            <a:endParaRPr lang="fr-FR"/>
          </a:p>
        </p:txBody>
      </p:sp>
      <p:sp>
        <p:nvSpPr>
          <p:cNvPr id="30" name="Text 28"/>
          <p:cNvSpPr/>
          <p:nvPr/>
        </p:nvSpPr>
        <p:spPr>
          <a:xfrm>
            <a:off x="457200" y="4389120"/>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M5  </a:t>
            </a:r>
            <a:r>
              <a:rPr lang="en-US" sz="1050" dirty="0">
                <a:solidFill>
                  <a:srgbClr val="3A4A63"/>
                </a:solidFill>
                <a:latin typeface="Arial" pitchFamily="34" charset="0"/>
                <a:ea typeface="Arial" pitchFamily="34" charset="-122"/>
                <a:cs typeface="Arial" pitchFamily="34" charset="-120"/>
              </a:rPr>
              <a:t>Industrialiser les ML Products</a:t>
            </a:r>
            <a:endParaRPr lang="en-US" sz="1050" dirty="0"/>
          </a:p>
        </p:txBody>
      </p:sp>
      <p:sp>
        <p:nvSpPr>
          <p:cNvPr id="31" name="Shape 29"/>
          <p:cNvSpPr/>
          <p:nvPr/>
        </p:nvSpPr>
        <p:spPr>
          <a:xfrm>
            <a:off x="7544166" y="4443984"/>
            <a:ext cx="1640891" cy="292608"/>
          </a:xfrm>
          <a:prstGeom prst="roundRect">
            <a:avLst>
              <a:gd name="adj" fmla="val 14063"/>
            </a:avLst>
          </a:prstGeom>
          <a:solidFill>
            <a:srgbClr val="4A4E8F"/>
          </a:solidFill>
          <a:ln/>
        </p:spPr>
        <p:txBody>
          <a:bodyPr/>
          <a:lstStyle/>
          <a:p>
            <a:endParaRPr lang="fr-FR"/>
          </a:p>
        </p:txBody>
      </p:sp>
      <p:sp>
        <p:nvSpPr>
          <p:cNvPr id="32" name="Shape 30"/>
          <p:cNvSpPr/>
          <p:nvPr/>
        </p:nvSpPr>
        <p:spPr>
          <a:xfrm>
            <a:off x="9185057" y="4443984"/>
            <a:ext cx="729234" cy="292608"/>
          </a:xfrm>
          <a:prstGeom prst="rect">
            <a:avLst/>
          </a:prstGeom>
          <a:solidFill>
            <a:srgbClr val="4A4E8F">
              <a:alpha val="45000"/>
            </a:srgbClr>
          </a:solidFill>
          <a:ln/>
        </p:spPr>
        <p:txBody>
          <a:bodyPr/>
          <a:lstStyle/>
          <a:p>
            <a:endParaRPr lang="fr-FR"/>
          </a:p>
        </p:txBody>
      </p:sp>
      <p:sp>
        <p:nvSpPr>
          <p:cNvPr id="33" name="Text 31"/>
          <p:cNvSpPr/>
          <p:nvPr/>
        </p:nvSpPr>
        <p:spPr>
          <a:xfrm>
            <a:off x="7544166" y="4443984"/>
            <a:ext cx="1640891"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M5</a:t>
            </a:r>
            <a:endParaRPr lang="en-US" sz="900" dirty="0"/>
          </a:p>
        </p:txBody>
      </p:sp>
      <p:sp>
        <p:nvSpPr>
          <p:cNvPr id="34" name="Text 32"/>
          <p:cNvSpPr/>
          <p:nvPr/>
        </p:nvSpPr>
        <p:spPr>
          <a:xfrm>
            <a:off x="457200" y="4846320"/>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M6  </a:t>
            </a:r>
            <a:r>
              <a:rPr lang="en-US" sz="1050" dirty="0">
                <a:solidFill>
                  <a:srgbClr val="3A4A63"/>
                </a:solidFill>
                <a:latin typeface="Arial" pitchFamily="34" charset="0"/>
                <a:ea typeface="Arial" pitchFamily="34" charset="-122"/>
                <a:cs typeface="Arial" pitchFamily="34" charset="-120"/>
              </a:rPr>
              <a:t>Servir &amp; Opérer les modèles</a:t>
            </a:r>
            <a:endParaRPr lang="en-US" sz="1050" dirty="0"/>
          </a:p>
        </p:txBody>
      </p:sp>
      <p:sp>
        <p:nvSpPr>
          <p:cNvPr id="35" name="Shape 33"/>
          <p:cNvSpPr/>
          <p:nvPr/>
        </p:nvSpPr>
        <p:spPr>
          <a:xfrm>
            <a:off x="9002725" y="4901184"/>
            <a:ext cx="1591147" cy="292608"/>
          </a:xfrm>
          <a:prstGeom prst="roundRect">
            <a:avLst>
              <a:gd name="adj" fmla="val 14063"/>
            </a:avLst>
          </a:prstGeom>
          <a:solidFill>
            <a:srgbClr val="4A4E8F"/>
          </a:solidFill>
          <a:ln/>
        </p:spPr>
        <p:txBody>
          <a:bodyPr/>
          <a:lstStyle/>
          <a:p>
            <a:endParaRPr lang="fr-FR"/>
          </a:p>
        </p:txBody>
      </p:sp>
      <p:sp>
        <p:nvSpPr>
          <p:cNvPr id="36" name="Shape 34"/>
          <p:cNvSpPr/>
          <p:nvPr/>
        </p:nvSpPr>
        <p:spPr>
          <a:xfrm>
            <a:off x="10593873" y="4901184"/>
            <a:ext cx="618774" cy="292608"/>
          </a:xfrm>
          <a:prstGeom prst="rect">
            <a:avLst/>
          </a:prstGeom>
          <a:solidFill>
            <a:srgbClr val="4A4E8F">
              <a:alpha val="45000"/>
            </a:srgbClr>
          </a:solidFill>
          <a:ln/>
        </p:spPr>
        <p:txBody>
          <a:bodyPr/>
          <a:lstStyle/>
          <a:p>
            <a:endParaRPr lang="fr-FR"/>
          </a:p>
        </p:txBody>
      </p:sp>
      <p:sp>
        <p:nvSpPr>
          <p:cNvPr id="37" name="Text 35"/>
          <p:cNvSpPr/>
          <p:nvPr/>
        </p:nvSpPr>
        <p:spPr>
          <a:xfrm>
            <a:off x="9002725" y="4901184"/>
            <a:ext cx="1591147"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M6</a:t>
            </a:r>
            <a:endParaRPr lang="en-US" sz="900" dirty="0"/>
          </a:p>
        </p:txBody>
      </p:sp>
      <p:sp>
        <p:nvSpPr>
          <p:cNvPr id="38" name="Shape 36"/>
          <p:cNvSpPr/>
          <p:nvPr/>
        </p:nvSpPr>
        <p:spPr>
          <a:xfrm>
            <a:off x="3017520" y="5504688"/>
            <a:ext cx="8686800" cy="0"/>
          </a:xfrm>
          <a:prstGeom prst="line">
            <a:avLst/>
          </a:prstGeom>
          <a:noFill/>
          <a:ln w="12700">
            <a:solidFill>
              <a:srgbClr val="E4E7EC"/>
            </a:solidFill>
            <a:prstDash val="solid"/>
          </a:ln>
        </p:spPr>
        <p:txBody>
          <a:bodyPr/>
          <a:lstStyle/>
          <a:p>
            <a:endParaRPr lang="fr-FR"/>
          </a:p>
        </p:txBody>
      </p:sp>
      <p:sp>
        <p:nvSpPr>
          <p:cNvPr id="39" name="Text 37"/>
          <p:cNvSpPr/>
          <p:nvPr/>
        </p:nvSpPr>
        <p:spPr>
          <a:xfrm>
            <a:off x="2852928"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S0</a:t>
            </a:r>
            <a:endParaRPr lang="en-US" sz="750" dirty="0"/>
          </a:p>
        </p:txBody>
      </p:sp>
      <p:sp>
        <p:nvSpPr>
          <p:cNvPr id="40" name="Text 38"/>
          <p:cNvSpPr/>
          <p:nvPr/>
        </p:nvSpPr>
        <p:spPr>
          <a:xfrm>
            <a:off x="3847429"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S4</a:t>
            </a:r>
            <a:endParaRPr lang="en-US" sz="750" dirty="0"/>
          </a:p>
        </p:txBody>
      </p:sp>
      <p:sp>
        <p:nvSpPr>
          <p:cNvPr id="41" name="Text 39"/>
          <p:cNvSpPr/>
          <p:nvPr/>
        </p:nvSpPr>
        <p:spPr>
          <a:xfrm>
            <a:off x="4841839"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S8</a:t>
            </a:r>
            <a:endParaRPr lang="en-US" sz="750" dirty="0"/>
          </a:p>
        </p:txBody>
      </p:sp>
      <p:sp>
        <p:nvSpPr>
          <p:cNvPr id="42" name="Text 40"/>
          <p:cNvSpPr/>
          <p:nvPr/>
        </p:nvSpPr>
        <p:spPr>
          <a:xfrm>
            <a:off x="5836341"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S12</a:t>
            </a:r>
            <a:endParaRPr lang="en-US" sz="750" dirty="0"/>
          </a:p>
        </p:txBody>
      </p:sp>
      <p:sp>
        <p:nvSpPr>
          <p:cNvPr id="43" name="Text 41"/>
          <p:cNvSpPr/>
          <p:nvPr/>
        </p:nvSpPr>
        <p:spPr>
          <a:xfrm>
            <a:off x="6830751"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S16</a:t>
            </a:r>
            <a:endParaRPr lang="en-US" sz="750" dirty="0"/>
          </a:p>
        </p:txBody>
      </p:sp>
      <p:sp>
        <p:nvSpPr>
          <p:cNvPr id="44" name="Text 42"/>
          <p:cNvSpPr/>
          <p:nvPr/>
        </p:nvSpPr>
        <p:spPr>
          <a:xfrm>
            <a:off x="7825252"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S20</a:t>
            </a:r>
            <a:endParaRPr lang="en-US" sz="750" dirty="0"/>
          </a:p>
        </p:txBody>
      </p:sp>
      <p:sp>
        <p:nvSpPr>
          <p:cNvPr id="45" name="Text 43"/>
          <p:cNvSpPr/>
          <p:nvPr/>
        </p:nvSpPr>
        <p:spPr>
          <a:xfrm>
            <a:off x="8819662"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S24</a:t>
            </a:r>
            <a:endParaRPr lang="en-US" sz="750" dirty="0"/>
          </a:p>
        </p:txBody>
      </p:sp>
      <p:sp>
        <p:nvSpPr>
          <p:cNvPr id="46" name="Text 44"/>
          <p:cNvSpPr/>
          <p:nvPr/>
        </p:nvSpPr>
        <p:spPr>
          <a:xfrm>
            <a:off x="9814164"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S28</a:t>
            </a:r>
            <a:endParaRPr lang="en-US" sz="750" dirty="0"/>
          </a:p>
        </p:txBody>
      </p:sp>
      <p:sp>
        <p:nvSpPr>
          <p:cNvPr id="47" name="Text 45"/>
          <p:cNvSpPr/>
          <p:nvPr/>
        </p:nvSpPr>
        <p:spPr>
          <a:xfrm>
            <a:off x="10808574"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S32</a:t>
            </a:r>
            <a:endParaRPr lang="en-US" sz="750" dirty="0"/>
          </a:p>
        </p:txBody>
      </p:sp>
      <p:sp>
        <p:nvSpPr>
          <p:cNvPr id="48" name="Shape 46"/>
          <p:cNvSpPr/>
          <p:nvPr/>
        </p:nvSpPr>
        <p:spPr>
          <a:xfrm>
            <a:off x="457200" y="5907024"/>
            <a:ext cx="128016" cy="128016"/>
          </a:xfrm>
          <a:prstGeom prst="roundRect">
            <a:avLst>
              <a:gd name="adj" fmla="val 21429"/>
            </a:avLst>
          </a:prstGeom>
          <a:solidFill>
            <a:srgbClr val="1E8A78"/>
          </a:solidFill>
          <a:ln/>
        </p:spPr>
        <p:txBody>
          <a:bodyPr/>
          <a:lstStyle/>
          <a:p>
            <a:endParaRPr lang="fr-FR"/>
          </a:p>
        </p:txBody>
      </p:sp>
      <p:sp>
        <p:nvSpPr>
          <p:cNvPr id="49" name="Text 47"/>
          <p:cNvSpPr/>
          <p:nvPr/>
        </p:nvSpPr>
        <p:spPr>
          <a:xfrm>
            <a:off x="640080" y="5861304"/>
            <a:ext cx="2377440" cy="219456"/>
          </a:xfrm>
          <a:prstGeom prst="rect">
            <a:avLst/>
          </a:prstGeom>
          <a:noFill/>
          <a:ln/>
        </p:spPr>
        <p:txBody>
          <a:bodyPr wrap="square" lIns="0" tIns="0" rIns="0" bIns="0" rtlCol="0" anchor="ctr"/>
          <a:lstStyle/>
          <a:p>
            <a:pPr marL="0" indent="0">
              <a:buNone/>
            </a:pPr>
            <a:r>
              <a:rPr lang="en-US" sz="950" dirty="0">
                <a:solidFill>
                  <a:srgbClr val="3A4A63"/>
                </a:solidFill>
                <a:latin typeface="Arial" pitchFamily="34" charset="0"/>
                <a:ea typeface="Arial" pitchFamily="34" charset="-122"/>
                <a:cs typeface="Arial" pitchFamily="34" charset="-120"/>
              </a:rPr>
              <a:t>Fait</a:t>
            </a:r>
            <a:endParaRPr lang="en-US" sz="950" dirty="0"/>
          </a:p>
        </p:txBody>
      </p:sp>
      <p:sp>
        <p:nvSpPr>
          <p:cNvPr id="50" name="Shape 48"/>
          <p:cNvSpPr/>
          <p:nvPr/>
        </p:nvSpPr>
        <p:spPr>
          <a:xfrm>
            <a:off x="1241755" y="5907024"/>
            <a:ext cx="128016" cy="128016"/>
          </a:xfrm>
          <a:prstGeom prst="roundRect">
            <a:avLst>
              <a:gd name="adj" fmla="val 21429"/>
            </a:avLst>
          </a:prstGeom>
          <a:solidFill>
            <a:srgbClr val="D98E33"/>
          </a:solidFill>
          <a:ln/>
        </p:spPr>
        <p:txBody>
          <a:bodyPr/>
          <a:lstStyle/>
          <a:p>
            <a:endParaRPr lang="fr-FR"/>
          </a:p>
        </p:txBody>
      </p:sp>
      <p:sp>
        <p:nvSpPr>
          <p:cNvPr id="51" name="Text 49"/>
          <p:cNvSpPr/>
          <p:nvPr/>
        </p:nvSpPr>
        <p:spPr>
          <a:xfrm>
            <a:off x="1424635" y="5861304"/>
            <a:ext cx="2377440" cy="219456"/>
          </a:xfrm>
          <a:prstGeom prst="rect">
            <a:avLst/>
          </a:prstGeom>
          <a:noFill/>
          <a:ln/>
        </p:spPr>
        <p:txBody>
          <a:bodyPr wrap="square" lIns="0" tIns="0" rIns="0" bIns="0" rtlCol="0" anchor="ctr"/>
          <a:lstStyle/>
          <a:p>
            <a:pPr marL="0" indent="0">
              <a:buNone/>
            </a:pPr>
            <a:r>
              <a:rPr lang="en-US" sz="950" dirty="0">
                <a:solidFill>
                  <a:srgbClr val="3A4A63"/>
                </a:solidFill>
                <a:latin typeface="Arial" pitchFamily="34" charset="0"/>
                <a:ea typeface="Arial" pitchFamily="34" charset="-122"/>
                <a:cs typeface="Arial" pitchFamily="34" charset="-120"/>
              </a:rPr>
              <a:t>En cours</a:t>
            </a:r>
            <a:endParaRPr lang="en-US" sz="950" dirty="0"/>
          </a:p>
        </p:txBody>
      </p:sp>
      <p:sp>
        <p:nvSpPr>
          <p:cNvPr id="52" name="Shape 50"/>
          <p:cNvSpPr/>
          <p:nvPr/>
        </p:nvSpPr>
        <p:spPr>
          <a:xfrm>
            <a:off x="2289658" y="5907024"/>
            <a:ext cx="128016" cy="128016"/>
          </a:xfrm>
          <a:prstGeom prst="roundRect">
            <a:avLst>
              <a:gd name="adj" fmla="val 21429"/>
            </a:avLst>
          </a:prstGeom>
          <a:solidFill>
            <a:srgbClr val="5B7091"/>
          </a:solidFill>
          <a:ln/>
        </p:spPr>
        <p:txBody>
          <a:bodyPr/>
          <a:lstStyle/>
          <a:p>
            <a:endParaRPr lang="fr-FR"/>
          </a:p>
        </p:txBody>
      </p:sp>
      <p:sp>
        <p:nvSpPr>
          <p:cNvPr id="53" name="Text 51"/>
          <p:cNvSpPr/>
          <p:nvPr/>
        </p:nvSpPr>
        <p:spPr>
          <a:xfrm>
            <a:off x="2472538" y="5861304"/>
            <a:ext cx="2377440" cy="219456"/>
          </a:xfrm>
          <a:prstGeom prst="rect">
            <a:avLst/>
          </a:prstGeom>
          <a:noFill/>
          <a:ln/>
        </p:spPr>
        <p:txBody>
          <a:bodyPr wrap="square" lIns="0" tIns="0" rIns="0" bIns="0" rtlCol="0" anchor="ctr"/>
          <a:lstStyle/>
          <a:p>
            <a:pPr marL="0" indent="0">
              <a:buNone/>
            </a:pPr>
            <a:r>
              <a:rPr lang="en-US" sz="950" dirty="0">
                <a:solidFill>
                  <a:srgbClr val="3A4A63"/>
                </a:solidFill>
                <a:latin typeface="Arial" pitchFamily="34" charset="0"/>
                <a:ea typeface="Arial" pitchFamily="34" charset="-122"/>
                <a:cs typeface="Arial" pitchFamily="34" charset="-120"/>
              </a:rPr>
              <a:t>Planifié — Data Engineering</a:t>
            </a:r>
            <a:endParaRPr lang="en-US" sz="950" dirty="0"/>
          </a:p>
        </p:txBody>
      </p:sp>
      <p:sp>
        <p:nvSpPr>
          <p:cNvPr id="54" name="Shape 52"/>
          <p:cNvSpPr/>
          <p:nvPr/>
        </p:nvSpPr>
        <p:spPr>
          <a:xfrm>
            <a:off x="4588459" y="5907024"/>
            <a:ext cx="128016" cy="128016"/>
          </a:xfrm>
          <a:prstGeom prst="roundRect">
            <a:avLst>
              <a:gd name="adj" fmla="val 21429"/>
            </a:avLst>
          </a:prstGeom>
          <a:solidFill>
            <a:srgbClr val="4A4E8F"/>
          </a:solidFill>
          <a:ln/>
        </p:spPr>
        <p:txBody>
          <a:bodyPr/>
          <a:lstStyle/>
          <a:p>
            <a:endParaRPr lang="fr-FR"/>
          </a:p>
        </p:txBody>
      </p:sp>
      <p:sp>
        <p:nvSpPr>
          <p:cNvPr id="55" name="Text 53"/>
          <p:cNvSpPr/>
          <p:nvPr/>
        </p:nvSpPr>
        <p:spPr>
          <a:xfrm>
            <a:off x="4771339" y="5861304"/>
            <a:ext cx="2377440" cy="219456"/>
          </a:xfrm>
          <a:prstGeom prst="rect">
            <a:avLst/>
          </a:prstGeom>
          <a:noFill/>
          <a:ln/>
        </p:spPr>
        <p:txBody>
          <a:bodyPr wrap="square" lIns="0" tIns="0" rIns="0" bIns="0" rtlCol="0" anchor="ctr"/>
          <a:lstStyle/>
          <a:p>
            <a:pPr marL="0" indent="0">
              <a:buNone/>
            </a:pPr>
            <a:r>
              <a:rPr lang="en-US" sz="950" dirty="0">
                <a:solidFill>
                  <a:srgbClr val="3A4A63"/>
                </a:solidFill>
                <a:latin typeface="Arial" pitchFamily="34" charset="0"/>
                <a:ea typeface="Arial" pitchFamily="34" charset="-122"/>
                <a:cs typeface="Arial" pitchFamily="34" charset="-120"/>
              </a:rPr>
              <a:t>Planifié — ML</a:t>
            </a:r>
            <a:endParaRPr lang="en-US" sz="950" dirty="0"/>
          </a:p>
        </p:txBody>
      </p:sp>
      <p:sp>
        <p:nvSpPr>
          <p:cNvPr id="56" name="Shape 54"/>
          <p:cNvSpPr/>
          <p:nvPr/>
        </p:nvSpPr>
        <p:spPr>
          <a:xfrm>
            <a:off x="0" y="6355080"/>
            <a:ext cx="12191695" cy="502920"/>
          </a:xfrm>
          <a:prstGeom prst="rect">
            <a:avLst/>
          </a:prstGeom>
          <a:solidFill>
            <a:srgbClr val="1B2A41"/>
          </a:solidFill>
          <a:ln/>
        </p:spPr>
        <p:txBody>
          <a:bodyPr/>
          <a:lstStyle/>
          <a:p>
            <a:endParaRPr lang="fr-FR"/>
          </a:p>
        </p:txBody>
      </p:sp>
      <p:sp>
        <p:nvSpPr>
          <p:cNvPr id="57" name="Text 55"/>
          <p:cNvSpPr/>
          <p:nvPr/>
        </p:nvSpPr>
        <p:spPr>
          <a:xfrm>
            <a:off x="457200" y="6355080"/>
            <a:ext cx="11277295" cy="502920"/>
          </a:xfrm>
          <a:prstGeom prst="rect">
            <a:avLst/>
          </a:prstGeom>
          <a:noFill/>
          <a:ln/>
        </p:spPr>
        <p:txBody>
          <a:bodyPr wrap="square" lIns="0" tIns="0" rIns="0" bIns="0" rtlCol="0" anchor="ctr"/>
          <a:lstStyle/>
          <a:p>
            <a:pPr marL="0" indent="0" algn="ctr">
              <a:buNone/>
            </a:pPr>
            <a:r>
              <a:rPr lang="en-US" sz="1050" i="1" dirty="0">
                <a:solidFill>
                  <a:srgbClr val="FFFFFF"/>
                </a:solidFill>
                <a:latin typeface="Arial" pitchFamily="34" charset="0"/>
                <a:ea typeface="Arial" pitchFamily="34" charset="-122"/>
                <a:cs typeface="Arial" pitchFamily="34" charset="-120"/>
              </a:rPr>
              <a:t>Scénario — Architecte + 2 devs · programme total estimé : 31–33 semaines.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2200" b="1" dirty="0">
                <a:solidFill>
                  <a:srgbClr val="1B2A41"/>
                </a:solidFill>
                <a:latin typeface="Arial" pitchFamily="34" charset="0"/>
                <a:ea typeface="Arial" pitchFamily="34" charset="-122"/>
                <a:cs typeface="Arial" pitchFamily="34" charset="-120"/>
              </a:rPr>
              <a:t>Planning indicatif — Data Engineering vs ML</a:t>
            </a:r>
            <a:endParaRPr lang="en-US" sz="2200" dirty="0"/>
          </a:p>
        </p:txBody>
      </p:sp>
      <p:sp>
        <p:nvSpPr>
          <p:cNvPr id="3" name="Text 1"/>
          <p:cNvSpPr/>
          <p:nvPr/>
        </p:nvSpPr>
        <p:spPr>
          <a:xfrm>
            <a:off x="457200" y="731520"/>
            <a:ext cx="8229600" cy="457200"/>
          </a:xfrm>
          <a:prstGeom prst="rect">
            <a:avLst/>
          </a:prstGeom>
          <a:noFill/>
          <a:ln/>
        </p:spPr>
        <p:txBody>
          <a:bodyPr wrap="square" lIns="0" tIns="0" rIns="0" bIns="0" rtlCol="0" anchor="ctr"/>
          <a:lstStyle/>
          <a:p>
            <a:pPr marL="0" indent="0">
              <a:buNone/>
            </a:pPr>
            <a:r>
              <a:rPr lang="en-US" sz="1100" i="1" dirty="0">
                <a:solidFill>
                  <a:srgbClr val="3A4A63"/>
                </a:solidFill>
                <a:latin typeface="Arial" pitchFamily="34" charset="0"/>
                <a:ea typeface="Arial" pitchFamily="34" charset="-122"/>
                <a:cs typeface="Arial" pitchFamily="34" charset="-120"/>
              </a:rPr>
              <a:t>Scénario : Architecte + 3 devs (4 personnes au total, R=4). Les phases se chevauchent lorsque les dépendances techniques le permettent.</a:t>
            </a:r>
            <a:endParaRPr lang="en-US" sz="1100" dirty="0"/>
          </a:p>
        </p:txBody>
      </p:sp>
      <p:sp>
        <p:nvSpPr>
          <p:cNvPr id="4" name="Shape 2"/>
          <p:cNvSpPr/>
          <p:nvPr/>
        </p:nvSpPr>
        <p:spPr>
          <a:xfrm>
            <a:off x="8961120" y="274320"/>
            <a:ext cx="2770632" cy="566928"/>
          </a:xfrm>
          <a:prstGeom prst="roundRect">
            <a:avLst>
              <a:gd name="adj" fmla="val 12903"/>
            </a:avLst>
          </a:prstGeom>
          <a:solidFill>
            <a:srgbClr val="FFFFFF"/>
          </a:solidFill>
          <a:ln w="12700">
            <a:solidFill>
              <a:srgbClr val="E4E7EC"/>
            </a:solidFill>
            <a:prstDash val="solid"/>
          </a:ln>
        </p:spPr>
        <p:txBody>
          <a:bodyPr/>
          <a:lstStyle/>
          <a:p>
            <a:endParaRPr lang="fr-FR"/>
          </a:p>
        </p:txBody>
      </p:sp>
      <p:sp>
        <p:nvSpPr>
          <p:cNvPr id="5" name="Text 3"/>
          <p:cNvSpPr/>
          <p:nvPr/>
        </p:nvSpPr>
        <p:spPr>
          <a:xfrm>
            <a:off x="9098280" y="329184"/>
            <a:ext cx="2514600" cy="475488"/>
          </a:xfrm>
          <a:prstGeom prst="rect">
            <a:avLst/>
          </a:prstGeom>
          <a:noFill/>
          <a:ln/>
        </p:spPr>
        <p:txBody>
          <a:bodyPr wrap="square" lIns="0" tIns="0" rIns="0" bIns="0" rtlCol="0" anchor="ctr"/>
          <a:lstStyle/>
          <a:p>
            <a:pPr marL="0" indent="0">
              <a:buNone/>
            </a:pPr>
            <a:r>
              <a:rPr lang="en-US" sz="1100" b="1" dirty="0">
                <a:solidFill>
                  <a:srgbClr val="1B2A41"/>
                </a:solidFill>
                <a:latin typeface="Arial" pitchFamily="34" charset="0"/>
                <a:ea typeface="Arial" pitchFamily="34" charset="-122"/>
                <a:cs typeface="Arial" pitchFamily="34" charset="-120"/>
              </a:rPr>
              <a:t>Architecte + 3 devs</a:t>
            </a:r>
            <a:endParaRPr lang="en-US" sz="1100" dirty="0"/>
          </a:p>
          <a:p>
            <a:pPr marL="0" indent="0">
              <a:buNone/>
            </a:pPr>
            <a:r>
              <a:rPr lang="en-US" sz="950" dirty="0">
                <a:solidFill>
                  <a:srgbClr val="3A4A63"/>
                </a:solidFill>
                <a:latin typeface="Arial" pitchFamily="34" charset="0"/>
                <a:ea typeface="Arial" pitchFamily="34" charset="-122"/>
                <a:cs typeface="Arial" pitchFamily="34" charset="-120"/>
              </a:rPr>
              <a:t>Durée totale : 28–30 semaines</a:t>
            </a:r>
            <a:endParaRPr lang="en-US" sz="1100" dirty="0"/>
          </a:p>
        </p:txBody>
      </p:sp>
      <p:sp>
        <p:nvSpPr>
          <p:cNvPr id="6" name="Text 4"/>
          <p:cNvSpPr/>
          <p:nvPr/>
        </p:nvSpPr>
        <p:spPr>
          <a:xfrm>
            <a:off x="457200" y="1371600"/>
            <a:ext cx="4572000" cy="201168"/>
          </a:xfrm>
          <a:prstGeom prst="rect">
            <a:avLst/>
          </a:prstGeom>
          <a:noFill/>
          <a:ln/>
        </p:spPr>
        <p:txBody>
          <a:bodyPr wrap="square" lIns="0" tIns="0" rIns="0" bIns="0" rtlCol="0" anchor="ctr"/>
          <a:lstStyle/>
          <a:p>
            <a:pPr marL="0" indent="0">
              <a:buNone/>
            </a:pPr>
            <a:r>
              <a:rPr lang="en-US" sz="950" b="1" kern="0" spc="100" dirty="0">
                <a:solidFill>
                  <a:srgbClr val="5B7091"/>
                </a:solidFill>
                <a:latin typeface="Arial" pitchFamily="34" charset="0"/>
                <a:ea typeface="Arial" pitchFamily="34" charset="-122"/>
                <a:cs typeface="Arial" pitchFamily="34" charset="-120"/>
              </a:rPr>
              <a:t>PHASE DATA ENGINEERING</a:t>
            </a:r>
            <a:endParaRPr lang="en-US" sz="950" dirty="0"/>
          </a:p>
        </p:txBody>
      </p:sp>
      <p:sp>
        <p:nvSpPr>
          <p:cNvPr id="7" name="Shape 5"/>
          <p:cNvSpPr/>
          <p:nvPr/>
        </p:nvSpPr>
        <p:spPr>
          <a:xfrm>
            <a:off x="457200" y="1627632"/>
            <a:ext cx="11277295" cy="2359152"/>
          </a:xfrm>
          <a:prstGeom prst="rect">
            <a:avLst/>
          </a:prstGeom>
          <a:solidFill>
            <a:srgbClr val="F6F7FB"/>
          </a:solidFill>
          <a:ln/>
        </p:spPr>
        <p:txBody>
          <a:bodyPr/>
          <a:lstStyle/>
          <a:p>
            <a:endParaRPr lang="fr-FR"/>
          </a:p>
        </p:txBody>
      </p:sp>
      <p:sp>
        <p:nvSpPr>
          <p:cNvPr id="8" name="Text 6"/>
          <p:cNvSpPr/>
          <p:nvPr/>
        </p:nvSpPr>
        <p:spPr>
          <a:xfrm>
            <a:off x="457200" y="1664208"/>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M0  </a:t>
            </a:r>
            <a:r>
              <a:rPr lang="en-US" sz="1050" dirty="0">
                <a:solidFill>
                  <a:srgbClr val="3A4A63"/>
                </a:solidFill>
                <a:latin typeface="Arial" pitchFamily="34" charset="0"/>
                <a:ea typeface="Arial" pitchFamily="34" charset="-122"/>
                <a:cs typeface="Arial" pitchFamily="34" charset="-120"/>
              </a:rPr>
              <a:t>Explorer &amp; Architecturer</a:t>
            </a:r>
            <a:endParaRPr lang="en-US" sz="1050" dirty="0"/>
          </a:p>
        </p:txBody>
      </p:sp>
      <p:sp>
        <p:nvSpPr>
          <p:cNvPr id="9" name="Shape 7"/>
          <p:cNvSpPr/>
          <p:nvPr/>
        </p:nvSpPr>
        <p:spPr>
          <a:xfrm>
            <a:off x="3017520" y="1719072"/>
            <a:ext cx="1608430" cy="292608"/>
          </a:xfrm>
          <a:prstGeom prst="roundRect">
            <a:avLst>
              <a:gd name="adj" fmla="val 14063"/>
            </a:avLst>
          </a:prstGeom>
          <a:solidFill>
            <a:srgbClr val="1E8A78"/>
          </a:solidFill>
          <a:ln/>
        </p:spPr>
        <p:txBody>
          <a:bodyPr/>
          <a:lstStyle/>
          <a:p>
            <a:endParaRPr lang="fr-FR"/>
          </a:p>
        </p:txBody>
      </p:sp>
      <p:sp>
        <p:nvSpPr>
          <p:cNvPr id="10" name="Shape 8"/>
          <p:cNvSpPr/>
          <p:nvPr/>
        </p:nvSpPr>
        <p:spPr>
          <a:xfrm>
            <a:off x="4625950" y="1719072"/>
            <a:ext cx="241310" cy="292608"/>
          </a:xfrm>
          <a:prstGeom prst="rect">
            <a:avLst/>
          </a:prstGeom>
          <a:solidFill>
            <a:srgbClr val="1E8A78">
              <a:alpha val="45000"/>
            </a:srgbClr>
          </a:solidFill>
          <a:ln/>
        </p:spPr>
        <p:txBody>
          <a:bodyPr/>
          <a:lstStyle/>
          <a:p>
            <a:endParaRPr lang="fr-FR"/>
          </a:p>
        </p:txBody>
      </p:sp>
      <p:sp>
        <p:nvSpPr>
          <p:cNvPr id="11" name="Text 9"/>
          <p:cNvSpPr/>
          <p:nvPr/>
        </p:nvSpPr>
        <p:spPr>
          <a:xfrm>
            <a:off x="3017520" y="1719072"/>
            <a:ext cx="160843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M0</a:t>
            </a:r>
            <a:endParaRPr lang="en-US" sz="900" dirty="0"/>
          </a:p>
        </p:txBody>
      </p:sp>
      <p:sp>
        <p:nvSpPr>
          <p:cNvPr id="12" name="Text 10"/>
          <p:cNvSpPr/>
          <p:nvPr/>
        </p:nvSpPr>
        <p:spPr>
          <a:xfrm>
            <a:off x="457200" y="2121408"/>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M1  </a:t>
            </a:r>
            <a:r>
              <a:rPr lang="en-US" sz="1050" dirty="0">
                <a:solidFill>
                  <a:srgbClr val="3A4A63"/>
                </a:solidFill>
                <a:latin typeface="Arial" pitchFamily="34" charset="0"/>
                <a:ea typeface="Arial" pitchFamily="34" charset="-122"/>
                <a:cs typeface="Arial" pitchFamily="34" charset="-120"/>
              </a:rPr>
              <a:t>Accélérer les Data Products</a:t>
            </a:r>
            <a:endParaRPr lang="en-US" sz="1050" dirty="0"/>
          </a:p>
        </p:txBody>
      </p:sp>
      <p:sp>
        <p:nvSpPr>
          <p:cNvPr id="13" name="Shape 11"/>
          <p:cNvSpPr/>
          <p:nvPr/>
        </p:nvSpPr>
        <p:spPr>
          <a:xfrm>
            <a:off x="4324380" y="2176272"/>
            <a:ext cx="1238921" cy="292608"/>
          </a:xfrm>
          <a:prstGeom prst="roundRect">
            <a:avLst>
              <a:gd name="adj" fmla="val 14063"/>
            </a:avLst>
          </a:prstGeom>
          <a:solidFill>
            <a:srgbClr val="D98E33"/>
          </a:solidFill>
          <a:ln/>
        </p:spPr>
        <p:txBody>
          <a:bodyPr/>
          <a:lstStyle/>
          <a:p>
            <a:endParaRPr lang="fr-FR"/>
          </a:p>
        </p:txBody>
      </p:sp>
      <p:sp>
        <p:nvSpPr>
          <p:cNvPr id="14" name="Shape 12"/>
          <p:cNvSpPr/>
          <p:nvPr/>
        </p:nvSpPr>
        <p:spPr>
          <a:xfrm>
            <a:off x="5563301" y="2176272"/>
            <a:ext cx="412943" cy="292608"/>
          </a:xfrm>
          <a:prstGeom prst="rect">
            <a:avLst/>
          </a:prstGeom>
          <a:solidFill>
            <a:srgbClr val="D98E33">
              <a:alpha val="45000"/>
            </a:srgbClr>
          </a:solidFill>
          <a:ln/>
        </p:spPr>
        <p:txBody>
          <a:bodyPr/>
          <a:lstStyle/>
          <a:p>
            <a:endParaRPr lang="fr-FR"/>
          </a:p>
        </p:txBody>
      </p:sp>
      <p:sp>
        <p:nvSpPr>
          <p:cNvPr id="15" name="Text 13"/>
          <p:cNvSpPr/>
          <p:nvPr/>
        </p:nvSpPr>
        <p:spPr>
          <a:xfrm>
            <a:off x="4324380" y="2176272"/>
            <a:ext cx="1238921"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M1</a:t>
            </a:r>
            <a:endParaRPr lang="en-US" sz="900" dirty="0"/>
          </a:p>
        </p:txBody>
      </p:sp>
      <p:sp>
        <p:nvSpPr>
          <p:cNvPr id="16" name="Text 14"/>
          <p:cNvSpPr/>
          <p:nvPr/>
        </p:nvSpPr>
        <p:spPr>
          <a:xfrm>
            <a:off x="457200" y="2578608"/>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M2  </a:t>
            </a:r>
            <a:r>
              <a:rPr lang="en-US" sz="1050" dirty="0">
                <a:solidFill>
                  <a:srgbClr val="3A4A63"/>
                </a:solidFill>
                <a:latin typeface="Arial" pitchFamily="34" charset="0"/>
                <a:ea typeface="Arial" pitchFamily="34" charset="-122"/>
                <a:cs typeface="Arial" pitchFamily="34" charset="-120"/>
              </a:rPr>
              <a:t>Industrialiser le Data Delivery</a:t>
            </a:r>
            <a:endParaRPr lang="en-US" sz="1050" dirty="0"/>
          </a:p>
        </p:txBody>
      </p:sp>
      <p:sp>
        <p:nvSpPr>
          <p:cNvPr id="17" name="Shape 15"/>
          <p:cNvSpPr/>
          <p:nvPr/>
        </p:nvSpPr>
        <p:spPr>
          <a:xfrm>
            <a:off x="5184739" y="2633472"/>
            <a:ext cx="1557498" cy="292608"/>
          </a:xfrm>
          <a:prstGeom prst="roundRect">
            <a:avLst>
              <a:gd name="adj" fmla="val 14063"/>
            </a:avLst>
          </a:prstGeom>
          <a:solidFill>
            <a:srgbClr val="5B7091"/>
          </a:solidFill>
          <a:ln/>
        </p:spPr>
        <p:txBody>
          <a:bodyPr/>
          <a:lstStyle/>
          <a:p>
            <a:endParaRPr lang="fr-FR"/>
          </a:p>
        </p:txBody>
      </p:sp>
      <p:sp>
        <p:nvSpPr>
          <p:cNvPr id="18" name="Shape 16"/>
          <p:cNvSpPr/>
          <p:nvPr/>
        </p:nvSpPr>
        <p:spPr>
          <a:xfrm>
            <a:off x="6742237" y="2633472"/>
            <a:ext cx="692201" cy="292608"/>
          </a:xfrm>
          <a:prstGeom prst="rect">
            <a:avLst/>
          </a:prstGeom>
          <a:solidFill>
            <a:srgbClr val="5B7091">
              <a:alpha val="45000"/>
            </a:srgbClr>
          </a:solidFill>
          <a:ln/>
        </p:spPr>
        <p:txBody>
          <a:bodyPr/>
          <a:lstStyle/>
          <a:p>
            <a:endParaRPr lang="fr-FR"/>
          </a:p>
        </p:txBody>
      </p:sp>
      <p:sp>
        <p:nvSpPr>
          <p:cNvPr id="19" name="Text 17"/>
          <p:cNvSpPr/>
          <p:nvPr/>
        </p:nvSpPr>
        <p:spPr>
          <a:xfrm>
            <a:off x="5184739" y="2633472"/>
            <a:ext cx="155749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M2</a:t>
            </a:r>
            <a:endParaRPr lang="en-US" sz="900" dirty="0"/>
          </a:p>
        </p:txBody>
      </p:sp>
      <p:sp>
        <p:nvSpPr>
          <p:cNvPr id="20" name="Text 18"/>
          <p:cNvSpPr/>
          <p:nvPr/>
        </p:nvSpPr>
        <p:spPr>
          <a:xfrm>
            <a:off x="457200" y="3035808"/>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M3  </a:t>
            </a:r>
            <a:r>
              <a:rPr lang="en-US" sz="1050" dirty="0">
                <a:solidFill>
                  <a:srgbClr val="3A4A63"/>
                </a:solidFill>
                <a:latin typeface="Arial" pitchFamily="34" charset="0"/>
                <a:ea typeface="Arial" pitchFamily="34" charset="-122"/>
                <a:cs typeface="Arial" pitchFamily="34" charset="-120"/>
              </a:rPr>
              <a:t>Fédérer &amp; Self-Servir</a:t>
            </a:r>
            <a:endParaRPr lang="en-US" sz="1050" dirty="0"/>
          </a:p>
        </p:txBody>
      </p:sp>
      <p:sp>
        <p:nvSpPr>
          <p:cNvPr id="21" name="Shape 19"/>
          <p:cNvSpPr/>
          <p:nvPr/>
        </p:nvSpPr>
        <p:spPr>
          <a:xfrm>
            <a:off x="6136538" y="3090672"/>
            <a:ext cx="1376629" cy="292608"/>
          </a:xfrm>
          <a:prstGeom prst="roundRect">
            <a:avLst>
              <a:gd name="adj" fmla="val 14063"/>
            </a:avLst>
          </a:prstGeom>
          <a:solidFill>
            <a:srgbClr val="5B7091"/>
          </a:solidFill>
          <a:ln/>
        </p:spPr>
        <p:txBody>
          <a:bodyPr/>
          <a:lstStyle/>
          <a:p>
            <a:endParaRPr lang="fr-FR"/>
          </a:p>
        </p:txBody>
      </p:sp>
      <p:sp>
        <p:nvSpPr>
          <p:cNvPr id="22" name="Shape 20"/>
          <p:cNvSpPr/>
          <p:nvPr/>
        </p:nvSpPr>
        <p:spPr>
          <a:xfrm>
            <a:off x="7513168" y="3090672"/>
            <a:ext cx="550652" cy="292608"/>
          </a:xfrm>
          <a:prstGeom prst="rect">
            <a:avLst/>
          </a:prstGeom>
          <a:solidFill>
            <a:srgbClr val="5B7091">
              <a:alpha val="45000"/>
            </a:srgbClr>
          </a:solidFill>
          <a:ln/>
        </p:spPr>
        <p:txBody>
          <a:bodyPr/>
          <a:lstStyle/>
          <a:p>
            <a:endParaRPr lang="fr-FR"/>
          </a:p>
        </p:txBody>
      </p:sp>
      <p:sp>
        <p:nvSpPr>
          <p:cNvPr id="23" name="Text 21"/>
          <p:cNvSpPr/>
          <p:nvPr/>
        </p:nvSpPr>
        <p:spPr>
          <a:xfrm>
            <a:off x="6136538" y="3090672"/>
            <a:ext cx="1376629"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M3</a:t>
            </a:r>
            <a:endParaRPr lang="en-US" sz="900" dirty="0"/>
          </a:p>
        </p:txBody>
      </p:sp>
      <p:sp>
        <p:nvSpPr>
          <p:cNvPr id="24" name="Text 22"/>
          <p:cNvSpPr/>
          <p:nvPr/>
        </p:nvSpPr>
        <p:spPr>
          <a:xfrm>
            <a:off x="457200" y="3493008"/>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M4  </a:t>
            </a:r>
            <a:r>
              <a:rPr lang="en-US" sz="1050" dirty="0">
                <a:solidFill>
                  <a:srgbClr val="3A4A63"/>
                </a:solidFill>
                <a:latin typeface="Arial" pitchFamily="34" charset="0"/>
                <a:ea typeface="Arial" pitchFamily="34" charset="-122"/>
                <a:cs typeface="Arial" pitchFamily="34" charset="-120"/>
              </a:rPr>
              <a:t>Servir la Data</a:t>
            </a:r>
            <a:endParaRPr lang="en-US" sz="1050" dirty="0"/>
          </a:p>
        </p:txBody>
      </p:sp>
      <p:sp>
        <p:nvSpPr>
          <p:cNvPr id="25" name="Shape 23"/>
          <p:cNvSpPr/>
          <p:nvPr/>
        </p:nvSpPr>
        <p:spPr>
          <a:xfrm>
            <a:off x="7100225" y="3547872"/>
            <a:ext cx="1168146" cy="292608"/>
          </a:xfrm>
          <a:prstGeom prst="roundRect">
            <a:avLst>
              <a:gd name="adj" fmla="val 14063"/>
            </a:avLst>
          </a:prstGeom>
          <a:solidFill>
            <a:srgbClr val="5B7091"/>
          </a:solidFill>
          <a:ln/>
        </p:spPr>
        <p:txBody>
          <a:bodyPr/>
          <a:lstStyle/>
          <a:p>
            <a:endParaRPr lang="fr-FR"/>
          </a:p>
        </p:txBody>
      </p:sp>
      <p:sp>
        <p:nvSpPr>
          <p:cNvPr id="26" name="Shape 24"/>
          <p:cNvSpPr/>
          <p:nvPr/>
        </p:nvSpPr>
        <p:spPr>
          <a:xfrm>
            <a:off x="8268371" y="3547872"/>
            <a:ext cx="389352" cy="292608"/>
          </a:xfrm>
          <a:prstGeom prst="rect">
            <a:avLst/>
          </a:prstGeom>
          <a:solidFill>
            <a:srgbClr val="5B7091">
              <a:alpha val="45000"/>
            </a:srgbClr>
          </a:solidFill>
          <a:ln/>
        </p:spPr>
        <p:txBody>
          <a:bodyPr/>
          <a:lstStyle/>
          <a:p>
            <a:endParaRPr lang="fr-FR"/>
          </a:p>
        </p:txBody>
      </p:sp>
      <p:sp>
        <p:nvSpPr>
          <p:cNvPr id="27" name="Text 25"/>
          <p:cNvSpPr/>
          <p:nvPr/>
        </p:nvSpPr>
        <p:spPr>
          <a:xfrm>
            <a:off x="7100225" y="3547872"/>
            <a:ext cx="1168146"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M4</a:t>
            </a:r>
            <a:endParaRPr lang="en-US" sz="900" dirty="0"/>
          </a:p>
        </p:txBody>
      </p:sp>
      <p:sp>
        <p:nvSpPr>
          <p:cNvPr id="28" name="Text 26"/>
          <p:cNvSpPr/>
          <p:nvPr/>
        </p:nvSpPr>
        <p:spPr>
          <a:xfrm>
            <a:off x="457200" y="4096512"/>
            <a:ext cx="4572000" cy="201168"/>
          </a:xfrm>
          <a:prstGeom prst="rect">
            <a:avLst/>
          </a:prstGeom>
          <a:noFill/>
          <a:ln/>
        </p:spPr>
        <p:txBody>
          <a:bodyPr wrap="square" lIns="0" tIns="0" rIns="0" bIns="0" rtlCol="0" anchor="ctr"/>
          <a:lstStyle/>
          <a:p>
            <a:pPr marL="0" indent="0">
              <a:buNone/>
            </a:pPr>
            <a:r>
              <a:rPr lang="en-US" sz="950" b="1" kern="0" spc="100" dirty="0">
                <a:solidFill>
                  <a:srgbClr val="4A4E8F"/>
                </a:solidFill>
                <a:latin typeface="Arial" pitchFamily="34" charset="0"/>
                <a:ea typeface="Arial" pitchFamily="34" charset="-122"/>
                <a:cs typeface="Arial" pitchFamily="34" charset="-120"/>
              </a:rPr>
              <a:t>PHASE MACHINE LEARNING</a:t>
            </a:r>
            <a:endParaRPr lang="en-US" sz="950" dirty="0"/>
          </a:p>
        </p:txBody>
      </p:sp>
      <p:sp>
        <p:nvSpPr>
          <p:cNvPr id="29" name="Shape 27"/>
          <p:cNvSpPr/>
          <p:nvPr/>
        </p:nvSpPr>
        <p:spPr>
          <a:xfrm>
            <a:off x="457200" y="4352544"/>
            <a:ext cx="11277295" cy="987552"/>
          </a:xfrm>
          <a:prstGeom prst="rect">
            <a:avLst/>
          </a:prstGeom>
          <a:solidFill>
            <a:srgbClr val="EEF7F6"/>
          </a:solidFill>
          <a:ln/>
        </p:spPr>
        <p:txBody>
          <a:bodyPr/>
          <a:lstStyle/>
          <a:p>
            <a:endParaRPr lang="fr-FR"/>
          </a:p>
        </p:txBody>
      </p:sp>
      <p:sp>
        <p:nvSpPr>
          <p:cNvPr id="30" name="Text 28"/>
          <p:cNvSpPr/>
          <p:nvPr/>
        </p:nvSpPr>
        <p:spPr>
          <a:xfrm>
            <a:off x="457200" y="4389120"/>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M5  </a:t>
            </a:r>
            <a:r>
              <a:rPr lang="en-US" sz="1050" dirty="0">
                <a:solidFill>
                  <a:srgbClr val="3A4A63"/>
                </a:solidFill>
                <a:latin typeface="Arial" pitchFamily="34" charset="0"/>
                <a:ea typeface="Arial" pitchFamily="34" charset="-122"/>
                <a:cs typeface="Arial" pitchFamily="34" charset="-120"/>
              </a:rPr>
              <a:t>Industrialiser les ML Products</a:t>
            </a:r>
            <a:endParaRPr lang="en-US" sz="1050" dirty="0"/>
          </a:p>
        </p:txBody>
      </p:sp>
      <p:sp>
        <p:nvSpPr>
          <p:cNvPr id="31" name="Shape 29"/>
          <p:cNvSpPr/>
          <p:nvPr/>
        </p:nvSpPr>
        <p:spPr>
          <a:xfrm>
            <a:off x="7424654" y="4443984"/>
            <a:ext cx="1734525" cy="292608"/>
          </a:xfrm>
          <a:prstGeom prst="roundRect">
            <a:avLst>
              <a:gd name="adj" fmla="val 14063"/>
            </a:avLst>
          </a:prstGeom>
          <a:solidFill>
            <a:srgbClr val="4A4E8F"/>
          </a:solidFill>
          <a:ln/>
        </p:spPr>
        <p:txBody>
          <a:bodyPr/>
          <a:lstStyle/>
          <a:p>
            <a:endParaRPr lang="fr-FR"/>
          </a:p>
        </p:txBody>
      </p:sp>
      <p:sp>
        <p:nvSpPr>
          <p:cNvPr id="32" name="Shape 30"/>
          <p:cNvSpPr/>
          <p:nvPr/>
        </p:nvSpPr>
        <p:spPr>
          <a:xfrm>
            <a:off x="9159179" y="4443984"/>
            <a:ext cx="770931" cy="292608"/>
          </a:xfrm>
          <a:prstGeom prst="rect">
            <a:avLst/>
          </a:prstGeom>
          <a:solidFill>
            <a:srgbClr val="4A4E8F">
              <a:alpha val="45000"/>
            </a:srgbClr>
          </a:solidFill>
          <a:ln/>
        </p:spPr>
        <p:txBody>
          <a:bodyPr/>
          <a:lstStyle/>
          <a:p>
            <a:endParaRPr lang="fr-FR"/>
          </a:p>
        </p:txBody>
      </p:sp>
      <p:sp>
        <p:nvSpPr>
          <p:cNvPr id="33" name="Text 31"/>
          <p:cNvSpPr/>
          <p:nvPr/>
        </p:nvSpPr>
        <p:spPr>
          <a:xfrm>
            <a:off x="7424654" y="4443984"/>
            <a:ext cx="1734525"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M5</a:t>
            </a:r>
            <a:endParaRPr lang="en-US" sz="900" dirty="0"/>
          </a:p>
        </p:txBody>
      </p:sp>
      <p:sp>
        <p:nvSpPr>
          <p:cNvPr id="34" name="Text 32"/>
          <p:cNvSpPr/>
          <p:nvPr/>
        </p:nvSpPr>
        <p:spPr>
          <a:xfrm>
            <a:off x="457200" y="4846320"/>
            <a:ext cx="2377440" cy="402336"/>
          </a:xfrm>
          <a:prstGeom prst="rect">
            <a:avLst/>
          </a:prstGeom>
          <a:noFill/>
          <a:ln/>
        </p:spPr>
        <p:txBody>
          <a:bodyPr wrap="square" lIns="0" tIns="0" rIns="0" bIns="0" rtlCol="0" anchor="ctr"/>
          <a:lstStyle/>
          <a:p>
            <a:pPr marL="0" indent="0">
              <a:buNone/>
            </a:pPr>
            <a:r>
              <a:rPr lang="en-US" sz="1050" b="1" dirty="0">
                <a:solidFill>
                  <a:srgbClr val="1B2A41"/>
                </a:solidFill>
                <a:latin typeface="Arial" pitchFamily="34" charset="0"/>
                <a:ea typeface="Arial" pitchFamily="34" charset="-122"/>
                <a:cs typeface="Arial" pitchFamily="34" charset="-120"/>
              </a:rPr>
              <a:t>M6  </a:t>
            </a:r>
            <a:r>
              <a:rPr lang="en-US" sz="1050" dirty="0">
                <a:solidFill>
                  <a:srgbClr val="3A4A63"/>
                </a:solidFill>
                <a:latin typeface="Arial" pitchFamily="34" charset="0"/>
                <a:ea typeface="Arial" pitchFamily="34" charset="-122"/>
                <a:cs typeface="Arial" pitchFamily="34" charset="-120"/>
              </a:rPr>
              <a:t>Servir &amp; Opérer les modèles</a:t>
            </a:r>
            <a:endParaRPr lang="en-US" sz="1050" dirty="0"/>
          </a:p>
        </p:txBody>
      </p:sp>
      <p:sp>
        <p:nvSpPr>
          <p:cNvPr id="35" name="Shape 33"/>
          <p:cNvSpPr/>
          <p:nvPr/>
        </p:nvSpPr>
        <p:spPr>
          <a:xfrm>
            <a:off x="8918326" y="4901184"/>
            <a:ext cx="1651955" cy="292608"/>
          </a:xfrm>
          <a:prstGeom prst="roundRect">
            <a:avLst>
              <a:gd name="adj" fmla="val 14063"/>
            </a:avLst>
          </a:prstGeom>
          <a:solidFill>
            <a:srgbClr val="4A4E8F"/>
          </a:solidFill>
          <a:ln/>
        </p:spPr>
        <p:txBody>
          <a:bodyPr/>
          <a:lstStyle/>
          <a:p>
            <a:endParaRPr lang="fr-FR"/>
          </a:p>
        </p:txBody>
      </p:sp>
      <p:sp>
        <p:nvSpPr>
          <p:cNvPr id="36" name="Shape 34"/>
          <p:cNvSpPr/>
          <p:nvPr/>
        </p:nvSpPr>
        <p:spPr>
          <a:xfrm>
            <a:off x="10570281" y="4901184"/>
            <a:ext cx="642457" cy="292608"/>
          </a:xfrm>
          <a:prstGeom prst="rect">
            <a:avLst/>
          </a:prstGeom>
          <a:solidFill>
            <a:srgbClr val="4A4E8F">
              <a:alpha val="45000"/>
            </a:srgbClr>
          </a:solidFill>
          <a:ln/>
        </p:spPr>
        <p:txBody>
          <a:bodyPr/>
          <a:lstStyle/>
          <a:p>
            <a:endParaRPr lang="fr-FR"/>
          </a:p>
        </p:txBody>
      </p:sp>
      <p:sp>
        <p:nvSpPr>
          <p:cNvPr id="37" name="Text 35"/>
          <p:cNvSpPr/>
          <p:nvPr/>
        </p:nvSpPr>
        <p:spPr>
          <a:xfrm>
            <a:off x="8918326" y="4901184"/>
            <a:ext cx="1651955"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M6</a:t>
            </a:r>
            <a:endParaRPr lang="en-US" sz="900" dirty="0"/>
          </a:p>
        </p:txBody>
      </p:sp>
      <p:sp>
        <p:nvSpPr>
          <p:cNvPr id="38" name="Shape 36"/>
          <p:cNvSpPr/>
          <p:nvPr/>
        </p:nvSpPr>
        <p:spPr>
          <a:xfrm>
            <a:off x="3017520" y="5504688"/>
            <a:ext cx="8686800" cy="0"/>
          </a:xfrm>
          <a:prstGeom prst="line">
            <a:avLst/>
          </a:prstGeom>
          <a:noFill/>
          <a:ln w="12700">
            <a:solidFill>
              <a:srgbClr val="E4E7EC"/>
            </a:solidFill>
            <a:prstDash val="solid"/>
          </a:ln>
        </p:spPr>
        <p:txBody>
          <a:bodyPr/>
          <a:lstStyle/>
          <a:p>
            <a:endParaRPr lang="fr-FR"/>
          </a:p>
        </p:txBody>
      </p:sp>
      <p:sp>
        <p:nvSpPr>
          <p:cNvPr id="39" name="Text 37"/>
          <p:cNvSpPr/>
          <p:nvPr/>
        </p:nvSpPr>
        <p:spPr>
          <a:xfrm>
            <a:off x="2852928"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S0</a:t>
            </a:r>
            <a:endParaRPr lang="en-US" sz="750" dirty="0"/>
          </a:p>
        </p:txBody>
      </p:sp>
      <p:sp>
        <p:nvSpPr>
          <p:cNvPr id="40" name="Text 38"/>
          <p:cNvSpPr/>
          <p:nvPr/>
        </p:nvSpPr>
        <p:spPr>
          <a:xfrm>
            <a:off x="3403580"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S2</a:t>
            </a:r>
            <a:endParaRPr lang="en-US" sz="750" dirty="0"/>
          </a:p>
        </p:txBody>
      </p:sp>
      <p:sp>
        <p:nvSpPr>
          <p:cNvPr id="41" name="Text 39"/>
          <p:cNvSpPr/>
          <p:nvPr/>
        </p:nvSpPr>
        <p:spPr>
          <a:xfrm>
            <a:off x="3954231"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S4</a:t>
            </a:r>
            <a:endParaRPr lang="en-US" sz="750" dirty="0"/>
          </a:p>
        </p:txBody>
      </p:sp>
      <p:sp>
        <p:nvSpPr>
          <p:cNvPr id="42" name="Text 40"/>
          <p:cNvSpPr/>
          <p:nvPr/>
        </p:nvSpPr>
        <p:spPr>
          <a:xfrm>
            <a:off x="4504883"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S6</a:t>
            </a:r>
            <a:endParaRPr lang="en-US" sz="750" dirty="0"/>
          </a:p>
        </p:txBody>
      </p:sp>
      <p:sp>
        <p:nvSpPr>
          <p:cNvPr id="43" name="Text 41"/>
          <p:cNvSpPr/>
          <p:nvPr/>
        </p:nvSpPr>
        <p:spPr>
          <a:xfrm>
            <a:off x="5055443"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S8</a:t>
            </a:r>
            <a:endParaRPr lang="en-US" sz="750" dirty="0"/>
          </a:p>
        </p:txBody>
      </p:sp>
      <p:sp>
        <p:nvSpPr>
          <p:cNvPr id="44" name="Text 42"/>
          <p:cNvSpPr/>
          <p:nvPr/>
        </p:nvSpPr>
        <p:spPr>
          <a:xfrm>
            <a:off x="5606095"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S10</a:t>
            </a:r>
            <a:endParaRPr lang="en-US" sz="750" dirty="0"/>
          </a:p>
        </p:txBody>
      </p:sp>
      <p:sp>
        <p:nvSpPr>
          <p:cNvPr id="45" name="Text 43"/>
          <p:cNvSpPr/>
          <p:nvPr/>
        </p:nvSpPr>
        <p:spPr>
          <a:xfrm>
            <a:off x="6156747"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S12</a:t>
            </a:r>
            <a:endParaRPr lang="en-US" sz="750" dirty="0"/>
          </a:p>
        </p:txBody>
      </p:sp>
      <p:sp>
        <p:nvSpPr>
          <p:cNvPr id="46" name="Text 44"/>
          <p:cNvSpPr/>
          <p:nvPr/>
        </p:nvSpPr>
        <p:spPr>
          <a:xfrm>
            <a:off x="6707398"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S14</a:t>
            </a:r>
            <a:endParaRPr lang="en-US" sz="750" dirty="0"/>
          </a:p>
        </p:txBody>
      </p:sp>
      <p:sp>
        <p:nvSpPr>
          <p:cNvPr id="47" name="Text 45"/>
          <p:cNvSpPr/>
          <p:nvPr/>
        </p:nvSpPr>
        <p:spPr>
          <a:xfrm>
            <a:off x="7258050"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S16</a:t>
            </a:r>
            <a:endParaRPr lang="en-US" sz="750" dirty="0"/>
          </a:p>
        </p:txBody>
      </p:sp>
      <p:sp>
        <p:nvSpPr>
          <p:cNvPr id="48" name="Text 46"/>
          <p:cNvSpPr/>
          <p:nvPr/>
        </p:nvSpPr>
        <p:spPr>
          <a:xfrm>
            <a:off x="7808702"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S18</a:t>
            </a:r>
            <a:endParaRPr lang="en-US" sz="750" dirty="0"/>
          </a:p>
        </p:txBody>
      </p:sp>
      <p:sp>
        <p:nvSpPr>
          <p:cNvPr id="49" name="Text 47"/>
          <p:cNvSpPr/>
          <p:nvPr/>
        </p:nvSpPr>
        <p:spPr>
          <a:xfrm>
            <a:off x="8359353"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S20</a:t>
            </a:r>
            <a:endParaRPr lang="en-US" sz="750" dirty="0"/>
          </a:p>
        </p:txBody>
      </p:sp>
      <p:sp>
        <p:nvSpPr>
          <p:cNvPr id="50" name="Text 48"/>
          <p:cNvSpPr/>
          <p:nvPr/>
        </p:nvSpPr>
        <p:spPr>
          <a:xfrm>
            <a:off x="8909914"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S22</a:t>
            </a:r>
            <a:endParaRPr lang="en-US" sz="750" dirty="0"/>
          </a:p>
        </p:txBody>
      </p:sp>
      <p:sp>
        <p:nvSpPr>
          <p:cNvPr id="51" name="Text 49"/>
          <p:cNvSpPr/>
          <p:nvPr/>
        </p:nvSpPr>
        <p:spPr>
          <a:xfrm>
            <a:off x="9460565"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S24</a:t>
            </a:r>
            <a:endParaRPr lang="en-US" sz="750" dirty="0"/>
          </a:p>
        </p:txBody>
      </p:sp>
      <p:sp>
        <p:nvSpPr>
          <p:cNvPr id="52" name="Text 50"/>
          <p:cNvSpPr/>
          <p:nvPr/>
        </p:nvSpPr>
        <p:spPr>
          <a:xfrm>
            <a:off x="10011217"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S26</a:t>
            </a:r>
            <a:endParaRPr lang="en-US" sz="750" dirty="0"/>
          </a:p>
        </p:txBody>
      </p:sp>
      <p:sp>
        <p:nvSpPr>
          <p:cNvPr id="53" name="Text 51"/>
          <p:cNvSpPr/>
          <p:nvPr/>
        </p:nvSpPr>
        <p:spPr>
          <a:xfrm>
            <a:off x="10561869"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S28</a:t>
            </a:r>
            <a:endParaRPr lang="en-US" sz="750" dirty="0"/>
          </a:p>
        </p:txBody>
      </p:sp>
      <p:sp>
        <p:nvSpPr>
          <p:cNvPr id="54" name="Text 52"/>
          <p:cNvSpPr/>
          <p:nvPr/>
        </p:nvSpPr>
        <p:spPr>
          <a:xfrm>
            <a:off x="11112520"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S30</a:t>
            </a:r>
            <a:endParaRPr lang="en-US" sz="750" dirty="0"/>
          </a:p>
        </p:txBody>
      </p:sp>
      <p:sp>
        <p:nvSpPr>
          <p:cNvPr id="55" name="Text 53"/>
          <p:cNvSpPr/>
          <p:nvPr/>
        </p:nvSpPr>
        <p:spPr>
          <a:xfrm>
            <a:off x="11663172" y="5532120"/>
            <a:ext cx="457200" cy="182880"/>
          </a:xfrm>
          <a:prstGeom prst="rect">
            <a:avLst/>
          </a:prstGeom>
          <a:noFill/>
          <a:ln/>
        </p:spPr>
        <p:txBody>
          <a:bodyPr wrap="square" lIns="0" tIns="0" rIns="0" bIns="0" rtlCol="0" anchor="ctr"/>
          <a:lstStyle/>
          <a:p>
            <a:pPr marL="0" indent="0" algn="ctr">
              <a:buNone/>
            </a:pPr>
            <a:r>
              <a:rPr lang="en-US" sz="750" dirty="0">
                <a:solidFill>
                  <a:srgbClr val="7A8699"/>
                </a:solidFill>
                <a:latin typeface="Arial" pitchFamily="34" charset="0"/>
                <a:ea typeface="Arial" pitchFamily="34" charset="-122"/>
                <a:cs typeface="Arial" pitchFamily="34" charset="-120"/>
              </a:rPr>
              <a:t>S32</a:t>
            </a:r>
            <a:endParaRPr lang="en-US" sz="750" dirty="0"/>
          </a:p>
        </p:txBody>
      </p:sp>
      <p:sp>
        <p:nvSpPr>
          <p:cNvPr id="56" name="Shape 54"/>
          <p:cNvSpPr/>
          <p:nvPr/>
        </p:nvSpPr>
        <p:spPr>
          <a:xfrm>
            <a:off x="457200" y="5907024"/>
            <a:ext cx="128016" cy="128016"/>
          </a:xfrm>
          <a:prstGeom prst="roundRect">
            <a:avLst>
              <a:gd name="adj" fmla="val 21429"/>
            </a:avLst>
          </a:prstGeom>
          <a:solidFill>
            <a:srgbClr val="1E8A78"/>
          </a:solidFill>
          <a:ln/>
        </p:spPr>
        <p:txBody>
          <a:bodyPr/>
          <a:lstStyle/>
          <a:p>
            <a:endParaRPr lang="fr-FR"/>
          </a:p>
        </p:txBody>
      </p:sp>
      <p:sp>
        <p:nvSpPr>
          <p:cNvPr id="57" name="Text 55"/>
          <p:cNvSpPr/>
          <p:nvPr/>
        </p:nvSpPr>
        <p:spPr>
          <a:xfrm>
            <a:off x="640080" y="5861304"/>
            <a:ext cx="2377440" cy="219456"/>
          </a:xfrm>
          <a:prstGeom prst="rect">
            <a:avLst/>
          </a:prstGeom>
          <a:noFill/>
          <a:ln/>
        </p:spPr>
        <p:txBody>
          <a:bodyPr wrap="square" lIns="0" tIns="0" rIns="0" bIns="0" rtlCol="0" anchor="ctr"/>
          <a:lstStyle/>
          <a:p>
            <a:pPr marL="0" indent="0">
              <a:buNone/>
            </a:pPr>
            <a:r>
              <a:rPr lang="en-US" sz="950" dirty="0">
                <a:solidFill>
                  <a:srgbClr val="3A4A63"/>
                </a:solidFill>
                <a:latin typeface="Arial" pitchFamily="34" charset="0"/>
                <a:ea typeface="Arial" pitchFamily="34" charset="-122"/>
                <a:cs typeface="Arial" pitchFamily="34" charset="-120"/>
              </a:rPr>
              <a:t>Fait</a:t>
            </a:r>
            <a:endParaRPr lang="en-US" sz="950" dirty="0"/>
          </a:p>
        </p:txBody>
      </p:sp>
      <p:sp>
        <p:nvSpPr>
          <p:cNvPr id="58" name="Shape 56"/>
          <p:cNvSpPr/>
          <p:nvPr/>
        </p:nvSpPr>
        <p:spPr>
          <a:xfrm>
            <a:off x="1241755" y="5907024"/>
            <a:ext cx="128016" cy="128016"/>
          </a:xfrm>
          <a:prstGeom prst="roundRect">
            <a:avLst>
              <a:gd name="adj" fmla="val 21429"/>
            </a:avLst>
          </a:prstGeom>
          <a:solidFill>
            <a:srgbClr val="D98E33"/>
          </a:solidFill>
          <a:ln/>
        </p:spPr>
        <p:txBody>
          <a:bodyPr/>
          <a:lstStyle/>
          <a:p>
            <a:endParaRPr lang="fr-FR"/>
          </a:p>
        </p:txBody>
      </p:sp>
      <p:sp>
        <p:nvSpPr>
          <p:cNvPr id="59" name="Text 57"/>
          <p:cNvSpPr/>
          <p:nvPr/>
        </p:nvSpPr>
        <p:spPr>
          <a:xfrm>
            <a:off x="1424635" y="5861304"/>
            <a:ext cx="2377440" cy="219456"/>
          </a:xfrm>
          <a:prstGeom prst="rect">
            <a:avLst/>
          </a:prstGeom>
          <a:noFill/>
          <a:ln/>
        </p:spPr>
        <p:txBody>
          <a:bodyPr wrap="square" lIns="0" tIns="0" rIns="0" bIns="0" rtlCol="0" anchor="ctr"/>
          <a:lstStyle/>
          <a:p>
            <a:pPr marL="0" indent="0">
              <a:buNone/>
            </a:pPr>
            <a:r>
              <a:rPr lang="en-US" sz="950" dirty="0">
                <a:solidFill>
                  <a:srgbClr val="3A4A63"/>
                </a:solidFill>
                <a:latin typeface="Arial" pitchFamily="34" charset="0"/>
                <a:ea typeface="Arial" pitchFamily="34" charset="-122"/>
                <a:cs typeface="Arial" pitchFamily="34" charset="-120"/>
              </a:rPr>
              <a:t>En cours</a:t>
            </a:r>
            <a:endParaRPr lang="en-US" sz="950" dirty="0"/>
          </a:p>
        </p:txBody>
      </p:sp>
      <p:sp>
        <p:nvSpPr>
          <p:cNvPr id="60" name="Shape 58"/>
          <p:cNvSpPr/>
          <p:nvPr/>
        </p:nvSpPr>
        <p:spPr>
          <a:xfrm>
            <a:off x="2289658" y="5907024"/>
            <a:ext cx="128016" cy="128016"/>
          </a:xfrm>
          <a:prstGeom prst="roundRect">
            <a:avLst>
              <a:gd name="adj" fmla="val 21429"/>
            </a:avLst>
          </a:prstGeom>
          <a:solidFill>
            <a:srgbClr val="5B7091"/>
          </a:solidFill>
          <a:ln/>
        </p:spPr>
        <p:txBody>
          <a:bodyPr/>
          <a:lstStyle/>
          <a:p>
            <a:endParaRPr lang="fr-FR"/>
          </a:p>
        </p:txBody>
      </p:sp>
      <p:sp>
        <p:nvSpPr>
          <p:cNvPr id="61" name="Text 59"/>
          <p:cNvSpPr/>
          <p:nvPr/>
        </p:nvSpPr>
        <p:spPr>
          <a:xfrm>
            <a:off x="2472538" y="5861304"/>
            <a:ext cx="2377440" cy="219456"/>
          </a:xfrm>
          <a:prstGeom prst="rect">
            <a:avLst/>
          </a:prstGeom>
          <a:noFill/>
          <a:ln/>
        </p:spPr>
        <p:txBody>
          <a:bodyPr wrap="square" lIns="0" tIns="0" rIns="0" bIns="0" rtlCol="0" anchor="ctr"/>
          <a:lstStyle/>
          <a:p>
            <a:pPr marL="0" indent="0">
              <a:buNone/>
            </a:pPr>
            <a:r>
              <a:rPr lang="en-US" sz="950" dirty="0">
                <a:solidFill>
                  <a:srgbClr val="3A4A63"/>
                </a:solidFill>
                <a:latin typeface="Arial" pitchFamily="34" charset="0"/>
                <a:ea typeface="Arial" pitchFamily="34" charset="-122"/>
                <a:cs typeface="Arial" pitchFamily="34" charset="-120"/>
              </a:rPr>
              <a:t>Planifié — Data Engineering</a:t>
            </a:r>
            <a:endParaRPr lang="en-US" sz="950" dirty="0"/>
          </a:p>
        </p:txBody>
      </p:sp>
      <p:sp>
        <p:nvSpPr>
          <p:cNvPr id="62" name="Shape 60"/>
          <p:cNvSpPr/>
          <p:nvPr/>
        </p:nvSpPr>
        <p:spPr>
          <a:xfrm>
            <a:off x="4588459" y="5907024"/>
            <a:ext cx="128016" cy="128016"/>
          </a:xfrm>
          <a:prstGeom prst="roundRect">
            <a:avLst>
              <a:gd name="adj" fmla="val 21429"/>
            </a:avLst>
          </a:prstGeom>
          <a:solidFill>
            <a:srgbClr val="4A4E8F"/>
          </a:solidFill>
          <a:ln/>
        </p:spPr>
        <p:txBody>
          <a:bodyPr/>
          <a:lstStyle/>
          <a:p>
            <a:endParaRPr lang="fr-FR"/>
          </a:p>
        </p:txBody>
      </p:sp>
      <p:sp>
        <p:nvSpPr>
          <p:cNvPr id="63" name="Text 61"/>
          <p:cNvSpPr/>
          <p:nvPr/>
        </p:nvSpPr>
        <p:spPr>
          <a:xfrm>
            <a:off x="4771339" y="5861304"/>
            <a:ext cx="2377440" cy="219456"/>
          </a:xfrm>
          <a:prstGeom prst="rect">
            <a:avLst/>
          </a:prstGeom>
          <a:noFill/>
          <a:ln/>
        </p:spPr>
        <p:txBody>
          <a:bodyPr wrap="square" lIns="0" tIns="0" rIns="0" bIns="0" rtlCol="0" anchor="ctr"/>
          <a:lstStyle/>
          <a:p>
            <a:pPr marL="0" indent="0">
              <a:buNone/>
            </a:pPr>
            <a:r>
              <a:rPr lang="en-US" sz="950" dirty="0">
                <a:solidFill>
                  <a:srgbClr val="3A4A63"/>
                </a:solidFill>
                <a:latin typeface="Arial" pitchFamily="34" charset="0"/>
                <a:ea typeface="Arial" pitchFamily="34" charset="-122"/>
                <a:cs typeface="Arial" pitchFamily="34" charset="-120"/>
              </a:rPr>
              <a:t>Planifié — ML</a:t>
            </a:r>
            <a:endParaRPr lang="en-US" sz="950" dirty="0"/>
          </a:p>
        </p:txBody>
      </p:sp>
      <p:sp>
        <p:nvSpPr>
          <p:cNvPr id="64" name="Shape 62"/>
          <p:cNvSpPr/>
          <p:nvPr/>
        </p:nvSpPr>
        <p:spPr>
          <a:xfrm>
            <a:off x="0" y="6355080"/>
            <a:ext cx="12191695" cy="502920"/>
          </a:xfrm>
          <a:prstGeom prst="rect">
            <a:avLst/>
          </a:prstGeom>
          <a:solidFill>
            <a:srgbClr val="1B2A41"/>
          </a:solidFill>
          <a:ln/>
        </p:spPr>
        <p:txBody>
          <a:bodyPr/>
          <a:lstStyle/>
          <a:p>
            <a:endParaRPr lang="fr-FR"/>
          </a:p>
        </p:txBody>
      </p:sp>
      <p:sp>
        <p:nvSpPr>
          <p:cNvPr id="65" name="Text 63"/>
          <p:cNvSpPr/>
          <p:nvPr/>
        </p:nvSpPr>
        <p:spPr>
          <a:xfrm>
            <a:off x="457200" y="6355080"/>
            <a:ext cx="11277295" cy="502920"/>
          </a:xfrm>
          <a:prstGeom prst="rect">
            <a:avLst/>
          </a:prstGeom>
          <a:noFill/>
          <a:ln/>
        </p:spPr>
        <p:txBody>
          <a:bodyPr wrap="square" lIns="0" tIns="0" rIns="0" bIns="0" rtlCol="0" anchor="ctr"/>
          <a:lstStyle/>
          <a:p>
            <a:pPr marL="0" indent="0" algn="ctr">
              <a:buNone/>
            </a:pPr>
            <a:r>
              <a:rPr lang="en-US" sz="1050" i="1" dirty="0">
                <a:solidFill>
                  <a:srgbClr val="FFFFFF"/>
                </a:solidFill>
                <a:latin typeface="Arial" pitchFamily="34" charset="0"/>
                <a:ea typeface="Arial" pitchFamily="34" charset="-122"/>
                <a:cs typeface="Arial" pitchFamily="34" charset="-120"/>
              </a:rPr>
              <a:t>Scénario — Architecte + 3 devs · programme total estimé : 28–30 semaines.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4415" cy="502920"/>
          </a:xfrm>
          <a:prstGeom prst="rect">
            <a:avLst/>
          </a:prstGeom>
          <a:noFill/>
          <a:ln/>
        </p:spPr>
        <p:txBody>
          <a:bodyPr wrap="square" lIns="0" tIns="0" rIns="0" bIns="0" rtlCol="0" anchor="ctr"/>
          <a:lstStyle/>
          <a:p>
            <a:pPr marL="0" indent="0" algn="l">
              <a:buNone/>
            </a:pPr>
            <a:r>
              <a:rPr lang="en-US" sz="2700" b="1" dirty="0">
                <a:solidFill>
                  <a:srgbClr val="1E2761"/>
                </a:solidFill>
                <a:latin typeface="Cambria" pitchFamily="34" charset="0"/>
                <a:ea typeface="Cambria" pitchFamily="34" charset="-122"/>
                <a:cs typeface="Cambria" pitchFamily="34" charset="-120"/>
              </a:rPr>
              <a:t>Une trajectoire d'industrialisation par paliers</a:t>
            </a:r>
            <a:endParaRPr lang="en-US" sz="2700" dirty="0"/>
          </a:p>
        </p:txBody>
      </p:sp>
      <p:sp>
        <p:nvSpPr>
          <p:cNvPr id="3" name="Text 1"/>
          <p:cNvSpPr/>
          <p:nvPr/>
        </p:nvSpPr>
        <p:spPr>
          <a:xfrm>
            <a:off x="548640" y="795528"/>
            <a:ext cx="11094415" cy="320040"/>
          </a:xfrm>
          <a:prstGeom prst="rect">
            <a:avLst/>
          </a:prstGeom>
          <a:noFill/>
          <a:ln/>
        </p:spPr>
        <p:txBody>
          <a:bodyPr wrap="square" lIns="0" tIns="0" rIns="0" bIns="0" rtlCol="0" anchor="ctr"/>
          <a:lstStyle/>
          <a:p>
            <a:pPr marL="0" indent="0" algn="l">
              <a:buNone/>
            </a:pPr>
            <a:r>
              <a:rPr lang="en-US" sz="1300" i="1" dirty="0">
                <a:solidFill>
                  <a:srgbClr val="3A3F4B"/>
                </a:solidFill>
                <a:latin typeface="Calibri" pitchFamily="34" charset="0"/>
                <a:ea typeface="Calibri" pitchFamily="34" charset="-122"/>
                <a:cs typeface="Calibri" pitchFamily="34" charset="-120"/>
              </a:rPr>
              <a:t>Un livrable concret et une valeur business à chaque étape</a:t>
            </a:r>
            <a:endParaRPr lang="en-US" sz="1300" dirty="0"/>
          </a:p>
        </p:txBody>
      </p:sp>
      <p:sp>
        <p:nvSpPr>
          <p:cNvPr id="4" name="Shape 2"/>
          <p:cNvSpPr/>
          <p:nvPr/>
        </p:nvSpPr>
        <p:spPr>
          <a:xfrm>
            <a:off x="1143000" y="3703320"/>
            <a:ext cx="9905695" cy="0"/>
          </a:xfrm>
          <a:prstGeom prst="line">
            <a:avLst/>
          </a:prstGeom>
          <a:noFill/>
          <a:ln w="31750">
            <a:solidFill>
              <a:srgbClr val="D9DEE8"/>
            </a:solidFill>
            <a:prstDash val="solid"/>
          </a:ln>
        </p:spPr>
        <p:txBody>
          <a:bodyPr/>
          <a:lstStyle/>
          <a:p>
            <a:endParaRPr lang="fr-FR"/>
          </a:p>
        </p:txBody>
      </p:sp>
      <p:sp>
        <p:nvSpPr>
          <p:cNvPr id="5" name="Shape 3"/>
          <p:cNvSpPr/>
          <p:nvPr/>
        </p:nvSpPr>
        <p:spPr>
          <a:xfrm>
            <a:off x="1143000" y="3703320"/>
            <a:ext cx="1650949" cy="0"/>
          </a:xfrm>
          <a:prstGeom prst="line">
            <a:avLst/>
          </a:prstGeom>
          <a:noFill/>
          <a:ln w="31750">
            <a:solidFill>
              <a:srgbClr val="E8A33D"/>
            </a:solidFill>
            <a:prstDash val="solid"/>
          </a:ln>
        </p:spPr>
        <p:txBody>
          <a:bodyPr/>
          <a:lstStyle/>
          <a:p>
            <a:endParaRPr lang="fr-FR"/>
          </a:p>
        </p:txBody>
      </p:sp>
      <p:sp>
        <p:nvSpPr>
          <p:cNvPr id="16" name="Shape 14"/>
          <p:cNvSpPr/>
          <p:nvPr/>
        </p:nvSpPr>
        <p:spPr>
          <a:xfrm>
            <a:off x="2455621" y="3364992"/>
            <a:ext cx="676656" cy="676656"/>
          </a:xfrm>
          <a:prstGeom prst="ellipse">
            <a:avLst/>
          </a:prstGeom>
          <a:solidFill>
            <a:srgbClr val="FDF1DD"/>
          </a:solidFill>
          <a:ln/>
        </p:spPr>
        <p:txBody>
          <a:bodyPr/>
          <a:lstStyle/>
          <a:p>
            <a:endParaRPr lang="fr-FR"/>
          </a:p>
        </p:txBody>
      </p:sp>
      <p:sp>
        <p:nvSpPr>
          <p:cNvPr id="17" name="Shape 15"/>
          <p:cNvSpPr/>
          <p:nvPr/>
        </p:nvSpPr>
        <p:spPr>
          <a:xfrm>
            <a:off x="2537917" y="3447288"/>
            <a:ext cx="512064" cy="512064"/>
          </a:xfrm>
          <a:prstGeom prst="ellipse">
            <a:avLst/>
          </a:prstGeom>
          <a:solidFill>
            <a:srgbClr val="FBE4BC"/>
          </a:solidFill>
          <a:ln/>
        </p:spPr>
        <p:txBody>
          <a:bodyPr/>
          <a:lstStyle/>
          <a:p>
            <a:endParaRPr lang="fr-FR"/>
          </a:p>
        </p:txBody>
      </p:sp>
      <p:sp>
        <p:nvSpPr>
          <p:cNvPr id="18" name="Shape 16"/>
          <p:cNvSpPr/>
          <p:nvPr/>
        </p:nvSpPr>
        <p:spPr>
          <a:xfrm>
            <a:off x="2611069" y="3520440"/>
            <a:ext cx="365760" cy="365760"/>
          </a:xfrm>
          <a:prstGeom prst="ellipse">
            <a:avLst/>
          </a:prstGeom>
          <a:solidFill>
            <a:srgbClr val="E8A33D"/>
          </a:solidFill>
          <a:ln w="25400">
            <a:solidFill>
              <a:srgbClr val="FFFFFF"/>
            </a:solidFill>
            <a:prstDash val="solid"/>
          </a:ln>
        </p:spPr>
        <p:txBody>
          <a:bodyPr/>
          <a:lstStyle/>
          <a:p>
            <a:endParaRPr lang="fr-FR"/>
          </a:p>
        </p:txBody>
      </p:sp>
      <p:sp>
        <p:nvSpPr>
          <p:cNvPr id="19" name="Text 17"/>
          <p:cNvSpPr/>
          <p:nvPr/>
        </p:nvSpPr>
        <p:spPr>
          <a:xfrm>
            <a:off x="2611069" y="35204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20" name="Shape 18"/>
          <p:cNvSpPr/>
          <p:nvPr/>
        </p:nvSpPr>
        <p:spPr>
          <a:xfrm>
            <a:off x="2793949" y="3886200"/>
            <a:ext cx="0" cy="320040"/>
          </a:xfrm>
          <a:prstGeom prst="line">
            <a:avLst/>
          </a:prstGeom>
          <a:noFill/>
          <a:ln w="19050">
            <a:solidFill>
              <a:srgbClr val="E8A33D"/>
            </a:solidFill>
            <a:prstDash val="dash"/>
          </a:ln>
        </p:spPr>
        <p:txBody>
          <a:bodyPr/>
          <a:lstStyle/>
          <a:p>
            <a:endParaRPr lang="fr-FR"/>
          </a:p>
        </p:txBody>
      </p:sp>
      <p:sp>
        <p:nvSpPr>
          <p:cNvPr id="21" name="Shape 19"/>
          <p:cNvSpPr/>
          <p:nvPr/>
        </p:nvSpPr>
        <p:spPr>
          <a:xfrm>
            <a:off x="2108149" y="4206240"/>
            <a:ext cx="1371600" cy="1783080"/>
          </a:xfrm>
          <a:prstGeom prst="roundRect">
            <a:avLst>
              <a:gd name="adj" fmla="val 4667"/>
            </a:avLst>
          </a:prstGeom>
          <a:solidFill>
            <a:srgbClr val="FDF1DD"/>
          </a:solidFill>
          <a:ln w="15875">
            <a:solidFill>
              <a:srgbClr val="E8A33D"/>
            </a:solidFill>
            <a:prstDash val="solid"/>
          </a:ln>
          <a:effectLst>
            <a:outerShdw blurRad="88900" dist="25400" dir="5400000" algn="bl" rotWithShape="0">
              <a:srgbClr val="D89B3D">
                <a:alpha val="35000"/>
              </a:srgbClr>
            </a:outerShdw>
          </a:effectLst>
        </p:spPr>
        <p:txBody>
          <a:bodyPr/>
          <a:lstStyle/>
          <a:p>
            <a:endParaRPr lang="fr-FR"/>
          </a:p>
        </p:txBody>
      </p:sp>
      <p:sp>
        <p:nvSpPr>
          <p:cNvPr id="22" name="Text 20"/>
          <p:cNvSpPr/>
          <p:nvPr/>
        </p:nvSpPr>
        <p:spPr>
          <a:xfrm>
            <a:off x="2236165" y="4315968"/>
            <a:ext cx="1115568" cy="365760"/>
          </a:xfrm>
          <a:prstGeom prst="rect">
            <a:avLst/>
          </a:prstGeom>
          <a:noFill/>
          <a:ln/>
        </p:spPr>
        <p:txBody>
          <a:bodyPr wrap="square" lIns="0" tIns="0" rIns="0" bIns="0" rtlCol="0" anchor="t"/>
          <a:lstStyle/>
          <a:p>
            <a:pPr marL="0" indent="0" algn="l">
              <a:buNone/>
            </a:pPr>
            <a:r>
              <a:rPr lang="en-US" sz="1250" b="1" dirty="0" err="1">
                <a:solidFill>
                  <a:srgbClr val="A6660B"/>
                </a:solidFill>
                <a:latin typeface="Calibri" pitchFamily="34" charset="0"/>
                <a:ea typeface="Calibri" pitchFamily="34" charset="-122"/>
                <a:cs typeface="Calibri" pitchFamily="34" charset="-120"/>
              </a:rPr>
              <a:t>Accélérer</a:t>
            </a:r>
            <a:r>
              <a:rPr lang="en-US" sz="800" b="1" dirty="0">
                <a:solidFill>
                  <a:srgbClr val="A6660B"/>
                </a:solidFill>
                <a:latin typeface="Calibri" pitchFamily="34" charset="0"/>
                <a:ea typeface="Calibri" pitchFamily="34" charset="-122"/>
                <a:cs typeface="Calibri" pitchFamily="34" charset="-120"/>
              </a:rPr>
              <a:t>  EN COURS</a:t>
            </a:r>
            <a:endParaRPr lang="en-US" sz="1250" dirty="0"/>
          </a:p>
        </p:txBody>
      </p:sp>
      <p:sp>
        <p:nvSpPr>
          <p:cNvPr id="23" name="Shape 21"/>
          <p:cNvSpPr/>
          <p:nvPr/>
        </p:nvSpPr>
        <p:spPr>
          <a:xfrm>
            <a:off x="2236165" y="4718304"/>
            <a:ext cx="1115568" cy="0"/>
          </a:xfrm>
          <a:prstGeom prst="line">
            <a:avLst/>
          </a:prstGeom>
          <a:noFill/>
          <a:ln w="9525">
            <a:solidFill>
              <a:srgbClr val="EFD4A0"/>
            </a:solidFill>
            <a:prstDash val="solid"/>
          </a:ln>
        </p:spPr>
        <p:txBody>
          <a:bodyPr/>
          <a:lstStyle/>
          <a:p>
            <a:endParaRPr lang="fr-FR"/>
          </a:p>
        </p:txBody>
      </p:sp>
      <p:sp>
        <p:nvSpPr>
          <p:cNvPr id="24" name="Text 22"/>
          <p:cNvSpPr/>
          <p:nvPr/>
        </p:nvSpPr>
        <p:spPr>
          <a:xfrm>
            <a:off x="2236165" y="4791456"/>
            <a:ext cx="1115568" cy="548640"/>
          </a:xfrm>
          <a:prstGeom prst="rect">
            <a:avLst/>
          </a:prstGeom>
          <a:noFill/>
          <a:ln/>
        </p:spPr>
        <p:txBody>
          <a:bodyPr wrap="square" lIns="0" tIns="0" rIns="0" bIns="0" rtlCol="0" anchor="t"/>
          <a:lstStyle/>
          <a:p>
            <a:pPr marL="0" indent="0" algn="l">
              <a:buNone/>
            </a:pPr>
            <a:r>
              <a:rPr lang="en-US" sz="1000" dirty="0">
                <a:solidFill>
                  <a:srgbClr val="3A3F4B"/>
                </a:solidFill>
                <a:latin typeface="Calibri" pitchFamily="34" charset="0"/>
                <a:ea typeface="Calibri" pitchFamily="34" charset="-122"/>
                <a:cs typeface="Calibri" pitchFamily="34" charset="-120"/>
              </a:rPr>
              <a:t>Standard data product + </a:t>
            </a:r>
            <a:r>
              <a:rPr lang="en-US" sz="1000" dirty="0" err="1">
                <a:solidFill>
                  <a:srgbClr val="3A3F4B"/>
                </a:solidFill>
                <a:latin typeface="Calibri" pitchFamily="34" charset="0"/>
                <a:ea typeface="Calibri" pitchFamily="34" charset="-122"/>
                <a:cs typeface="Calibri" pitchFamily="34" charset="-120"/>
              </a:rPr>
              <a:t>platformctl</a:t>
            </a:r>
            <a:endParaRPr lang="en-US" sz="1000" dirty="0"/>
          </a:p>
        </p:txBody>
      </p:sp>
      <p:sp>
        <p:nvSpPr>
          <p:cNvPr id="25" name="Text 23"/>
          <p:cNvSpPr/>
          <p:nvPr/>
        </p:nvSpPr>
        <p:spPr>
          <a:xfrm>
            <a:off x="2236165" y="5330952"/>
            <a:ext cx="1115568" cy="621792"/>
          </a:xfrm>
          <a:prstGeom prst="rect">
            <a:avLst/>
          </a:prstGeom>
          <a:noFill/>
          <a:ln/>
        </p:spPr>
        <p:txBody>
          <a:bodyPr wrap="square" lIns="0" tIns="0" rIns="0" bIns="0" rtlCol="0" anchor="t"/>
          <a:lstStyle/>
          <a:p>
            <a:pPr marL="0" indent="0" algn="l">
              <a:buNone/>
            </a:pPr>
            <a:r>
              <a:rPr lang="en-US" sz="950" i="1" dirty="0">
                <a:solidFill>
                  <a:srgbClr val="141B45"/>
                </a:solidFill>
                <a:latin typeface="Calibri" pitchFamily="34" charset="0"/>
                <a:ea typeface="Calibri" pitchFamily="34" charset="-122"/>
                <a:cs typeface="Calibri" pitchFamily="34" charset="-120"/>
              </a:rPr>
              <a:t>Délais de mise en prod réduits dès aujourd'hui</a:t>
            </a:r>
            <a:endParaRPr lang="en-US" sz="950" dirty="0"/>
          </a:p>
        </p:txBody>
      </p:sp>
      <p:sp>
        <p:nvSpPr>
          <p:cNvPr id="26" name="Shape 24"/>
          <p:cNvSpPr/>
          <p:nvPr/>
        </p:nvSpPr>
        <p:spPr>
          <a:xfrm>
            <a:off x="2510485" y="2949403"/>
            <a:ext cx="566928" cy="237744"/>
          </a:xfrm>
          <a:prstGeom prst="roundRect">
            <a:avLst>
              <a:gd name="adj" fmla="val 50000"/>
            </a:avLst>
          </a:prstGeom>
          <a:solidFill>
            <a:srgbClr val="FDF1DD"/>
          </a:solidFill>
          <a:ln w="6350">
            <a:solidFill>
              <a:srgbClr val="EFD4A0"/>
            </a:solidFill>
            <a:prstDash val="solid"/>
          </a:ln>
        </p:spPr>
        <p:txBody>
          <a:bodyPr/>
          <a:lstStyle/>
          <a:p>
            <a:endParaRPr lang="fr-FR"/>
          </a:p>
        </p:txBody>
      </p:sp>
      <p:sp>
        <p:nvSpPr>
          <p:cNvPr id="27" name="Text 25"/>
          <p:cNvSpPr/>
          <p:nvPr/>
        </p:nvSpPr>
        <p:spPr>
          <a:xfrm>
            <a:off x="2510485" y="2949403"/>
            <a:ext cx="566928" cy="237744"/>
          </a:xfrm>
          <a:prstGeom prst="rect">
            <a:avLst/>
          </a:prstGeom>
          <a:noFill/>
          <a:ln/>
        </p:spPr>
        <p:txBody>
          <a:bodyPr wrap="square" lIns="0" tIns="0" rIns="0" bIns="0" rtlCol="0" anchor="ctr"/>
          <a:lstStyle/>
          <a:p>
            <a:pPr marL="0" indent="0" algn="ctr">
              <a:buNone/>
            </a:pPr>
            <a:r>
              <a:rPr lang="en-US" sz="800" b="1" dirty="0">
                <a:solidFill>
                  <a:srgbClr val="A6660B"/>
                </a:solidFill>
                <a:latin typeface="Calibri" pitchFamily="34" charset="0"/>
                <a:ea typeface="Calibri" pitchFamily="34" charset="-122"/>
                <a:cs typeface="Calibri" pitchFamily="34" charset="-120"/>
              </a:rPr>
              <a:t>4 - 6 sem.</a:t>
            </a:r>
            <a:endParaRPr lang="en-US" sz="800" dirty="0"/>
          </a:p>
        </p:txBody>
      </p:sp>
      <p:sp>
        <p:nvSpPr>
          <p:cNvPr id="28" name="Shape 26"/>
          <p:cNvSpPr/>
          <p:nvPr/>
        </p:nvSpPr>
        <p:spPr>
          <a:xfrm>
            <a:off x="4262018" y="3520440"/>
            <a:ext cx="365760" cy="365760"/>
          </a:xfrm>
          <a:prstGeom prst="ellipse">
            <a:avLst/>
          </a:prstGeom>
          <a:solidFill>
            <a:srgbClr val="1E2761"/>
          </a:solidFill>
          <a:ln w="25400">
            <a:solidFill>
              <a:srgbClr val="FFFFFF"/>
            </a:solidFill>
            <a:prstDash val="solid"/>
          </a:ln>
        </p:spPr>
        <p:txBody>
          <a:bodyPr/>
          <a:lstStyle/>
          <a:p>
            <a:endParaRPr lang="fr-FR"/>
          </a:p>
        </p:txBody>
      </p:sp>
      <p:sp>
        <p:nvSpPr>
          <p:cNvPr id="29" name="Text 27"/>
          <p:cNvSpPr/>
          <p:nvPr/>
        </p:nvSpPr>
        <p:spPr>
          <a:xfrm>
            <a:off x="4262018" y="35204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30" name="Shape 28"/>
          <p:cNvSpPr/>
          <p:nvPr/>
        </p:nvSpPr>
        <p:spPr>
          <a:xfrm>
            <a:off x="4444898" y="3200400"/>
            <a:ext cx="0" cy="320040"/>
          </a:xfrm>
          <a:prstGeom prst="line">
            <a:avLst/>
          </a:prstGeom>
          <a:noFill/>
          <a:ln w="19050">
            <a:solidFill>
              <a:srgbClr val="D9DEE8"/>
            </a:solidFill>
            <a:prstDash val="dash"/>
          </a:ln>
        </p:spPr>
        <p:txBody>
          <a:bodyPr/>
          <a:lstStyle/>
          <a:p>
            <a:endParaRPr lang="fr-FR"/>
          </a:p>
        </p:txBody>
      </p:sp>
      <p:sp>
        <p:nvSpPr>
          <p:cNvPr id="31" name="Shape 29"/>
          <p:cNvSpPr/>
          <p:nvPr/>
        </p:nvSpPr>
        <p:spPr>
          <a:xfrm>
            <a:off x="3759098" y="1417320"/>
            <a:ext cx="1371600" cy="1783080"/>
          </a:xfrm>
          <a:prstGeom prst="roundRect">
            <a:avLst>
              <a:gd name="adj" fmla="val 4667"/>
            </a:avLst>
          </a:prstGeom>
          <a:solidFill>
            <a:srgbClr val="F2F4F8"/>
          </a:solidFill>
          <a:ln w="9525">
            <a:solidFill>
              <a:srgbClr val="D9DEE8"/>
            </a:solidFill>
            <a:prstDash val="solid"/>
          </a:ln>
          <a:effectLst>
            <a:outerShdw blurRad="63500" dist="25400" dir="5400000" algn="bl" rotWithShape="0">
              <a:srgbClr val="9AA3B5">
                <a:alpha val="25000"/>
              </a:srgbClr>
            </a:outerShdw>
          </a:effectLst>
        </p:spPr>
        <p:txBody>
          <a:bodyPr/>
          <a:lstStyle/>
          <a:p>
            <a:endParaRPr lang="fr-FR"/>
          </a:p>
        </p:txBody>
      </p:sp>
      <p:sp>
        <p:nvSpPr>
          <p:cNvPr id="32" name="Text 30"/>
          <p:cNvSpPr/>
          <p:nvPr/>
        </p:nvSpPr>
        <p:spPr>
          <a:xfrm>
            <a:off x="3887114" y="1527048"/>
            <a:ext cx="1115568" cy="365760"/>
          </a:xfrm>
          <a:prstGeom prst="rect">
            <a:avLst/>
          </a:prstGeom>
          <a:noFill/>
          <a:ln/>
        </p:spPr>
        <p:txBody>
          <a:bodyPr wrap="square" lIns="0" tIns="0" rIns="0" bIns="0" rtlCol="0" anchor="t"/>
          <a:lstStyle/>
          <a:p>
            <a:pPr marL="0" indent="0" algn="l">
              <a:buNone/>
            </a:pPr>
            <a:r>
              <a:rPr lang="en-US" sz="1250" b="1" dirty="0">
                <a:solidFill>
                  <a:srgbClr val="1E2761"/>
                </a:solidFill>
                <a:latin typeface="Calibri" pitchFamily="34" charset="0"/>
                <a:ea typeface="Calibri" pitchFamily="34" charset="-122"/>
                <a:cs typeface="Calibri" pitchFamily="34" charset="-120"/>
              </a:rPr>
              <a:t>Industrialiser Engineered Data</a:t>
            </a:r>
            <a:endParaRPr lang="en-US" sz="1250" dirty="0"/>
          </a:p>
        </p:txBody>
      </p:sp>
      <p:sp>
        <p:nvSpPr>
          <p:cNvPr id="33" name="Shape 31"/>
          <p:cNvSpPr/>
          <p:nvPr/>
        </p:nvSpPr>
        <p:spPr>
          <a:xfrm>
            <a:off x="3887114" y="1929384"/>
            <a:ext cx="1115568" cy="0"/>
          </a:xfrm>
          <a:prstGeom prst="line">
            <a:avLst/>
          </a:prstGeom>
          <a:noFill/>
          <a:ln w="9525">
            <a:solidFill>
              <a:srgbClr val="D9DEE8"/>
            </a:solidFill>
            <a:prstDash val="solid"/>
          </a:ln>
        </p:spPr>
        <p:txBody>
          <a:bodyPr/>
          <a:lstStyle/>
          <a:p>
            <a:endParaRPr lang="fr-FR"/>
          </a:p>
        </p:txBody>
      </p:sp>
      <p:sp>
        <p:nvSpPr>
          <p:cNvPr id="34" name="Text 32"/>
          <p:cNvSpPr/>
          <p:nvPr/>
        </p:nvSpPr>
        <p:spPr>
          <a:xfrm>
            <a:off x="3887114" y="2002536"/>
            <a:ext cx="1115568" cy="548640"/>
          </a:xfrm>
          <a:prstGeom prst="rect">
            <a:avLst/>
          </a:prstGeom>
          <a:noFill/>
          <a:ln/>
        </p:spPr>
        <p:txBody>
          <a:bodyPr wrap="square" lIns="0" tIns="0" rIns="0" bIns="0" rtlCol="0" anchor="t"/>
          <a:lstStyle/>
          <a:p>
            <a:pPr marL="0" indent="0" algn="l">
              <a:buNone/>
            </a:pPr>
            <a:r>
              <a:rPr lang="en-US" sz="1000" dirty="0">
                <a:solidFill>
                  <a:srgbClr val="3A3F4B"/>
                </a:solidFill>
                <a:latin typeface="Calibri" pitchFamily="34" charset="0"/>
                <a:ea typeface="Calibri" pitchFamily="34" charset="-122"/>
                <a:cs typeface="Calibri" pitchFamily="34" charset="-120"/>
              </a:rPr>
              <a:t>CI/CD, DataOps, </a:t>
            </a:r>
            <a:r>
              <a:rPr lang="en-US" sz="1000" dirty="0" err="1">
                <a:solidFill>
                  <a:srgbClr val="3A3F4B"/>
                </a:solidFill>
                <a:latin typeface="Calibri" pitchFamily="34" charset="0"/>
                <a:ea typeface="Calibri" pitchFamily="34" charset="-122"/>
                <a:cs typeface="Calibri" pitchFamily="34" charset="-120"/>
              </a:rPr>
              <a:t>GitOps</a:t>
            </a:r>
            <a:r>
              <a:rPr lang="en-US" sz="1000" dirty="0">
                <a:solidFill>
                  <a:srgbClr val="3A3F4B"/>
                </a:solidFill>
                <a:latin typeface="Calibri" pitchFamily="34" charset="0"/>
                <a:ea typeface="Calibri" pitchFamily="34" charset="-122"/>
                <a:cs typeface="Calibri" pitchFamily="34" charset="-120"/>
              </a:rPr>
              <a:t>, MR Git flow</a:t>
            </a:r>
            <a:endParaRPr lang="en-US" sz="1000" dirty="0"/>
          </a:p>
        </p:txBody>
      </p:sp>
      <p:sp>
        <p:nvSpPr>
          <p:cNvPr id="35" name="Text 33"/>
          <p:cNvSpPr/>
          <p:nvPr/>
        </p:nvSpPr>
        <p:spPr>
          <a:xfrm>
            <a:off x="3887114" y="2542032"/>
            <a:ext cx="1115568" cy="621792"/>
          </a:xfrm>
          <a:prstGeom prst="rect">
            <a:avLst/>
          </a:prstGeom>
          <a:noFill/>
          <a:ln/>
        </p:spPr>
        <p:txBody>
          <a:bodyPr wrap="square" lIns="0" tIns="0" rIns="0" bIns="0" rtlCol="0" anchor="t"/>
          <a:lstStyle/>
          <a:p>
            <a:pPr marL="0" indent="0" algn="l">
              <a:buNone/>
            </a:pPr>
            <a:r>
              <a:rPr lang="en-US" sz="950" i="1" dirty="0">
                <a:solidFill>
                  <a:srgbClr val="141B45"/>
                </a:solidFill>
                <a:latin typeface="Calibri" pitchFamily="34" charset="0"/>
                <a:ea typeface="Calibri" pitchFamily="34" charset="-122"/>
                <a:cs typeface="Calibri" pitchFamily="34" charset="-120"/>
              </a:rPr>
              <a:t>Une chaîne fiable et gouvernée</a:t>
            </a:r>
            <a:endParaRPr lang="en-US" sz="950" dirty="0"/>
          </a:p>
        </p:txBody>
      </p:sp>
      <p:sp>
        <p:nvSpPr>
          <p:cNvPr id="36" name="Shape 34"/>
          <p:cNvSpPr/>
          <p:nvPr/>
        </p:nvSpPr>
        <p:spPr>
          <a:xfrm>
            <a:off x="4161434" y="4228825"/>
            <a:ext cx="566928" cy="237744"/>
          </a:xfrm>
          <a:prstGeom prst="roundRect">
            <a:avLst>
              <a:gd name="adj" fmla="val 50000"/>
            </a:avLst>
          </a:prstGeom>
          <a:solidFill>
            <a:srgbClr val="F7F8FA"/>
          </a:solidFill>
          <a:ln w="6350">
            <a:solidFill>
              <a:srgbClr val="D9DEE8"/>
            </a:solidFill>
            <a:prstDash val="solid"/>
          </a:ln>
        </p:spPr>
        <p:txBody>
          <a:bodyPr/>
          <a:lstStyle/>
          <a:p>
            <a:endParaRPr lang="fr-FR"/>
          </a:p>
        </p:txBody>
      </p:sp>
      <p:sp>
        <p:nvSpPr>
          <p:cNvPr id="37" name="Text 35"/>
          <p:cNvSpPr/>
          <p:nvPr/>
        </p:nvSpPr>
        <p:spPr>
          <a:xfrm>
            <a:off x="4161434" y="4228825"/>
            <a:ext cx="566928" cy="237744"/>
          </a:xfrm>
          <a:prstGeom prst="rect">
            <a:avLst/>
          </a:prstGeom>
          <a:noFill/>
          <a:ln/>
        </p:spPr>
        <p:txBody>
          <a:bodyPr wrap="square" lIns="0" tIns="0" rIns="0" bIns="0" rtlCol="0" anchor="ctr"/>
          <a:lstStyle/>
          <a:p>
            <a:pPr marL="0" indent="0" algn="ctr">
              <a:buNone/>
            </a:pPr>
            <a:r>
              <a:rPr lang="en-US" sz="800" b="1" dirty="0">
                <a:solidFill>
                  <a:srgbClr val="6B7280"/>
                </a:solidFill>
                <a:latin typeface="Calibri" pitchFamily="34" charset="0"/>
                <a:ea typeface="Calibri" pitchFamily="34" charset="-122"/>
                <a:cs typeface="Calibri" pitchFamily="34" charset="-120"/>
              </a:rPr>
              <a:t>6 - 8 sem.</a:t>
            </a:r>
            <a:endParaRPr lang="en-US" sz="800" dirty="0"/>
          </a:p>
        </p:txBody>
      </p:sp>
      <p:sp>
        <p:nvSpPr>
          <p:cNvPr id="38" name="Shape 36"/>
          <p:cNvSpPr/>
          <p:nvPr/>
        </p:nvSpPr>
        <p:spPr>
          <a:xfrm>
            <a:off x="5912968" y="3520440"/>
            <a:ext cx="365760" cy="365760"/>
          </a:xfrm>
          <a:prstGeom prst="ellipse">
            <a:avLst/>
          </a:prstGeom>
          <a:solidFill>
            <a:srgbClr val="1E2761"/>
          </a:solidFill>
          <a:ln w="25400">
            <a:solidFill>
              <a:srgbClr val="FFFFFF"/>
            </a:solidFill>
            <a:prstDash val="solid"/>
          </a:ln>
        </p:spPr>
        <p:txBody>
          <a:bodyPr/>
          <a:lstStyle/>
          <a:p>
            <a:endParaRPr lang="fr-FR"/>
          </a:p>
        </p:txBody>
      </p:sp>
      <p:sp>
        <p:nvSpPr>
          <p:cNvPr id="39" name="Text 37"/>
          <p:cNvSpPr/>
          <p:nvPr/>
        </p:nvSpPr>
        <p:spPr>
          <a:xfrm>
            <a:off x="5912968" y="35204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40" name="Shape 38"/>
          <p:cNvSpPr/>
          <p:nvPr/>
        </p:nvSpPr>
        <p:spPr>
          <a:xfrm>
            <a:off x="6095848" y="4100809"/>
            <a:ext cx="0" cy="320040"/>
          </a:xfrm>
          <a:prstGeom prst="line">
            <a:avLst/>
          </a:prstGeom>
          <a:noFill/>
          <a:ln w="19050">
            <a:solidFill>
              <a:srgbClr val="D9DEE8"/>
            </a:solidFill>
            <a:prstDash val="dash"/>
          </a:ln>
        </p:spPr>
        <p:txBody>
          <a:bodyPr/>
          <a:lstStyle/>
          <a:p>
            <a:endParaRPr lang="fr-FR"/>
          </a:p>
        </p:txBody>
      </p:sp>
      <p:sp>
        <p:nvSpPr>
          <p:cNvPr id="41" name="Shape 39"/>
          <p:cNvSpPr/>
          <p:nvPr/>
        </p:nvSpPr>
        <p:spPr>
          <a:xfrm>
            <a:off x="5410048" y="4206240"/>
            <a:ext cx="1371600" cy="1783080"/>
          </a:xfrm>
          <a:prstGeom prst="roundRect">
            <a:avLst>
              <a:gd name="adj" fmla="val 4667"/>
            </a:avLst>
          </a:prstGeom>
          <a:solidFill>
            <a:srgbClr val="F2F4F8"/>
          </a:solidFill>
          <a:ln w="9525">
            <a:solidFill>
              <a:srgbClr val="D9DEE8"/>
            </a:solidFill>
            <a:prstDash val="solid"/>
          </a:ln>
          <a:effectLst>
            <a:outerShdw blurRad="63500" dist="25400" dir="5400000" algn="bl" rotWithShape="0">
              <a:srgbClr val="9AA3B5">
                <a:alpha val="25000"/>
              </a:srgbClr>
            </a:outerShdw>
          </a:effectLst>
        </p:spPr>
        <p:txBody>
          <a:bodyPr/>
          <a:lstStyle/>
          <a:p>
            <a:endParaRPr lang="fr-FR"/>
          </a:p>
        </p:txBody>
      </p:sp>
      <p:sp>
        <p:nvSpPr>
          <p:cNvPr id="42" name="Text 40"/>
          <p:cNvSpPr/>
          <p:nvPr/>
        </p:nvSpPr>
        <p:spPr>
          <a:xfrm>
            <a:off x="5538064" y="4315968"/>
            <a:ext cx="1115568" cy="365760"/>
          </a:xfrm>
          <a:prstGeom prst="rect">
            <a:avLst/>
          </a:prstGeom>
          <a:noFill/>
          <a:ln/>
        </p:spPr>
        <p:txBody>
          <a:bodyPr wrap="square" lIns="0" tIns="0" rIns="0" bIns="0" rtlCol="0" anchor="t"/>
          <a:lstStyle/>
          <a:p>
            <a:pPr marL="0" indent="0" algn="l">
              <a:buNone/>
            </a:pPr>
            <a:r>
              <a:rPr lang="en-US" sz="1250" b="1" dirty="0" err="1">
                <a:solidFill>
                  <a:srgbClr val="1E2761"/>
                </a:solidFill>
                <a:latin typeface="Calibri" pitchFamily="34" charset="0"/>
                <a:ea typeface="Calibri" pitchFamily="34" charset="-122"/>
                <a:cs typeface="Calibri" pitchFamily="34" charset="-120"/>
              </a:rPr>
              <a:t>Fédérer</a:t>
            </a:r>
            <a:r>
              <a:rPr lang="en-US" sz="1250" b="1" dirty="0">
                <a:solidFill>
                  <a:srgbClr val="1E2761"/>
                </a:solidFill>
                <a:latin typeface="Calibri" pitchFamily="34" charset="0"/>
                <a:ea typeface="Calibri" pitchFamily="34" charset="-122"/>
                <a:cs typeface="Calibri" pitchFamily="34" charset="-120"/>
              </a:rPr>
              <a:t> </a:t>
            </a:r>
            <a:r>
              <a:rPr lang="en-US" sz="1250" b="1" dirty="0" err="1">
                <a:solidFill>
                  <a:srgbClr val="1E2761"/>
                </a:solidFill>
                <a:latin typeface="Calibri" pitchFamily="34" charset="0"/>
                <a:ea typeface="Calibri" pitchFamily="34" charset="-122"/>
                <a:cs typeface="Calibri" pitchFamily="34" charset="-120"/>
              </a:rPr>
              <a:t>Gouv</a:t>
            </a:r>
            <a:r>
              <a:rPr lang="en-US" sz="1250" b="1" dirty="0">
                <a:solidFill>
                  <a:srgbClr val="1E2761"/>
                </a:solidFill>
                <a:latin typeface="Calibri" pitchFamily="34" charset="0"/>
                <a:ea typeface="Calibri" pitchFamily="34" charset="-122"/>
                <a:cs typeface="Calibri" pitchFamily="34" charset="-120"/>
              </a:rPr>
              <a:t>. &amp; Self-service</a:t>
            </a:r>
            <a:endParaRPr lang="en-US" sz="1250" dirty="0"/>
          </a:p>
        </p:txBody>
      </p:sp>
      <p:sp>
        <p:nvSpPr>
          <p:cNvPr id="43" name="Shape 41"/>
          <p:cNvSpPr/>
          <p:nvPr/>
        </p:nvSpPr>
        <p:spPr>
          <a:xfrm>
            <a:off x="5538064" y="4718304"/>
            <a:ext cx="1115568" cy="0"/>
          </a:xfrm>
          <a:prstGeom prst="line">
            <a:avLst/>
          </a:prstGeom>
          <a:noFill/>
          <a:ln w="9525">
            <a:solidFill>
              <a:srgbClr val="D9DEE8"/>
            </a:solidFill>
            <a:prstDash val="solid"/>
          </a:ln>
        </p:spPr>
        <p:txBody>
          <a:bodyPr/>
          <a:lstStyle/>
          <a:p>
            <a:endParaRPr lang="fr-FR"/>
          </a:p>
        </p:txBody>
      </p:sp>
      <p:sp>
        <p:nvSpPr>
          <p:cNvPr id="44" name="Text 42"/>
          <p:cNvSpPr/>
          <p:nvPr/>
        </p:nvSpPr>
        <p:spPr>
          <a:xfrm>
            <a:off x="5538064" y="4791456"/>
            <a:ext cx="1115568" cy="548640"/>
          </a:xfrm>
          <a:prstGeom prst="rect">
            <a:avLst/>
          </a:prstGeom>
          <a:noFill/>
          <a:ln/>
        </p:spPr>
        <p:txBody>
          <a:bodyPr wrap="square" lIns="0" tIns="0" rIns="0" bIns="0" rtlCol="0" anchor="t"/>
          <a:lstStyle/>
          <a:p>
            <a:pPr marL="0" indent="0" algn="l">
              <a:buNone/>
            </a:pPr>
            <a:r>
              <a:rPr lang="en-US" sz="1000" dirty="0">
                <a:solidFill>
                  <a:srgbClr val="3A3F4B"/>
                </a:solidFill>
                <a:latin typeface="Calibri" pitchFamily="34" charset="0"/>
                <a:ea typeface="Calibri" pitchFamily="34" charset="-122"/>
                <a:cs typeface="Calibri" pitchFamily="34" charset="-120"/>
              </a:rPr>
              <a:t>Portail &amp; Data Products</a:t>
            </a:r>
            <a:endParaRPr lang="en-US" sz="1000" dirty="0"/>
          </a:p>
        </p:txBody>
      </p:sp>
      <p:sp>
        <p:nvSpPr>
          <p:cNvPr id="45" name="Text 43"/>
          <p:cNvSpPr/>
          <p:nvPr/>
        </p:nvSpPr>
        <p:spPr>
          <a:xfrm>
            <a:off x="5538064" y="5330952"/>
            <a:ext cx="1115568" cy="621792"/>
          </a:xfrm>
          <a:prstGeom prst="rect">
            <a:avLst/>
          </a:prstGeom>
          <a:noFill/>
          <a:ln/>
        </p:spPr>
        <p:txBody>
          <a:bodyPr wrap="square" lIns="0" tIns="0" rIns="0" bIns="0" rtlCol="0" anchor="t"/>
          <a:lstStyle/>
          <a:p>
            <a:pPr marL="0" indent="0" algn="l">
              <a:buNone/>
            </a:pPr>
            <a:r>
              <a:rPr lang="en-US" sz="950" i="1" dirty="0">
                <a:solidFill>
                  <a:srgbClr val="141B45"/>
                </a:solidFill>
                <a:latin typeface="Calibri" pitchFamily="34" charset="0"/>
                <a:ea typeface="Calibri" pitchFamily="34" charset="-122"/>
                <a:cs typeface="Calibri" pitchFamily="34" charset="-120"/>
              </a:rPr>
              <a:t>La donnée exploitable par toute la banque</a:t>
            </a:r>
            <a:endParaRPr lang="en-US" sz="950" dirty="0"/>
          </a:p>
        </p:txBody>
      </p:sp>
      <p:sp>
        <p:nvSpPr>
          <p:cNvPr id="46" name="Shape 44"/>
          <p:cNvSpPr/>
          <p:nvPr/>
        </p:nvSpPr>
        <p:spPr>
          <a:xfrm>
            <a:off x="5812384" y="2977397"/>
            <a:ext cx="566928" cy="237744"/>
          </a:xfrm>
          <a:prstGeom prst="roundRect">
            <a:avLst>
              <a:gd name="adj" fmla="val 50000"/>
            </a:avLst>
          </a:prstGeom>
          <a:solidFill>
            <a:srgbClr val="F7F8FA"/>
          </a:solidFill>
          <a:ln w="6350">
            <a:solidFill>
              <a:srgbClr val="D9DEE8"/>
            </a:solidFill>
            <a:prstDash val="solid"/>
          </a:ln>
        </p:spPr>
        <p:txBody>
          <a:bodyPr/>
          <a:lstStyle/>
          <a:p>
            <a:endParaRPr lang="fr-FR"/>
          </a:p>
        </p:txBody>
      </p:sp>
      <p:sp>
        <p:nvSpPr>
          <p:cNvPr id="47" name="Text 45"/>
          <p:cNvSpPr/>
          <p:nvPr/>
        </p:nvSpPr>
        <p:spPr>
          <a:xfrm>
            <a:off x="5812384" y="2977397"/>
            <a:ext cx="566928" cy="237744"/>
          </a:xfrm>
          <a:prstGeom prst="rect">
            <a:avLst/>
          </a:prstGeom>
          <a:noFill/>
          <a:ln/>
        </p:spPr>
        <p:txBody>
          <a:bodyPr wrap="square" lIns="0" tIns="0" rIns="0" bIns="0" rtlCol="0" anchor="ctr"/>
          <a:lstStyle/>
          <a:p>
            <a:pPr marL="0" indent="0" algn="ctr">
              <a:buNone/>
            </a:pPr>
            <a:r>
              <a:rPr lang="en-US" sz="800" b="1" dirty="0">
                <a:solidFill>
                  <a:srgbClr val="6B7280"/>
                </a:solidFill>
                <a:latin typeface="Calibri" pitchFamily="34" charset="0"/>
                <a:ea typeface="Calibri" pitchFamily="34" charset="-122"/>
                <a:cs typeface="Calibri" pitchFamily="34" charset="-120"/>
              </a:rPr>
              <a:t>4 - 6 sem.</a:t>
            </a:r>
            <a:endParaRPr lang="en-US" sz="800" dirty="0"/>
          </a:p>
        </p:txBody>
      </p:sp>
      <p:sp>
        <p:nvSpPr>
          <p:cNvPr id="48" name="Shape 46"/>
          <p:cNvSpPr/>
          <p:nvPr/>
        </p:nvSpPr>
        <p:spPr>
          <a:xfrm>
            <a:off x="7563917" y="3520440"/>
            <a:ext cx="365760" cy="365760"/>
          </a:xfrm>
          <a:prstGeom prst="ellipse">
            <a:avLst/>
          </a:prstGeom>
          <a:solidFill>
            <a:srgbClr val="1E2761"/>
          </a:solidFill>
          <a:ln w="25400">
            <a:solidFill>
              <a:srgbClr val="FFFFFF"/>
            </a:solidFill>
            <a:prstDash val="solid"/>
          </a:ln>
        </p:spPr>
        <p:txBody>
          <a:bodyPr/>
          <a:lstStyle/>
          <a:p>
            <a:endParaRPr lang="fr-FR"/>
          </a:p>
        </p:txBody>
      </p:sp>
      <p:sp>
        <p:nvSpPr>
          <p:cNvPr id="49" name="Text 47"/>
          <p:cNvSpPr/>
          <p:nvPr/>
        </p:nvSpPr>
        <p:spPr>
          <a:xfrm>
            <a:off x="7563917" y="35204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50" name="Shape 48"/>
          <p:cNvSpPr/>
          <p:nvPr/>
        </p:nvSpPr>
        <p:spPr>
          <a:xfrm>
            <a:off x="7746797" y="3200400"/>
            <a:ext cx="0" cy="320040"/>
          </a:xfrm>
          <a:prstGeom prst="line">
            <a:avLst/>
          </a:prstGeom>
          <a:noFill/>
          <a:ln w="19050">
            <a:solidFill>
              <a:srgbClr val="D9DEE8"/>
            </a:solidFill>
            <a:prstDash val="dash"/>
          </a:ln>
        </p:spPr>
        <p:txBody>
          <a:bodyPr/>
          <a:lstStyle/>
          <a:p>
            <a:endParaRPr lang="fr-FR"/>
          </a:p>
        </p:txBody>
      </p:sp>
      <p:sp>
        <p:nvSpPr>
          <p:cNvPr id="51" name="Shape 49"/>
          <p:cNvSpPr/>
          <p:nvPr/>
        </p:nvSpPr>
        <p:spPr>
          <a:xfrm>
            <a:off x="7060997" y="1417320"/>
            <a:ext cx="1371600" cy="1783080"/>
          </a:xfrm>
          <a:prstGeom prst="roundRect">
            <a:avLst>
              <a:gd name="adj" fmla="val 4667"/>
            </a:avLst>
          </a:prstGeom>
          <a:solidFill>
            <a:srgbClr val="F2F4F8"/>
          </a:solidFill>
          <a:ln w="9525">
            <a:solidFill>
              <a:srgbClr val="D9DEE8"/>
            </a:solidFill>
            <a:prstDash val="solid"/>
          </a:ln>
          <a:effectLst>
            <a:outerShdw blurRad="63500" dist="25400" dir="5400000" algn="bl" rotWithShape="0">
              <a:srgbClr val="9AA3B5">
                <a:alpha val="25000"/>
              </a:srgbClr>
            </a:outerShdw>
          </a:effectLst>
        </p:spPr>
        <p:txBody>
          <a:bodyPr/>
          <a:lstStyle/>
          <a:p>
            <a:endParaRPr lang="fr-FR"/>
          </a:p>
        </p:txBody>
      </p:sp>
      <p:sp>
        <p:nvSpPr>
          <p:cNvPr id="52" name="Text 50"/>
          <p:cNvSpPr/>
          <p:nvPr/>
        </p:nvSpPr>
        <p:spPr>
          <a:xfrm>
            <a:off x="7189013" y="1527048"/>
            <a:ext cx="1115568" cy="365760"/>
          </a:xfrm>
          <a:prstGeom prst="rect">
            <a:avLst/>
          </a:prstGeom>
          <a:noFill/>
          <a:ln/>
        </p:spPr>
        <p:txBody>
          <a:bodyPr wrap="square" lIns="0" tIns="0" rIns="0" bIns="0" rtlCol="0" anchor="t"/>
          <a:lstStyle/>
          <a:p>
            <a:pPr marL="0" indent="0" algn="l">
              <a:buNone/>
            </a:pPr>
            <a:r>
              <a:rPr lang="en-US" sz="1250" b="1" dirty="0">
                <a:solidFill>
                  <a:srgbClr val="1E2761"/>
                </a:solidFill>
                <a:latin typeface="Calibri" pitchFamily="34" charset="0"/>
                <a:ea typeface="Calibri" pitchFamily="34" charset="-122"/>
                <a:cs typeface="Calibri" pitchFamily="34" charset="-120"/>
              </a:rPr>
              <a:t>Industrialiser Serviced Data</a:t>
            </a:r>
            <a:endParaRPr lang="en-US" sz="1250" dirty="0"/>
          </a:p>
        </p:txBody>
      </p:sp>
      <p:sp>
        <p:nvSpPr>
          <p:cNvPr id="53" name="Shape 51"/>
          <p:cNvSpPr/>
          <p:nvPr/>
        </p:nvSpPr>
        <p:spPr>
          <a:xfrm>
            <a:off x="7189013" y="1929384"/>
            <a:ext cx="1115568" cy="0"/>
          </a:xfrm>
          <a:prstGeom prst="line">
            <a:avLst/>
          </a:prstGeom>
          <a:noFill/>
          <a:ln w="9525">
            <a:solidFill>
              <a:srgbClr val="D9DEE8"/>
            </a:solidFill>
            <a:prstDash val="solid"/>
          </a:ln>
        </p:spPr>
        <p:txBody>
          <a:bodyPr/>
          <a:lstStyle/>
          <a:p>
            <a:endParaRPr lang="fr-FR"/>
          </a:p>
        </p:txBody>
      </p:sp>
      <p:sp>
        <p:nvSpPr>
          <p:cNvPr id="54" name="Text 52"/>
          <p:cNvSpPr/>
          <p:nvPr/>
        </p:nvSpPr>
        <p:spPr>
          <a:xfrm>
            <a:off x="7189013" y="2002536"/>
            <a:ext cx="1115568" cy="548640"/>
          </a:xfrm>
          <a:prstGeom prst="rect">
            <a:avLst/>
          </a:prstGeom>
          <a:noFill/>
          <a:ln/>
        </p:spPr>
        <p:txBody>
          <a:bodyPr wrap="square" lIns="0" tIns="0" rIns="0" bIns="0" rtlCol="0" anchor="t"/>
          <a:lstStyle/>
          <a:p>
            <a:pPr marL="0" indent="0" algn="l">
              <a:buNone/>
            </a:pPr>
            <a:r>
              <a:rPr lang="en-US" sz="1000" dirty="0">
                <a:solidFill>
                  <a:srgbClr val="3A3F4B"/>
                </a:solidFill>
                <a:latin typeface="Calibri" pitchFamily="34" charset="0"/>
                <a:ea typeface="Calibri" pitchFamily="34" charset="-122"/>
                <a:cs typeface="Calibri" pitchFamily="34" charset="-120"/>
              </a:rPr>
              <a:t>Data services, SRE, and data self-serving</a:t>
            </a:r>
            <a:endParaRPr lang="en-US" sz="1000" dirty="0"/>
          </a:p>
        </p:txBody>
      </p:sp>
      <p:sp>
        <p:nvSpPr>
          <p:cNvPr id="55" name="Text 53"/>
          <p:cNvSpPr/>
          <p:nvPr/>
        </p:nvSpPr>
        <p:spPr>
          <a:xfrm>
            <a:off x="7189013" y="2542032"/>
            <a:ext cx="1115568" cy="621792"/>
          </a:xfrm>
          <a:prstGeom prst="rect">
            <a:avLst/>
          </a:prstGeom>
          <a:noFill/>
          <a:ln/>
        </p:spPr>
        <p:txBody>
          <a:bodyPr wrap="square" lIns="0" tIns="0" rIns="0" bIns="0" rtlCol="0" anchor="t"/>
          <a:lstStyle/>
          <a:p>
            <a:pPr marL="0" indent="0" algn="l">
              <a:buNone/>
            </a:pPr>
            <a:r>
              <a:rPr lang="en-US" sz="950" i="1" dirty="0">
                <a:solidFill>
                  <a:srgbClr val="141B45"/>
                </a:solidFill>
                <a:latin typeface="Calibri" pitchFamily="34" charset="0"/>
                <a:ea typeface="Calibri" pitchFamily="34" charset="-122"/>
                <a:cs typeface="Calibri" pitchFamily="34" charset="-120"/>
              </a:rPr>
              <a:t>Des data services mesurables pour le métier</a:t>
            </a:r>
            <a:endParaRPr lang="en-US" sz="950" dirty="0"/>
          </a:p>
        </p:txBody>
      </p:sp>
      <p:sp>
        <p:nvSpPr>
          <p:cNvPr id="56" name="Shape 54"/>
          <p:cNvSpPr/>
          <p:nvPr/>
        </p:nvSpPr>
        <p:spPr>
          <a:xfrm>
            <a:off x="7463333" y="4228825"/>
            <a:ext cx="566928" cy="237744"/>
          </a:xfrm>
          <a:prstGeom prst="roundRect">
            <a:avLst>
              <a:gd name="adj" fmla="val 50000"/>
            </a:avLst>
          </a:prstGeom>
          <a:solidFill>
            <a:srgbClr val="F7F8FA"/>
          </a:solidFill>
          <a:ln w="6350">
            <a:solidFill>
              <a:srgbClr val="D9DEE8"/>
            </a:solidFill>
            <a:prstDash val="solid"/>
          </a:ln>
        </p:spPr>
        <p:txBody>
          <a:bodyPr/>
          <a:lstStyle/>
          <a:p>
            <a:endParaRPr lang="fr-FR"/>
          </a:p>
        </p:txBody>
      </p:sp>
      <p:sp>
        <p:nvSpPr>
          <p:cNvPr id="57" name="Text 55"/>
          <p:cNvSpPr/>
          <p:nvPr/>
        </p:nvSpPr>
        <p:spPr>
          <a:xfrm>
            <a:off x="7463333" y="4228825"/>
            <a:ext cx="566928" cy="237744"/>
          </a:xfrm>
          <a:prstGeom prst="rect">
            <a:avLst/>
          </a:prstGeom>
          <a:noFill/>
          <a:ln/>
        </p:spPr>
        <p:txBody>
          <a:bodyPr wrap="square" lIns="0" tIns="0" rIns="0" bIns="0" rtlCol="0" anchor="ctr"/>
          <a:lstStyle/>
          <a:p>
            <a:pPr marL="0" indent="0" algn="ctr">
              <a:buNone/>
            </a:pPr>
            <a:r>
              <a:rPr lang="en-US" sz="800" b="1" dirty="0">
                <a:solidFill>
                  <a:srgbClr val="6B7280"/>
                </a:solidFill>
                <a:latin typeface="Calibri" pitchFamily="34" charset="0"/>
                <a:ea typeface="Calibri" pitchFamily="34" charset="-122"/>
                <a:cs typeface="Calibri" pitchFamily="34" charset="-120"/>
              </a:rPr>
              <a:t>4 - 6 sem.</a:t>
            </a:r>
            <a:endParaRPr lang="en-US" sz="800" dirty="0"/>
          </a:p>
        </p:txBody>
      </p:sp>
      <p:sp>
        <p:nvSpPr>
          <p:cNvPr id="58" name="Shape 56"/>
          <p:cNvSpPr/>
          <p:nvPr/>
        </p:nvSpPr>
        <p:spPr>
          <a:xfrm>
            <a:off x="9145415" y="3450990"/>
            <a:ext cx="518111" cy="521208"/>
          </a:xfrm>
          <a:prstGeom prst="ellipse">
            <a:avLst/>
          </a:prstGeom>
          <a:solidFill>
            <a:srgbClr val="1E2761"/>
          </a:solidFill>
          <a:ln w="25400">
            <a:solidFill>
              <a:srgbClr val="FFFFFF"/>
            </a:solidFill>
            <a:prstDash val="solid"/>
          </a:ln>
        </p:spPr>
        <p:txBody>
          <a:bodyPr/>
          <a:lstStyle/>
          <a:p>
            <a:endParaRPr lang="fr-FR"/>
          </a:p>
        </p:txBody>
      </p:sp>
      <p:sp>
        <p:nvSpPr>
          <p:cNvPr id="59" name="Text 57"/>
          <p:cNvSpPr/>
          <p:nvPr/>
        </p:nvSpPr>
        <p:spPr>
          <a:xfrm>
            <a:off x="9214866" y="35204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5 - 6</a:t>
            </a:r>
            <a:endParaRPr lang="en-US" sz="1300" dirty="0"/>
          </a:p>
        </p:txBody>
      </p:sp>
      <p:sp>
        <p:nvSpPr>
          <p:cNvPr id="60" name="Shape 58"/>
          <p:cNvSpPr/>
          <p:nvPr/>
        </p:nvSpPr>
        <p:spPr>
          <a:xfrm>
            <a:off x="9397746" y="4100809"/>
            <a:ext cx="0" cy="320040"/>
          </a:xfrm>
          <a:prstGeom prst="line">
            <a:avLst/>
          </a:prstGeom>
          <a:noFill/>
          <a:ln w="19050">
            <a:solidFill>
              <a:srgbClr val="D9DEE8"/>
            </a:solidFill>
            <a:prstDash val="dash"/>
          </a:ln>
        </p:spPr>
        <p:txBody>
          <a:bodyPr/>
          <a:lstStyle/>
          <a:p>
            <a:endParaRPr lang="fr-FR"/>
          </a:p>
        </p:txBody>
      </p:sp>
      <p:sp>
        <p:nvSpPr>
          <p:cNvPr id="61" name="Shape 59"/>
          <p:cNvSpPr/>
          <p:nvPr/>
        </p:nvSpPr>
        <p:spPr>
          <a:xfrm>
            <a:off x="8711946" y="4206240"/>
            <a:ext cx="1371600" cy="1783080"/>
          </a:xfrm>
          <a:prstGeom prst="roundRect">
            <a:avLst>
              <a:gd name="adj" fmla="val 4667"/>
            </a:avLst>
          </a:prstGeom>
          <a:solidFill>
            <a:srgbClr val="F2F4F8"/>
          </a:solidFill>
          <a:ln w="9525">
            <a:solidFill>
              <a:srgbClr val="D9DEE8"/>
            </a:solidFill>
            <a:prstDash val="solid"/>
          </a:ln>
          <a:effectLst>
            <a:outerShdw blurRad="63500" dist="25400" dir="5400000" algn="bl" rotWithShape="0">
              <a:srgbClr val="9AA3B5">
                <a:alpha val="25000"/>
              </a:srgbClr>
            </a:outerShdw>
          </a:effectLst>
        </p:spPr>
        <p:txBody>
          <a:bodyPr/>
          <a:lstStyle/>
          <a:p>
            <a:endParaRPr lang="fr-FR"/>
          </a:p>
        </p:txBody>
      </p:sp>
      <p:sp>
        <p:nvSpPr>
          <p:cNvPr id="62" name="Text 60"/>
          <p:cNvSpPr/>
          <p:nvPr/>
        </p:nvSpPr>
        <p:spPr>
          <a:xfrm>
            <a:off x="8839962" y="4315968"/>
            <a:ext cx="1115568" cy="365760"/>
          </a:xfrm>
          <a:prstGeom prst="rect">
            <a:avLst/>
          </a:prstGeom>
          <a:noFill/>
          <a:ln/>
        </p:spPr>
        <p:txBody>
          <a:bodyPr wrap="square" lIns="0" tIns="0" rIns="0" bIns="0" rtlCol="0" anchor="t"/>
          <a:lstStyle/>
          <a:p>
            <a:pPr marL="0" indent="0" algn="l">
              <a:buNone/>
            </a:pPr>
            <a:r>
              <a:rPr lang="en-US" sz="1250" b="1" dirty="0">
                <a:solidFill>
                  <a:srgbClr val="1E2761"/>
                </a:solidFill>
                <a:latin typeface="Calibri" pitchFamily="34" charset="0"/>
                <a:ea typeface="Calibri" pitchFamily="34" charset="-122"/>
                <a:cs typeface="Calibri" pitchFamily="34" charset="-120"/>
              </a:rPr>
              <a:t>Industrialiser les cycles ML</a:t>
            </a:r>
            <a:endParaRPr lang="en-US" sz="1250" dirty="0"/>
          </a:p>
        </p:txBody>
      </p:sp>
      <p:sp>
        <p:nvSpPr>
          <p:cNvPr id="63" name="Shape 61"/>
          <p:cNvSpPr/>
          <p:nvPr/>
        </p:nvSpPr>
        <p:spPr>
          <a:xfrm>
            <a:off x="8839962" y="4718304"/>
            <a:ext cx="1115568" cy="0"/>
          </a:xfrm>
          <a:prstGeom prst="line">
            <a:avLst/>
          </a:prstGeom>
          <a:noFill/>
          <a:ln w="9525">
            <a:solidFill>
              <a:srgbClr val="D9DEE8"/>
            </a:solidFill>
            <a:prstDash val="solid"/>
          </a:ln>
        </p:spPr>
        <p:txBody>
          <a:bodyPr/>
          <a:lstStyle/>
          <a:p>
            <a:endParaRPr lang="fr-FR"/>
          </a:p>
        </p:txBody>
      </p:sp>
      <p:sp>
        <p:nvSpPr>
          <p:cNvPr id="64" name="Text 62"/>
          <p:cNvSpPr/>
          <p:nvPr/>
        </p:nvSpPr>
        <p:spPr>
          <a:xfrm>
            <a:off x="8839962" y="4791456"/>
            <a:ext cx="1115568" cy="548640"/>
          </a:xfrm>
          <a:prstGeom prst="rect">
            <a:avLst/>
          </a:prstGeom>
          <a:noFill/>
          <a:ln/>
        </p:spPr>
        <p:txBody>
          <a:bodyPr wrap="square" lIns="0" tIns="0" rIns="0" bIns="0" rtlCol="0" anchor="t"/>
          <a:lstStyle/>
          <a:p>
            <a:pPr marL="0" indent="0" algn="l">
              <a:buNone/>
            </a:pPr>
            <a:r>
              <a:rPr lang="en-US" sz="1000" dirty="0">
                <a:solidFill>
                  <a:srgbClr val="3A3F4B"/>
                </a:solidFill>
                <a:latin typeface="Calibri" pitchFamily="34" charset="0"/>
                <a:ea typeface="Calibri" pitchFamily="34" charset="-122"/>
                <a:cs typeface="Calibri" pitchFamily="34" charset="-120"/>
              </a:rPr>
              <a:t>ML Product + ML Service, CICD, </a:t>
            </a:r>
            <a:r>
              <a:rPr lang="en-US" sz="1000" dirty="0" err="1">
                <a:solidFill>
                  <a:srgbClr val="3A3F4B"/>
                </a:solidFill>
                <a:latin typeface="Calibri" pitchFamily="34" charset="0"/>
                <a:ea typeface="Calibri" pitchFamily="34" charset="-122"/>
                <a:cs typeface="Calibri" pitchFamily="34" charset="-120"/>
              </a:rPr>
              <a:t>MLOps</a:t>
            </a:r>
            <a:endParaRPr lang="en-US" sz="1000" dirty="0"/>
          </a:p>
        </p:txBody>
      </p:sp>
      <p:sp>
        <p:nvSpPr>
          <p:cNvPr id="65" name="Text 63"/>
          <p:cNvSpPr/>
          <p:nvPr/>
        </p:nvSpPr>
        <p:spPr>
          <a:xfrm>
            <a:off x="8839962" y="5330952"/>
            <a:ext cx="1115568" cy="621792"/>
          </a:xfrm>
          <a:prstGeom prst="rect">
            <a:avLst/>
          </a:prstGeom>
          <a:noFill/>
          <a:ln/>
        </p:spPr>
        <p:txBody>
          <a:bodyPr wrap="square" lIns="0" tIns="0" rIns="0" bIns="0" rtlCol="0" anchor="t"/>
          <a:lstStyle/>
          <a:p>
            <a:pPr marL="0" indent="0" algn="l">
              <a:buNone/>
            </a:pPr>
            <a:r>
              <a:rPr lang="en-US" sz="950" i="1" dirty="0">
                <a:solidFill>
                  <a:srgbClr val="141B45"/>
                </a:solidFill>
                <a:latin typeface="Calibri" pitchFamily="34" charset="0"/>
                <a:ea typeface="Calibri" pitchFamily="34" charset="-122"/>
                <a:cs typeface="Calibri" pitchFamily="34" charset="-120"/>
              </a:rPr>
              <a:t>Un impact mesurable sur le P&amp;L</a:t>
            </a:r>
            <a:endParaRPr lang="en-US" sz="950" dirty="0"/>
          </a:p>
        </p:txBody>
      </p:sp>
      <p:sp>
        <p:nvSpPr>
          <p:cNvPr id="66" name="Shape 64"/>
          <p:cNvSpPr/>
          <p:nvPr/>
        </p:nvSpPr>
        <p:spPr>
          <a:xfrm>
            <a:off x="9114282" y="2977397"/>
            <a:ext cx="566928" cy="237744"/>
          </a:xfrm>
          <a:prstGeom prst="roundRect">
            <a:avLst>
              <a:gd name="adj" fmla="val 50000"/>
            </a:avLst>
          </a:prstGeom>
          <a:solidFill>
            <a:srgbClr val="F7F8FA"/>
          </a:solidFill>
          <a:ln w="6350">
            <a:solidFill>
              <a:srgbClr val="D9DEE8"/>
            </a:solidFill>
            <a:prstDash val="solid"/>
          </a:ln>
        </p:spPr>
        <p:txBody>
          <a:bodyPr/>
          <a:lstStyle/>
          <a:p>
            <a:endParaRPr lang="fr-FR"/>
          </a:p>
        </p:txBody>
      </p:sp>
      <p:sp>
        <p:nvSpPr>
          <p:cNvPr id="67" name="Text 65"/>
          <p:cNvSpPr/>
          <p:nvPr/>
        </p:nvSpPr>
        <p:spPr>
          <a:xfrm>
            <a:off x="9114282" y="2977397"/>
            <a:ext cx="566928" cy="237744"/>
          </a:xfrm>
          <a:prstGeom prst="rect">
            <a:avLst/>
          </a:prstGeom>
          <a:noFill/>
          <a:ln/>
        </p:spPr>
        <p:txBody>
          <a:bodyPr wrap="square" lIns="0" tIns="0" rIns="0" bIns="0" rtlCol="0" anchor="ctr"/>
          <a:lstStyle/>
          <a:p>
            <a:pPr marL="0" indent="0" algn="ctr">
              <a:buNone/>
            </a:pPr>
            <a:r>
              <a:rPr lang="en-US" sz="800" b="1" dirty="0">
                <a:solidFill>
                  <a:srgbClr val="6B7280"/>
                </a:solidFill>
                <a:latin typeface="Calibri" pitchFamily="34" charset="0"/>
                <a:ea typeface="Calibri" pitchFamily="34" charset="-122"/>
                <a:cs typeface="Calibri" pitchFamily="34" charset="-120"/>
              </a:rPr>
              <a:t>12 - 18 sem.</a:t>
            </a:r>
            <a:endParaRPr lang="en-US" sz="800" dirty="0"/>
          </a:p>
        </p:txBody>
      </p:sp>
      <p:sp>
        <p:nvSpPr>
          <p:cNvPr id="68" name="Shape 66"/>
          <p:cNvSpPr/>
          <p:nvPr/>
        </p:nvSpPr>
        <p:spPr>
          <a:xfrm>
            <a:off x="10865815" y="3520440"/>
            <a:ext cx="365760" cy="365760"/>
          </a:xfrm>
          <a:prstGeom prst="ellipse">
            <a:avLst/>
          </a:prstGeom>
          <a:solidFill>
            <a:srgbClr val="1E2761"/>
          </a:solidFill>
          <a:ln w="25400">
            <a:solidFill>
              <a:srgbClr val="FFFFFF"/>
            </a:solidFill>
            <a:prstDash val="solid"/>
          </a:ln>
        </p:spPr>
        <p:txBody>
          <a:bodyPr/>
          <a:lstStyle/>
          <a:p>
            <a:endParaRPr lang="fr-FR"/>
          </a:p>
        </p:txBody>
      </p:sp>
      <p:sp>
        <p:nvSpPr>
          <p:cNvPr id="69" name="Text 67"/>
          <p:cNvSpPr/>
          <p:nvPr/>
        </p:nvSpPr>
        <p:spPr>
          <a:xfrm>
            <a:off x="10865815" y="35204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rPr>
              <a:t>7</a:t>
            </a:r>
            <a:endParaRPr lang="en-US" sz="1300" dirty="0"/>
          </a:p>
        </p:txBody>
      </p:sp>
      <p:sp>
        <p:nvSpPr>
          <p:cNvPr id="70" name="Shape 68"/>
          <p:cNvSpPr/>
          <p:nvPr/>
        </p:nvSpPr>
        <p:spPr>
          <a:xfrm>
            <a:off x="11048695" y="3200400"/>
            <a:ext cx="0" cy="320040"/>
          </a:xfrm>
          <a:prstGeom prst="line">
            <a:avLst/>
          </a:prstGeom>
          <a:noFill/>
          <a:ln w="19050">
            <a:solidFill>
              <a:srgbClr val="D9DEE8"/>
            </a:solidFill>
            <a:prstDash val="dash"/>
          </a:ln>
        </p:spPr>
        <p:txBody>
          <a:bodyPr/>
          <a:lstStyle/>
          <a:p>
            <a:endParaRPr lang="fr-FR"/>
          </a:p>
        </p:txBody>
      </p:sp>
      <p:sp>
        <p:nvSpPr>
          <p:cNvPr id="71" name="Shape 69"/>
          <p:cNvSpPr/>
          <p:nvPr/>
        </p:nvSpPr>
        <p:spPr>
          <a:xfrm>
            <a:off x="10362895" y="1417320"/>
            <a:ext cx="1371600" cy="1783080"/>
          </a:xfrm>
          <a:prstGeom prst="roundRect">
            <a:avLst>
              <a:gd name="adj" fmla="val 4667"/>
            </a:avLst>
          </a:prstGeom>
          <a:solidFill>
            <a:srgbClr val="F2F4F8"/>
          </a:solidFill>
          <a:ln w="9525">
            <a:solidFill>
              <a:srgbClr val="D9DEE8"/>
            </a:solidFill>
            <a:prstDash val="solid"/>
          </a:ln>
          <a:effectLst>
            <a:outerShdw blurRad="63500" dist="25400" dir="5400000" algn="bl" rotWithShape="0">
              <a:srgbClr val="9AA3B5">
                <a:alpha val="25000"/>
              </a:srgbClr>
            </a:outerShdw>
          </a:effectLst>
        </p:spPr>
        <p:txBody>
          <a:bodyPr/>
          <a:lstStyle/>
          <a:p>
            <a:endParaRPr lang="fr-FR"/>
          </a:p>
        </p:txBody>
      </p:sp>
      <p:sp>
        <p:nvSpPr>
          <p:cNvPr id="72" name="Text 70"/>
          <p:cNvSpPr/>
          <p:nvPr/>
        </p:nvSpPr>
        <p:spPr>
          <a:xfrm>
            <a:off x="10490911" y="1527048"/>
            <a:ext cx="1115568" cy="365760"/>
          </a:xfrm>
          <a:prstGeom prst="rect">
            <a:avLst/>
          </a:prstGeom>
          <a:noFill/>
          <a:ln/>
        </p:spPr>
        <p:txBody>
          <a:bodyPr wrap="square" lIns="0" tIns="0" rIns="0" bIns="0" rtlCol="0" anchor="t"/>
          <a:lstStyle/>
          <a:p>
            <a:pPr marL="0" indent="0" algn="l">
              <a:buNone/>
            </a:pPr>
            <a:r>
              <a:rPr lang="en-US" sz="1250" b="1" dirty="0">
                <a:solidFill>
                  <a:srgbClr val="1E2761"/>
                </a:solidFill>
                <a:latin typeface="Calibri" pitchFamily="34" charset="0"/>
                <a:ea typeface="Calibri" pitchFamily="34" charset="-122"/>
                <a:cs typeface="Calibri" pitchFamily="34" charset="-120"/>
              </a:rPr>
              <a:t>Converger</a:t>
            </a:r>
            <a:endParaRPr lang="en-US" sz="1250" dirty="0"/>
          </a:p>
        </p:txBody>
      </p:sp>
      <p:sp>
        <p:nvSpPr>
          <p:cNvPr id="73" name="Shape 71"/>
          <p:cNvSpPr/>
          <p:nvPr/>
        </p:nvSpPr>
        <p:spPr>
          <a:xfrm>
            <a:off x="10490911" y="1929384"/>
            <a:ext cx="1115568" cy="0"/>
          </a:xfrm>
          <a:prstGeom prst="line">
            <a:avLst/>
          </a:prstGeom>
          <a:noFill/>
          <a:ln w="9525">
            <a:solidFill>
              <a:srgbClr val="D9DEE8"/>
            </a:solidFill>
            <a:prstDash val="solid"/>
          </a:ln>
        </p:spPr>
        <p:txBody>
          <a:bodyPr/>
          <a:lstStyle/>
          <a:p>
            <a:endParaRPr lang="fr-FR"/>
          </a:p>
        </p:txBody>
      </p:sp>
      <p:sp>
        <p:nvSpPr>
          <p:cNvPr id="74" name="Text 72"/>
          <p:cNvSpPr/>
          <p:nvPr/>
        </p:nvSpPr>
        <p:spPr>
          <a:xfrm>
            <a:off x="10490911" y="2002536"/>
            <a:ext cx="1115568" cy="548640"/>
          </a:xfrm>
          <a:prstGeom prst="rect">
            <a:avLst/>
          </a:prstGeom>
          <a:noFill/>
          <a:ln/>
        </p:spPr>
        <p:txBody>
          <a:bodyPr wrap="square" lIns="0" tIns="0" rIns="0" bIns="0" rtlCol="0" anchor="t"/>
          <a:lstStyle/>
          <a:p>
            <a:pPr marL="0" indent="0" algn="l">
              <a:buNone/>
            </a:pPr>
            <a:r>
              <a:rPr lang="en-US" sz="1000" dirty="0">
                <a:solidFill>
                  <a:srgbClr val="3A3F4B"/>
                </a:solidFill>
                <a:latin typeface="Calibri" pitchFamily="34" charset="0"/>
                <a:ea typeface="Calibri" pitchFamily="34" charset="-122"/>
                <a:cs typeface="Calibri" pitchFamily="34" charset="-120"/>
              </a:rPr>
              <a:t>Backbone unique Data/Services/ML</a:t>
            </a:r>
            <a:endParaRPr lang="en-US" sz="1000" dirty="0"/>
          </a:p>
        </p:txBody>
      </p:sp>
      <p:sp>
        <p:nvSpPr>
          <p:cNvPr id="75" name="Text 73"/>
          <p:cNvSpPr/>
          <p:nvPr/>
        </p:nvSpPr>
        <p:spPr>
          <a:xfrm>
            <a:off x="10490911" y="2542032"/>
            <a:ext cx="1115568" cy="621792"/>
          </a:xfrm>
          <a:prstGeom prst="rect">
            <a:avLst/>
          </a:prstGeom>
          <a:noFill/>
          <a:ln/>
        </p:spPr>
        <p:txBody>
          <a:bodyPr wrap="square" lIns="0" tIns="0" rIns="0" bIns="0" rtlCol="0" anchor="t"/>
          <a:lstStyle/>
          <a:p>
            <a:pPr marL="0" indent="0" algn="l">
              <a:buNone/>
            </a:pPr>
            <a:r>
              <a:rPr lang="en-US" sz="950" i="1" dirty="0">
                <a:solidFill>
                  <a:srgbClr val="141B45"/>
                </a:solidFill>
                <a:latin typeface="Calibri" pitchFamily="34" charset="0"/>
                <a:ea typeface="Calibri" pitchFamily="34" charset="-122"/>
                <a:cs typeface="Calibri" pitchFamily="34" charset="-120"/>
              </a:rPr>
              <a:t>Fin de la dispersion et des coûts dupliqués</a:t>
            </a:r>
            <a:endParaRPr lang="en-US" sz="950" dirty="0"/>
          </a:p>
        </p:txBody>
      </p:sp>
      <p:sp>
        <p:nvSpPr>
          <p:cNvPr id="76" name="Shape 74"/>
          <p:cNvSpPr/>
          <p:nvPr/>
        </p:nvSpPr>
        <p:spPr>
          <a:xfrm>
            <a:off x="10765231" y="4228825"/>
            <a:ext cx="566928" cy="237744"/>
          </a:xfrm>
          <a:prstGeom prst="roundRect">
            <a:avLst>
              <a:gd name="adj" fmla="val 50000"/>
            </a:avLst>
          </a:prstGeom>
          <a:solidFill>
            <a:srgbClr val="F7F8FA"/>
          </a:solidFill>
          <a:ln w="6350">
            <a:solidFill>
              <a:srgbClr val="D9DEE8"/>
            </a:solidFill>
            <a:prstDash val="solid"/>
          </a:ln>
        </p:spPr>
        <p:txBody>
          <a:bodyPr/>
          <a:lstStyle/>
          <a:p>
            <a:endParaRPr lang="fr-FR"/>
          </a:p>
        </p:txBody>
      </p:sp>
      <p:sp>
        <p:nvSpPr>
          <p:cNvPr id="77" name="Text 75"/>
          <p:cNvSpPr/>
          <p:nvPr/>
        </p:nvSpPr>
        <p:spPr>
          <a:xfrm>
            <a:off x="10765231" y="4228825"/>
            <a:ext cx="566928" cy="237744"/>
          </a:xfrm>
          <a:prstGeom prst="rect">
            <a:avLst/>
          </a:prstGeom>
          <a:noFill/>
          <a:ln/>
        </p:spPr>
        <p:txBody>
          <a:bodyPr wrap="square" lIns="0" tIns="0" rIns="0" bIns="0" rtlCol="0" anchor="ctr"/>
          <a:lstStyle/>
          <a:p>
            <a:pPr marL="0" indent="0" algn="ctr">
              <a:buNone/>
            </a:pPr>
            <a:r>
              <a:rPr lang="en-US" sz="800" b="1" dirty="0">
                <a:solidFill>
                  <a:srgbClr val="6B7280"/>
                </a:solidFill>
                <a:latin typeface="Calibri" pitchFamily="34" charset="0"/>
                <a:ea typeface="Calibri" pitchFamily="34" charset="-122"/>
                <a:cs typeface="Calibri" pitchFamily="34" charset="-120"/>
              </a:rPr>
              <a:t>continu</a:t>
            </a:r>
            <a:endParaRPr lang="en-US" sz="800" dirty="0"/>
          </a:p>
        </p:txBody>
      </p:sp>
      <p:sp>
        <p:nvSpPr>
          <p:cNvPr id="78" name="Shape 76"/>
          <p:cNvSpPr/>
          <p:nvPr/>
        </p:nvSpPr>
        <p:spPr>
          <a:xfrm>
            <a:off x="0" y="6263640"/>
            <a:ext cx="12191695" cy="594360"/>
          </a:xfrm>
          <a:prstGeom prst="rect">
            <a:avLst/>
          </a:prstGeom>
          <a:solidFill>
            <a:srgbClr val="1E2761"/>
          </a:solidFill>
          <a:ln/>
        </p:spPr>
        <p:txBody>
          <a:bodyPr/>
          <a:lstStyle/>
          <a:p>
            <a:endParaRPr lang="fr-FR"/>
          </a:p>
        </p:txBody>
      </p:sp>
      <p:sp>
        <p:nvSpPr>
          <p:cNvPr id="79" name="Text 77"/>
          <p:cNvSpPr/>
          <p:nvPr/>
        </p:nvSpPr>
        <p:spPr>
          <a:xfrm>
            <a:off x="548640" y="6263640"/>
            <a:ext cx="11094415" cy="594360"/>
          </a:xfrm>
          <a:prstGeom prst="rect">
            <a:avLst/>
          </a:prstGeom>
          <a:noFill/>
          <a:ln/>
        </p:spPr>
        <p:txBody>
          <a:bodyPr wrap="square" lIns="0" tIns="0" rIns="0" bIns="0" rtlCol="0" anchor="ctr"/>
          <a:lstStyle/>
          <a:p>
            <a:pPr marL="0" indent="0" algn="ctr">
              <a:buNone/>
            </a:pPr>
            <a:r>
              <a:rPr lang="en-US" sz="1300" i="1" dirty="0">
                <a:solidFill>
                  <a:srgbClr val="FFFFFF"/>
                </a:solidFill>
                <a:latin typeface="Cambria" pitchFamily="34" charset="0"/>
                <a:ea typeface="Cambria" pitchFamily="34" charset="-122"/>
                <a:cs typeface="Cambria" pitchFamily="34" charset="-120"/>
              </a:rPr>
              <a:t>Chaque palier livre un actif concret réutilisable ET une </a:t>
            </a:r>
            <a:r>
              <a:rPr lang="en-US" sz="1300" i="1" dirty="0" err="1">
                <a:solidFill>
                  <a:srgbClr val="FFFFFF"/>
                </a:solidFill>
                <a:latin typeface="Cambria" pitchFamily="34" charset="0"/>
                <a:ea typeface="Cambria" pitchFamily="34" charset="-122"/>
                <a:cs typeface="Cambria" pitchFamily="34" charset="-120"/>
              </a:rPr>
              <a:t>valeur</a:t>
            </a:r>
            <a:r>
              <a:rPr lang="en-US" sz="1300" i="1" dirty="0">
                <a:solidFill>
                  <a:srgbClr val="FFFFFF"/>
                </a:solidFill>
                <a:latin typeface="Cambria" pitchFamily="34" charset="0"/>
                <a:ea typeface="Cambria" pitchFamily="34" charset="-122"/>
                <a:cs typeface="Cambria" pitchFamily="34" charset="-120"/>
              </a:rPr>
              <a:t> </a:t>
            </a:r>
            <a:r>
              <a:rPr lang="en-US" sz="1300" i="1" dirty="0" err="1">
                <a:solidFill>
                  <a:srgbClr val="FFFFFF"/>
                </a:solidFill>
                <a:latin typeface="Cambria" pitchFamily="34" charset="0"/>
                <a:ea typeface="Cambria" pitchFamily="34" charset="-122"/>
                <a:cs typeface="Cambria" pitchFamily="34" charset="-120"/>
              </a:rPr>
              <a:t>immédiate</a:t>
            </a:r>
            <a:r>
              <a:rPr lang="en-US" sz="1300" i="1" dirty="0">
                <a:solidFill>
                  <a:srgbClr val="FFFFFF"/>
                </a:solidFill>
                <a:latin typeface="Cambria" pitchFamily="34" charset="0"/>
                <a:ea typeface="Cambria" pitchFamily="34" charset="-122"/>
                <a:cs typeface="Cambria" pitchFamily="34" charset="-120"/>
              </a:rPr>
              <a:t>.</a:t>
            </a:r>
            <a:endParaRPr lang="en-US" sz="1300" dirty="0"/>
          </a:p>
        </p:txBody>
      </p:sp>
      <p:sp>
        <p:nvSpPr>
          <p:cNvPr id="81" name="Shape 7">
            <a:extLst>
              <a:ext uri="{FF2B5EF4-FFF2-40B4-BE49-F238E27FC236}">
                <a16:creationId xmlns:a16="http://schemas.microsoft.com/office/drawing/2014/main" id="{94D76976-DE20-9725-4C0E-4A735F44FD5D}"/>
              </a:ext>
            </a:extLst>
          </p:cNvPr>
          <p:cNvSpPr/>
          <p:nvPr/>
        </p:nvSpPr>
        <p:spPr>
          <a:xfrm>
            <a:off x="457200" y="1417320"/>
            <a:ext cx="1371600" cy="1783080"/>
          </a:xfrm>
          <a:prstGeom prst="roundRect">
            <a:avLst>
              <a:gd name="adj" fmla="val 4667"/>
            </a:avLst>
          </a:prstGeom>
          <a:solidFill>
            <a:srgbClr val="F0FBFC"/>
          </a:solidFill>
          <a:ln w="15875">
            <a:solidFill>
              <a:srgbClr val="0FA3B1"/>
            </a:solidFill>
            <a:prstDash val="solid"/>
          </a:ln>
          <a:effectLst>
            <a:outerShdw blurRad="63500" dist="25400" dir="5400000" algn="bl" rotWithShape="0">
              <a:srgbClr val="9AA3B5">
                <a:alpha val="25000"/>
              </a:srgbClr>
            </a:outerShdw>
          </a:effectLst>
        </p:spPr>
        <p:txBody>
          <a:bodyPr/>
          <a:lstStyle/>
          <a:p>
            <a:endParaRPr lang="fr-FR"/>
          </a:p>
        </p:txBody>
      </p:sp>
      <p:sp>
        <p:nvSpPr>
          <p:cNvPr id="83" name="Text 8">
            <a:extLst>
              <a:ext uri="{FF2B5EF4-FFF2-40B4-BE49-F238E27FC236}">
                <a16:creationId xmlns:a16="http://schemas.microsoft.com/office/drawing/2014/main" id="{AA835896-7321-2AE7-759D-AE77BB8E9C98}"/>
              </a:ext>
            </a:extLst>
          </p:cNvPr>
          <p:cNvSpPr/>
          <p:nvPr/>
        </p:nvSpPr>
        <p:spPr>
          <a:xfrm>
            <a:off x="585216" y="1527048"/>
            <a:ext cx="1115568" cy="365760"/>
          </a:xfrm>
          <a:prstGeom prst="rect">
            <a:avLst/>
          </a:prstGeom>
          <a:noFill/>
          <a:ln/>
        </p:spPr>
        <p:txBody>
          <a:bodyPr wrap="square" lIns="0" tIns="0" rIns="0" bIns="0" rtlCol="0" anchor="t"/>
          <a:lstStyle/>
          <a:p>
            <a:r>
              <a:rPr lang="en-US" sz="1250" b="1" dirty="0">
                <a:solidFill>
                  <a:srgbClr val="0C7C88"/>
                </a:solidFill>
                <a:latin typeface="Calibri" pitchFamily="34" charset="0"/>
                <a:ea typeface="Calibri" pitchFamily="34" charset="-122"/>
                <a:cs typeface="Calibri" pitchFamily="34" charset="-120"/>
              </a:rPr>
              <a:t>Explorer </a:t>
            </a:r>
            <a:r>
              <a:rPr lang="en-US" sz="800" b="1" dirty="0">
                <a:solidFill>
                  <a:srgbClr val="0FA3B1"/>
                </a:solidFill>
                <a:latin typeface="Calibri" pitchFamily="34" charset="0"/>
                <a:ea typeface="Calibri" pitchFamily="34" charset="-122"/>
                <a:cs typeface="Calibri" pitchFamily="34" charset="-120"/>
              </a:rPr>
              <a:t>DONE</a:t>
            </a:r>
          </a:p>
        </p:txBody>
      </p:sp>
      <p:sp>
        <p:nvSpPr>
          <p:cNvPr id="85" name="Shape 9">
            <a:extLst>
              <a:ext uri="{FF2B5EF4-FFF2-40B4-BE49-F238E27FC236}">
                <a16:creationId xmlns:a16="http://schemas.microsoft.com/office/drawing/2014/main" id="{727B28C8-BF08-2B52-D8D3-0347A54CB03C}"/>
              </a:ext>
            </a:extLst>
          </p:cNvPr>
          <p:cNvSpPr/>
          <p:nvPr/>
        </p:nvSpPr>
        <p:spPr>
          <a:xfrm>
            <a:off x="341424" y="1892808"/>
            <a:ext cx="1115568" cy="0"/>
          </a:xfrm>
          <a:prstGeom prst="line">
            <a:avLst/>
          </a:prstGeom>
          <a:noFill/>
          <a:ln w="9525">
            <a:solidFill>
              <a:srgbClr val="D9DEE8"/>
            </a:solidFill>
            <a:prstDash val="solid"/>
          </a:ln>
        </p:spPr>
        <p:txBody>
          <a:bodyPr/>
          <a:lstStyle/>
          <a:p>
            <a:endParaRPr lang="fr-FR"/>
          </a:p>
        </p:txBody>
      </p:sp>
      <p:sp>
        <p:nvSpPr>
          <p:cNvPr id="87" name="Text 10">
            <a:extLst>
              <a:ext uri="{FF2B5EF4-FFF2-40B4-BE49-F238E27FC236}">
                <a16:creationId xmlns:a16="http://schemas.microsoft.com/office/drawing/2014/main" id="{8C1490C6-F775-9566-1377-93F8FD76545E}"/>
              </a:ext>
            </a:extLst>
          </p:cNvPr>
          <p:cNvSpPr/>
          <p:nvPr/>
        </p:nvSpPr>
        <p:spPr>
          <a:xfrm>
            <a:off x="585216" y="2002536"/>
            <a:ext cx="1115568" cy="548640"/>
          </a:xfrm>
          <a:prstGeom prst="rect">
            <a:avLst/>
          </a:prstGeom>
          <a:noFill/>
          <a:ln/>
        </p:spPr>
        <p:txBody>
          <a:bodyPr wrap="square" lIns="0" tIns="0" rIns="0" bIns="0" rtlCol="0" anchor="t"/>
          <a:lstStyle/>
          <a:p>
            <a:pPr marL="0" indent="0" algn="l">
              <a:buNone/>
            </a:pPr>
            <a:r>
              <a:rPr lang="en-US" sz="1000" dirty="0">
                <a:solidFill>
                  <a:srgbClr val="3A3F4B"/>
                </a:solidFill>
                <a:latin typeface="Calibri" pitchFamily="34" charset="0"/>
                <a:ea typeface="Calibri" pitchFamily="34" charset="-122"/>
                <a:cs typeface="Calibri" pitchFamily="34" charset="-120"/>
              </a:rPr>
              <a:t>POC &amp; architecture cible</a:t>
            </a:r>
            <a:endParaRPr lang="en-US" sz="1000" dirty="0"/>
          </a:p>
        </p:txBody>
      </p:sp>
      <p:sp>
        <p:nvSpPr>
          <p:cNvPr id="89" name="Text 11">
            <a:extLst>
              <a:ext uri="{FF2B5EF4-FFF2-40B4-BE49-F238E27FC236}">
                <a16:creationId xmlns:a16="http://schemas.microsoft.com/office/drawing/2014/main" id="{7C3A878E-E6C0-CC9C-B14C-4C366406B3CA}"/>
              </a:ext>
            </a:extLst>
          </p:cNvPr>
          <p:cNvSpPr/>
          <p:nvPr/>
        </p:nvSpPr>
        <p:spPr>
          <a:xfrm>
            <a:off x="585216" y="2542032"/>
            <a:ext cx="1115568" cy="621792"/>
          </a:xfrm>
          <a:prstGeom prst="rect">
            <a:avLst/>
          </a:prstGeom>
          <a:noFill/>
          <a:ln/>
        </p:spPr>
        <p:txBody>
          <a:bodyPr wrap="square" lIns="0" tIns="0" rIns="0" bIns="0" rtlCol="0" anchor="t"/>
          <a:lstStyle/>
          <a:p>
            <a:pPr marL="0" indent="0" algn="l">
              <a:buNone/>
            </a:pPr>
            <a:r>
              <a:rPr lang="en-US" sz="950" i="1" dirty="0">
                <a:solidFill>
                  <a:srgbClr val="141B45"/>
                </a:solidFill>
                <a:latin typeface="Calibri" pitchFamily="34" charset="0"/>
                <a:ea typeface="Calibri" pitchFamily="34" charset="-122"/>
                <a:cs typeface="Calibri" pitchFamily="34" charset="-120"/>
              </a:rPr>
              <a:t>Limiter le risque avant d'investir</a:t>
            </a:r>
            <a:endParaRPr lang="en-US" sz="950" dirty="0"/>
          </a:p>
        </p:txBody>
      </p:sp>
      <p:sp>
        <p:nvSpPr>
          <p:cNvPr id="91" name="Shape 12">
            <a:extLst>
              <a:ext uri="{FF2B5EF4-FFF2-40B4-BE49-F238E27FC236}">
                <a16:creationId xmlns:a16="http://schemas.microsoft.com/office/drawing/2014/main" id="{CB613693-E922-5AC1-1BFB-C68BD7046D44}"/>
              </a:ext>
            </a:extLst>
          </p:cNvPr>
          <p:cNvSpPr/>
          <p:nvPr/>
        </p:nvSpPr>
        <p:spPr>
          <a:xfrm>
            <a:off x="890064" y="3413629"/>
            <a:ext cx="566928" cy="566928"/>
          </a:xfrm>
          <a:prstGeom prst="ellipse">
            <a:avLst/>
          </a:prstGeom>
          <a:solidFill>
            <a:srgbClr val="CFF3F5"/>
          </a:solidFill>
          <a:ln/>
        </p:spPr>
        <p:txBody>
          <a:bodyPr/>
          <a:lstStyle/>
          <a:p>
            <a:endParaRPr lang="fr-FR"/>
          </a:p>
        </p:txBody>
      </p:sp>
      <p:sp>
        <p:nvSpPr>
          <p:cNvPr id="93" name="Shape 13">
            <a:extLst>
              <a:ext uri="{FF2B5EF4-FFF2-40B4-BE49-F238E27FC236}">
                <a16:creationId xmlns:a16="http://schemas.microsoft.com/office/drawing/2014/main" id="{CC5B266A-D949-957F-DDC7-843330F7E88F}"/>
              </a:ext>
            </a:extLst>
          </p:cNvPr>
          <p:cNvSpPr/>
          <p:nvPr/>
        </p:nvSpPr>
        <p:spPr>
          <a:xfrm>
            <a:off x="990648" y="3514213"/>
            <a:ext cx="365760" cy="365760"/>
          </a:xfrm>
          <a:prstGeom prst="ellipse">
            <a:avLst/>
          </a:prstGeom>
          <a:solidFill>
            <a:srgbClr val="0FA3B1"/>
          </a:solidFill>
          <a:ln w="25400">
            <a:solidFill>
              <a:srgbClr val="FFFFFF"/>
            </a:solidFill>
            <a:prstDash val="solid"/>
          </a:ln>
        </p:spPr>
        <p:txBody>
          <a:bodyPr/>
          <a:lstStyle/>
          <a:p>
            <a:endParaRPr lang="fr-FR"/>
          </a:p>
        </p:txBody>
      </p:sp>
      <p:sp>
        <p:nvSpPr>
          <p:cNvPr id="95" name="Text 14">
            <a:extLst>
              <a:ext uri="{FF2B5EF4-FFF2-40B4-BE49-F238E27FC236}">
                <a16:creationId xmlns:a16="http://schemas.microsoft.com/office/drawing/2014/main" id="{9EBF22AA-C15A-2068-546B-A60AC2FFF059}"/>
              </a:ext>
            </a:extLst>
          </p:cNvPr>
          <p:cNvSpPr/>
          <p:nvPr/>
        </p:nvSpPr>
        <p:spPr>
          <a:xfrm>
            <a:off x="990648" y="3514213"/>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rPr>
              <a:t>0</a:t>
            </a:r>
            <a:endParaRPr lang="en-US" sz="1300" dirty="0"/>
          </a:p>
        </p:txBody>
      </p:sp>
      <p:sp>
        <p:nvSpPr>
          <p:cNvPr id="97" name="Shape 15">
            <a:extLst>
              <a:ext uri="{FF2B5EF4-FFF2-40B4-BE49-F238E27FC236}">
                <a16:creationId xmlns:a16="http://schemas.microsoft.com/office/drawing/2014/main" id="{618A9FFA-D232-2A69-778C-93DC3E4C342F}"/>
              </a:ext>
            </a:extLst>
          </p:cNvPr>
          <p:cNvSpPr/>
          <p:nvPr/>
        </p:nvSpPr>
        <p:spPr>
          <a:xfrm>
            <a:off x="1178198" y="3200400"/>
            <a:ext cx="0" cy="320040"/>
          </a:xfrm>
          <a:prstGeom prst="line">
            <a:avLst/>
          </a:prstGeom>
          <a:noFill/>
          <a:ln w="19050">
            <a:solidFill>
              <a:srgbClr val="0FA3B1"/>
            </a:solidFill>
            <a:prstDash val="dash"/>
          </a:ln>
        </p:spPr>
        <p:txBody>
          <a:bodyPr/>
          <a:lstStyle/>
          <a:p>
            <a:endParaRPr lang="fr-FR"/>
          </a:p>
        </p:txBody>
      </p:sp>
      <p:sp>
        <p:nvSpPr>
          <p:cNvPr id="99" name="Shape 38">
            <a:extLst>
              <a:ext uri="{FF2B5EF4-FFF2-40B4-BE49-F238E27FC236}">
                <a16:creationId xmlns:a16="http://schemas.microsoft.com/office/drawing/2014/main" id="{3BFA5F74-3122-D831-B59C-05C4025D0588}"/>
              </a:ext>
            </a:extLst>
          </p:cNvPr>
          <p:cNvSpPr/>
          <p:nvPr/>
        </p:nvSpPr>
        <p:spPr>
          <a:xfrm>
            <a:off x="6089620" y="3226833"/>
            <a:ext cx="6369" cy="293607"/>
          </a:xfrm>
          <a:prstGeom prst="line">
            <a:avLst/>
          </a:prstGeom>
          <a:noFill/>
          <a:ln w="19050">
            <a:solidFill>
              <a:srgbClr val="D9DEE8"/>
            </a:solidFill>
            <a:prstDash val="dash"/>
          </a:ln>
        </p:spPr>
        <p:txBody>
          <a:bodyPr/>
          <a:lstStyle/>
          <a:p>
            <a:endParaRPr lang="fr-FR"/>
          </a:p>
        </p:txBody>
      </p:sp>
      <p:sp>
        <p:nvSpPr>
          <p:cNvPr id="103" name="Shape 18">
            <a:extLst>
              <a:ext uri="{FF2B5EF4-FFF2-40B4-BE49-F238E27FC236}">
                <a16:creationId xmlns:a16="http://schemas.microsoft.com/office/drawing/2014/main" id="{FAA399FA-E5D4-CE4F-2C83-662AB6101DFF}"/>
              </a:ext>
            </a:extLst>
          </p:cNvPr>
          <p:cNvSpPr/>
          <p:nvPr/>
        </p:nvSpPr>
        <p:spPr>
          <a:xfrm>
            <a:off x="2787727" y="3189509"/>
            <a:ext cx="0" cy="320040"/>
          </a:xfrm>
          <a:prstGeom prst="line">
            <a:avLst/>
          </a:prstGeom>
          <a:noFill/>
          <a:ln w="19050">
            <a:solidFill>
              <a:srgbClr val="E8A33D"/>
            </a:solidFill>
            <a:prstDash val="dash"/>
          </a:ln>
        </p:spPr>
        <p:txBody>
          <a:bodyPr/>
          <a:lstStyle/>
          <a:p>
            <a:endParaRPr lang="fr-FR"/>
          </a:p>
        </p:txBody>
      </p:sp>
      <p:sp>
        <p:nvSpPr>
          <p:cNvPr id="105" name="Shape 58">
            <a:extLst>
              <a:ext uri="{FF2B5EF4-FFF2-40B4-BE49-F238E27FC236}">
                <a16:creationId xmlns:a16="http://schemas.microsoft.com/office/drawing/2014/main" id="{77AC9882-8DD3-D4EB-F303-F9189C81ED21}"/>
              </a:ext>
            </a:extLst>
          </p:cNvPr>
          <p:cNvSpPr/>
          <p:nvPr/>
        </p:nvSpPr>
        <p:spPr>
          <a:xfrm>
            <a:off x="9400854" y="3226830"/>
            <a:ext cx="0" cy="308351"/>
          </a:xfrm>
          <a:prstGeom prst="line">
            <a:avLst/>
          </a:prstGeom>
          <a:noFill/>
          <a:ln w="19050">
            <a:solidFill>
              <a:srgbClr val="D9DEE8"/>
            </a:solidFill>
            <a:prstDash val="dash"/>
          </a:ln>
        </p:spPr>
        <p:txBody>
          <a:bodyPr/>
          <a:lstStyle/>
          <a:p>
            <a:endParaRPr lang="fr-FR"/>
          </a:p>
        </p:txBody>
      </p:sp>
      <p:sp>
        <p:nvSpPr>
          <p:cNvPr id="107" name="Shape 28">
            <a:extLst>
              <a:ext uri="{FF2B5EF4-FFF2-40B4-BE49-F238E27FC236}">
                <a16:creationId xmlns:a16="http://schemas.microsoft.com/office/drawing/2014/main" id="{54101F92-6853-023F-0993-FBBD19D65779}"/>
              </a:ext>
            </a:extLst>
          </p:cNvPr>
          <p:cNvSpPr/>
          <p:nvPr/>
        </p:nvSpPr>
        <p:spPr>
          <a:xfrm>
            <a:off x="4442204" y="3908785"/>
            <a:ext cx="0" cy="320040"/>
          </a:xfrm>
          <a:prstGeom prst="line">
            <a:avLst/>
          </a:prstGeom>
          <a:noFill/>
          <a:ln w="19050">
            <a:solidFill>
              <a:srgbClr val="D9DEE8"/>
            </a:solidFill>
            <a:prstDash val="dash"/>
          </a:ln>
        </p:spPr>
        <p:txBody>
          <a:bodyPr/>
          <a:lstStyle/>
          <a:p>
            <a:endParaRPr lang="fr-FR"/>
          </a:p>
        </p:txBody>
      </p:sp>
      <p:sp>
        <p:nvSpPr>
          <p:cNvPr id="109" name="Shape 28">
            <a:extLst>
              <a:ext uri="{FF2B5EF4-FFF2-40B4-BE49-F238E27FC236}">
                <a16:creationId xmlns:a16="http://schemas.microsoft.com/office/drawing/2014/main" id="{EE9140BF-EA0A-94E6-0C3C-39E240884D2C}"/>
              </a:ext>
            </a:extLst>
          </p:cNvPr>
          <p:cNvSpPr/>
          <p:nvPr/>
        </p:nvSpPr>
        <p:spPr>
          <a:xfrm>
            <a:off x="7744102" y="3908785"/>
            <a:ext cx="0" cy="320040"/>
          </a:xfrm>
          <a:prstGeom prst="line">
            <a:avLst/>
          </a:prstGeom>
          <a:noFill/>
          <a:ln w="19050">
            <a:solidFill>
              <a:srgbClr val="D9DEE8"/>
            </a:solidFill>
            <a:prstDash val="dash"/>
          </a:ln>
        </p:spPr>
        <p:txBody>
          <a:bodyPr/>
          <a:lstStyle/>
          <a:p>
            <a:endParaRPr lang="fr-FR"/>
          </a:p>
        </p:txBody>
      </p:sp>
      <p:sp>
        <p:nvSpPr>
          <p:cNvPr id="111" name="Shape 28">
            <a:extLst>
              <a:ext uri="{FF2B5EF4-FFF2-40B4-BE49-F238E27FC236}">
                <a16:creationId xmlns:a16="http://schemas.microsoft.com/office/drawing/2014/main" id="{669C31F0-E47F-4E98-0218-3637FC5A79B8}"/>
              </a:ext>
            </a:extLst>
          </p:cNvPr>
          <p:cNvSpPr/>
          <p:nvPr/>
        </p:nvSpPr>
        <p:spPr>
          <a:xfrm>
            <a:off x="11048695" y="3886200"/>
            <a:ext cx="0" cy="320040"/>
          </a:xfrm>
          <a:prstGeom prst="line">
            <a:avLst/>
          </a:prstGeom>
          <a:noFill/>
          <a:ln w="19050">
            <a:solidFill>
              <a:srgbClr val="D9DEE8"/>
            </a:solidFill>
            <a:prstDash val="dash"/>
          </a:ln>
        </p:spPr>
        <p:txBody>
          <a:bodyPr/>
          <a:lstStyle/>
          <a:p>
            <a:endParaRPr lang="fr-FR"/>
          </a:p>
        </p:txBody>
      </p:sp>
      <p:sp>
        <p:nvSpPr>
          <p:cNvPr id="113" name="Shape 24">
            <a:extLst>
              <a:ext uri="{FF2B5EF4-FFF2-40B4-BE49-F238E27FC236}">
                <a16:creationId xmlns:a16="http://schemas.microsoft.com/office/drawing/2014/main" id="{DF702F1F-5B10-8D45-CCFB-8F4FCF0F81E3}"/>
              </a:ext>
            </a:extLst>
          </p:cNvPr>
          <p:cNvSpPr/>
          <p:nvPr/>
        </p:nvSpPr>
        <p:spPr>
          <a:xfrm>
            <a:off x="887255" y="4202318"/>
            <a:ext cx="566928" cy="237744"/>
          </a:xfrm>
          <a:prstGeom prst="roundRect">
            <a:avLst>
              <a:gd name="adj" fmla="val 50000"/>
            </a:avLst>
          </a:prstGeom>
          <a:solidFill>
            <a:srgbClr val="F0FBFC"/>
          </a:solidFill>
          <a:ln>
            <a:solidFill>
              <a:srgbClr val="0FA3B1"/>
            </a:solidFill>
          </a:ln>
        </p:spPr>
        <p:style>
          <a:lnRef idx="2">
            <a:schemeClr val="accent6"/>
          </a:lnRef>
          <a:fillRef idx="1">
            <a:schemeClr val="lt1"/>
          </a:fillRef>
          <a:effectRef idx="0">
            <a:schemeClr val="accent6"/>
          </a:effectRef>
          <a:fontRef idx="minor">
            <a:schemeClr val="dk1"/>
          </a:fontRef>
        </p:style>
        <p:txBody>
          <a:bodyPr/>
          <a:lstStyle/>
          <a:p>
            <a:endParaRPr lang="fr-FR">
              <a:solidFill>
                <a:srgbClr val="0FA3B1"/>
              </a:solidFill>
            </a:endParaRPr>
          </a:p>
        </p:txBody>
      </p:sp>
      <p:sp>
        <p:nvSpPr>
          <p:cNvPr id="115" name="Text 25">
            <a:extLst>
              <a:ext uri="{FF2B5EF4-FFF2-40B4-BE49-F238E27FC236}">
                <a16:creationId xmlns:a16="http://schemas.microsoft.com/office/drawing/2014/main" id="{CD77B1C5-315C-25E6-2B21-F7566A2F5B1B}"/>
              </a:ext>
            </a:extLst>
          </p:cNvPr>
          <p:cNvSpPr/>
          <p:nvPr/>
        </p:nvSpPr>
        <p:spPr>
          <a:xfrm>
            <a:off x="887255" y="4202318"/>
            <a:ext cx="566928" cy="237744"/>
          </a:xfrm>
          <a:prstGeom prst="rect">
            <a:avLst/>
          </a:prstGeom>
          <a:noFill/>
          <a:ln/>
        </p:spPr>
        <p:txBody>
          <a:bodyPr wrap="square" lIns="0" tIns="0" rIns="0" bIns="0" rtlCol="0" anchor="ctr"/>
          <a:lstStyle/>
          <a:p>
            <a:pPr marL="0" indent="0" algn="ctr">
              <a:buNone/>
            </a:pPr>
            <a:r>
              <a:rPr lang="en-US" sz="800" b="1" dirty="0">
                <a:solidFill>
                  <a:srgbClr val="0FA3B1"/>
                </a:solidFill>
                <a:latin typeface="Calibri" pitchFamily="34" charset="0"/>
                <a:ea typeface="Calibri" pitchFamily="34" charset="-122"/>
                <a:cs typeface="Calibri" pitchFamily="34" charset="-120"/>
              </a:rPr>
              <a:t>6 sem.</a:t>
            </a:r>
            <a:endParaRPr lang="en-US" sz="800" dirty="0">
              <a:solidFill>
                <a:srgbClr val="0FA3B1"/>
              </a:solidFill>
            </a:endParaRPr>
          </a:p>
        </p:txBody>
      </p:sp>
      <p:sp>
        <p:nvSpPr>
          <p:cNvPr id="117" name="Shape 15">
            <a:extLst>
              <a:ext uri="{FF2B5EF4-FFF2-40B4-BE49-F238E27FC236}">
                <a16:creationId xmlns:a16="http://schemas.microsoft.com/office/drawing/2014/main" id="{301CD0D6-9865-C037-AD3F-2B2B655420DD}"/>
              </a:ext>
            </a:extLst>
          </p:cNvPr>
          <p:cNvSpPr/>
          <p:nvPr/>
        </p:nvSpPr>
        <p:spPr>
          <a:xfrm>
            <a:off x="1178198" y="3879973"/>
            <a:ext cx="0" cy="320040"/>
          </a:xfrm>
          <a:prstGeom prst="line">
            <a:avLst/>
          </a:prstGeom>
          <a:noFill/>
          <a:ln w="19050">
            <a:solidFill>
              <a:srgbClr val="0FA3B1"/>
            </a:solidFill>
            <a:prstDash val="dash"/>
          </a:ln>
        </p:spPr>
        <p:txBody>
          <a:bodyPr/>
          <a:lstStyle/>
          <a:p>
            <a:endParaRPr lang="fr-F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92608"/>
            <a:ext cx="11094415" cy="457200"/>
          </a:xfrm>
          <a:prstGeom prst="rect">
            <a:avLst/>
          </a:prstGeom>
          <a:noFill/>
          <a:ln/>
        </p:spPr>
        <p:txBody>
          <a:bodyPr wrap="square" lIns="0" tIns="0" rIns="0" bIns="0" rtlCol="0" anchor="ctr"/>
          <a:lstStyle/>
          <a:p>
            <a:pPr marL="0" indent="0" algn="l">
              <a:buNone/>
            </a:pPr>
            <a:r>
              <a:rPr lang="en-US" sz="2500" b="1" dirty="0">
                <a:solidFill>
                  <a:srgbClr val="1E2761"/>
                </a:solidFill>
                <a:latin typeface="Cambria" pitchFamily="34" charset="0"/>
                <a:ea typeface="Cambria" pitchFamily="34" charset="-122"/>
                <a:cs typeface="Cambria" pitchFamily="34" charset="-120"/>
              </a:rPr>
              <a:t>Planning indicatif — Data Engineering vs ML</a:t>
            </a:r>
            <a:endParaRPr lang="en-US" sz="2500" dirty="0"/>
          </a:p>
        </p:txBody>
      </p:sp>
      <p:sp>
        <p:nvSpPr>
          <p:cNvPr id="3" name="Text 1"/>
          <p:cNvSpPr/>
          <p:nvPr/>
        </p:nvSpPr>
        <p:spPr>
          <a:xfrm>
            <a:off x="548640" y="731520"/>
            <a:ext cx="11094415" cy="457200"/>
          </a:xfrm>
          <a:prstGeom prst="rect">
            <a:avLst/>
          </a:prstGeom>
          <a:noFill/>
          <a:ln/>
        </p:spPr>
        <p:txBody>
          <a:bodyPr wrap="square" lIns="0" tIns="0" rIns="0" bIns="0" rtlCol="0" anchor="t"/>
          <a:lstStyle/>
          <a:p>
            <a:pPr marL="0" indent="0" algn="l">
              <a:buNone/>
            </a:pPr>
            <a:r>
              <a:rPr lang="en-US" sz="1150" i="1" dirty="0">
                <a:solidFill>
                  <a:srgbClr val="3A3F4B"/>
                </a:solidFill>
                <a:latin typeface="Calibri" pitchFamily="34" charset="0"/>
                <a:ea typeface="Calibri" pitchFamily="34" charset="-122"/>
                <a:cs typeface="Calibri" pitchFamily="34" charset="-120"/>
              </a:rPr>
              <a:t>Les capacités Data Engineering constituent progressivement le socle sur lequel les capacités ML sont industrialisées. Les phases se chevauchent lorsque les dépendances techniques le permettent.</a:t>
            </a:r>
            <a:endParaRPr lang="en-US" sz="1150" dirty="0"/>
          </a:p>
        </p:txBody>
      </p:sp>
      <p:sp>
        <p:nvSpPr>
          <p:cNvPr id="4" name="Shape 2"/>
          <p:cNvSpPr/>
          <p:nvPr/>
        </p:nvSpPr>
        <p:spPr>
          <a:xfrm>
            <a:off x="548640" y="1417320"/>
            <a:ext cx="11094415" cy="2286000"/>
          </a:xfrm>
          <a:prstGeom prst="rect">
            <a:avLst/>
          </a:prstGeom>
          <a:solidFill>
            <a:srgbClr val="F6F7FA"/>
          </a:solidFill>
          <a:ln/>
        </p:spPr>
        <p:txBody>
          <a:bodyPr/>
          <a:lstStyle/>
          <a:p>
            <a:endParaRPr lang="fr-FR"/>
          </a:p>
        </p:txBody>
      </p:sp>
      <p:sp>
        <p:nvSpPr>
          <p:cNvPr id="5" name="Shape 3"/>
          <p:cNvSpPr/>
          <p:nvPr/>
        </p:nvSpPr>
        <p:spPr>
          <a:xfrm>
            <a:off x="548640" y="3831336"/>
            <a:ext cx="11094415" cy="914400"/>
          </a:xfrm>
          <a:prstGeom prst="rect">
            <a:avLst/>
          </a:prstGeom>
          <a:solidFill>
            <a:srgbClr val="EDFAFB"/>
          </a:solidFill>
          <a:ln/>
        </p:spPr>
        <p:txBody>
          <a:bodyPr/>
          <a:lstStyle/>
          <a:p>
            <a:endParaRPr lang="fr-FR"/>
          </a:p>
        </p:txBody>
      </p:sp>
      <p:sp>
        <p:nvSpPr>
          <p:cNvPr id="6" name="Text 4"/>
          <p:cNvSpPr/>
          <p:nvPr/>
        </p:nvSpPr>
        <p:spPr>
          <a:xfrm>
            <a:off x="548640" y="1161288"/>
            <a:ext cx="4572000" cy="219456"/>
          </a:xfrm>
          <a:prstGeom prst="rect">
            <a:avLst/>
          </a:prstGeom>
          <a:noFill/>
          <a:ln/>
        </p:spPr>
        <p:txBody>
          <a:bodyPr wrap="square" lIns="0" tIns="0" rIns="0" bIns="0" rtlCol="0" anchor="ctr"/>
          <a:lstStyle/>
          <a:p>
            <a:pPr marL="0" indent="0" algn="l">
              <a:buNone/>
            </a:pPr>
            <a:r>
              <a:rPr lang="en-US" sz="950" b="1" kern="0" spc="100" dirty="0">
                <a:solidFill>
                  <a:srgbClr val="1E2761"/>
                </a:solidFill>
                <a:latin typeface="Calibri" pitchFamily="34" charset="0"/>
                <a:ea typeface="Calibri" pitchFamily="34" charset="-122"/>
                <a:cs typeface="Calibri" pitchFamily="34" charset="-120"/>
              </a:rPr>
              <a:t>PHASE DATA ENGINEERING</a:t>
            </a:r>
            <a:endParaRPr lang="en-US" sz="950" dirty="0"/>
          </a:p>
        </p:txBody>
      </p:sp>
      <p:sp>
        <p:nvSpPr>
          <p:cNvPr id="7" name="Text 5"/>
          <p:cNvSpPr/>
          <p:nvPr/>
        </p:nvSpPr>
        <p:spPr>
          <a:xfrm>
            <a:off x="548640" y="3575304"/>
            <a:ext cx="4572000" cy="219456"/>
          </a:xfrm>
          <a:prstGeom prst="rect">
            <a:avLst/>
          </a:prstGeom>
          <a:noFill/>
          <a:ln/>
        </p:spPr>
        <p:txBody>
          <a:bodyPr wrap="square" lIns="0" tIns="0" rIns="0" bIns="0" rtlCol="0" anchor="ctr"/>
          <a:lstStyle/>
          <a:p>
            <a:pPr marL="0" indent="0" algn="l">
              <a:buNone/>
            </a:pPr>
            <a:r>
              <a:rPr lang="en-US" sz="950" b="1" kern="0" spc="100" dirty="0">
                <a:solidFill>
                  <a:srgbClr val="6E5AA6"/>
                </a:solidFill>
                <a:latin typeface="Calibri" pitchFamily="34" charset="0"/>
                <a:ea typeface="Calibri" pitchFamily="34" charset="-122"/>
                <a:cs typeface="Calibri" pitchFamily="34" charset="-120"/>
              </a:rPr>
              <a:t>PHASE ML</a:t>
            </a:r>
            <a:endParaRPr lang="en-US" sz="950" dirty="0"/>
          </a:p>
        </p:txBody>
      </p:sp>
      <p:sp>
        <p:nvSpPr>
          <p:cNvPr id="8" name="Shape 6"/>
          <p:cNvSpPr/>
          <p:nvPr/>
        </p:nvSpPr>
        <p:spPr>
          <a:xfrm>
            <a:off x="3429000" y="1417320"/>
            <a:ext cx="0" cy="3328416"/>
          </a:xfrm>
          <a:prstGeom prst="line">
            <a:avLst/>
          </a:prstGeom>
          <a:noFill/>
          <a:ln w="9525">
            <a:solidFill>
              <a:srgbClr val="E4E7EE"/>
            </a:solidFill>
            <a:prstDash val="solid"/>
          </a:ln>
        </p:spPr>
        <p:txBody>
          <a:bodyPr/>
          <a:lstStyle/>
          <a:p>
            <a:endParaRPr lang="fr-FR"/>
          </a:p>
        </p:txBody>
      </p:sp>
      <p:sp>
        <p:nvSpPr>
          <p:cNvPr id="9" name="Text 7"/>
          <p:cNvSpPr/>
          <p:nvPr/>
        </p:nvSpPr>
        <p:spPr>
          <a:xfrm>
            <a:off x="3154680" y="4800600"/>
            <a:ext cx="548640" cy="219456"/>
          </a:xfrm>
          <a:prstGeom prst="rect">
            <a:avLst/>
          </a:prstGeom>
          <a:noFill/>
          <a:ln/>
        </p:spPr>
        <p:txBody>
          <a:bodyPr wrap="square" lIns="0" tIns="0" rIns="0" bIns="0" rtlCol="0" anchor="ctr"/>
          <a:lstStyle/>
          <a:p>
            <a:pPr marL="0" indent="0" algn="ctr">
              <a:buNone/>
            </a:pPr>
            <a:r>
              <a:rPr lang="en-US" sz="800" dirty="0">
                <a:solidFill>
                  <a:srgbClr val="9AA3B5"/>
                </a:solidFill>
                <a:latin typeface="Calibri" pitchFamily="34" charset="0"/>
                <a:ea typeface="Calibri" pitchFamily="34" charset="-122"/>
                <a:cs typeface="Calibri" pitchFamily="34" charset="-120"/>
              </a:rPr>
              <a:t>S0</a:t>
            </a:r>
            <a:endParaRPr lang="en-US" sz="800" dirty="0"/>
          </a:p>
        </p:txBody>
      </p:sp>
      <p:sp>
        <p:nvSpPr>
          <p:cNvPr id="10" name="Shape 8"/>
          <p:cNvSpPr/>
          <p:nvPr/>
        </p:nvSpPr>
        <p:spPr>
          <a:xfrm>
            <a:off x="4395359" y="1417320"/>
            <a:ext cx="0" cy="3328416"/>
          </a:xfrm>
          <a:prstGeom prst="line">
            <a:avLst/>
          </a:prstGeom>
          <a:noFill/>
          <a:ln w="9525">
            <a:solidFill>
              <a:srgbClr val="E4E7EE"/>
            </a:solidFill>
            <a:prstDash val="solid"/>
          </a:ln>
        </p:spPr>
        <p:txBody>
          <a:bodyPr/>
          <a:lstStyle/>
          <a:p>
            <a:endParaRPr lang="fr-FR"/>
          </a:p>
        </p:txBody>
      </p:sp>
      <p:sp>
        <p:nvSpPr>
          <p:cNvPr id="11" name="Text 9"/>
          <p:cNvSpPr/>
          <p:nvPr/>
        </p:nvSpPr>
        <p:spPr>
          <a:xfrm>
            <a:off x="4121039" y="4800600"/>
            <a:ext cx="548640" cy="219456"/>
          </a:xfrm>
          <a:prstGeom prst="rect">
            <a:avLst/>
          </a:prstGeom>
          <a:noFill/>
          <a:ln/>
        </p:spPr>
        <p:txBody>
          <a:bodyPr wrap="square" lIns="0" tIns="0" rIns="0" bIns="0" rtlCol="0" anchor="ctr"/>
          <a:lstStyle/>
          <a:p>
            <a:pPr marL="0" indent="0" algn="ctr">
              <a:buNone/>
            </a:pPr>
            <a:r>
              <a:rPr lang="en-US" sz="800" dirty="0">
                <a:solidFill>
                  <a:srgbClr val="9AA3B5"/>
                </a:solidFill>
                <a:latin typeface="Calibri" pitchFamily="34" charset="0"/>
                <a:ea typeface="Calibri" pitchFamily="34" charset="-122"/>
                <a:cs typeface="Calibri" pitchFamily="34" charset="-120"/>
              </a:rPr>
              <a:t>S4</a:t>
            </a:r>
            <a:endParaRPr lang="en-US" sz="800" dirty="0"/>
          </a:p>
        </p:txBody>
      </p:sp>
      <p:sp>
        <p:nvSpPr>
          <p:cNvPr id="12" name="Shape 10"/>
          <p:cNvSpPr/>
          <p:nvPr/>
        </p:nvSpPr>
        <p:spPr>
          <a:xfrm>
            <a:off x="5361719" y="1417320"/>
            <a:ext cx="0" cy="3328416"/>
          </a:xfrm>
          <a:prstGeom prst="line">
            <a:avLst/>
          </a:prstGeom>
          <a:noFill/>
          <a:ln w="9525">
            <a:solidFill>
              <a:srgbClr val="E4E7EE"/>
            </a:solidFill>
            <a:prstDash val="solid"/>
          </a:ln>
        </p:spPr>
        <p:txBody>
          <a:bodyPr/>
          <a:lstStyle/>
          <a:p>
            <a:endParaRPr lang="fr-FR"/>
          </a:p>
        </p:txBody>
      </p:sp>
      <p:sp>
        <p:nvSpPr>
          <p:cNvPr id="13" name="Text 11"/>
          <p:cNvSpPr/>
          <p:nvPr/>
        </p:nvSpPr>
        <p:spPr>
          <a:xfrm>
            <a:off x="5087399" y="4800600"/>
            <a:ext cx="548640" cy="219456"/>
          </a:xfrm>
          <a:prstGeom prst="rect">
            <a:avLst/>
          </a:prstGeom>
          <a:noFill/>
          <a:ln/>
        </p:spPr>
        <p:txBody>
          <a:bodyPr wrap="square" lIns="0" tIns="0" rIns="0" bIns="0" rtlCol="0" anchor="ctr"/>
          <a:lstStyle/>
          <a:p>
            <a:pPr marL="0" indent="0" algn="ctr">
              <a:buNone/>
            </a:pPr>
            <a:r>
              <a:rPr lang="en-US" sz="800" dirty="0">
                <a:solidFill>
                  <a:srgbClr val="9AA3B5"/>
                </a:solidFill>
                <a:latin typeface="Calibri" pitchFamily="34" charset="0"/>
                <a:ea typeface="Calibri" pitchFamily="34" charset="-122"/>
                <a:cs typeface="Calibri" pitchFamily="34" charset="-120"/>
              </a:rPr>
              <a:t>S8</a:t>
            </a:r>
            <a:endParaRPr lang="en-US" sz="800" dirty="0"/>
          </a:p>
        </p:txBody>
      </p:sp>
      <p:sp>
        <p:nvSpPr>
          <p:cNvPr id="14" name="Shape 12"/>
          <p:cNvSpPr/>
          <p:nvPr/>
        </p:nvSpPr>
        <p:spPr>
          <a:xfrm>
            <a:off x="6328078" y="1417320"/>
            <a:ext cx="0" cy="3328416"/>
          </a:xfrm>
          <a:prstGeom prst="line">
            <a:avLst/>
          </a:prstGeom>
          <a:noFill/>
          <a:ln w="9525">
            <a:solidFill>
              <a:srgbClr val="E4E7EE"/>
            </a:solidFill>
            <a:prstDash val="solid"/>
          </a:ln>
        </p:spPr>
        <p:txBody>
          <a:bodyPr/>
          <a:lstStyle/>
          <a:p>
            <a:endParaRPr lang="fr-FR"/>
          </a:p>
        </p:txBody>
      </p:sp>
      <p:sp>
        <p:nvSpPr>
          <p:cNvPr id="15" name="Text 13"/>
          <p:cNvSpPr/>
          <p:nvPr/>
        </p:nvSpPr>
        <p:spPr>
          <a:xfrm>
            <a:off x="6053758" y="4800600"/>
            <a:ext cx="548640" cy="219456"/>
          </a:xfrm>
          <a:prstGeom prst="rect">
            <a:avLst/>
          </a:prstGeom>
          <a:noFill/>
          <a:ln/>
        </p:spPr>
        <p:txBody>
          <a:bodyPr wrap="square" lIns="0" tIns="0" rIns="0" bIns="0" rtlCol="0" anchor="ctr"/>
          <a:lstStyle/>
          <a:p>
            <a:pPr marL="0" indent="0" algn="ctr">
              <a:buNone/>
            </a:pPr>
            <a:r>
              <a:rPr lang="en-US" sz="800" dirty="0">
                <a:solidFill>
                  <a:srgbClr val="9AA3B5"/>
                </a:solidFill>
                <a:latin typeface="Calibri" pitchFamily="34" charset="0"/>
                <a:ea typeface="Calibri" pitchFamily="34" charset="-122"/>
                <a:cs typeface="Calibri" pitchFamily="34" charset="-120"/>
              </a:rPr>
              <a:t>S12</a:t>
            </a:r>
            <a:endParaRPr lang="en-US" sz="800" dirty="0"/>
          </a:p>
        </p:txBody>
      </p:sp>
      <p:sp>
        <p:nvSpPr>
          <p:cNvPr id="16" name="Shape 14"/>
          <p:cNvSpPr/>
          <p:nvPr/>
        </p:nvSpPr>
        <p:spPr>
          <a:xfrm>
            <a:off x="7294438" y="1417320"/>
            <a:ext cx="0" cy="3328416"/>
          </a:xfrm>
          <a:prstGeom prst="line">
            <a:avLst/>
          </a:prstGeom>
          <a:noFill/>
          <a:ln w="9525">
            <a:solidFill>
              <a:srgbClr val="E4E7EE"/>
            </a:solidFill>
            <a:prstDash val="solid"/>
          </a:ln>
        </p:spPr>
        <p:txBody>
          <a:bodyPr/>
          <a:lstStyle/>
          <a:p>
            <a:endParaRPr lang="fr-FR"/>
          </a:p>
        </p:txBody>
      </p:sp>
      <p:sp>
        <p:nvSpPr>
          <p:cNvPr id="17" name="Text 15"/>
          <p:cNvSpPr/>
          <p:nvPr/>
        </p:nvSpPr>
        <p:spPr>
          <a:xfrm>
            <a:off x="7020118" y="4800600"/>
            <a:ext cx="548640" cy="219456"/>
          </a:xfrm>
          <a:prstGeom prst="rect">
            <a:avLst/>
          </a:prstGeom>
          <a:noFill/>
          <a:ln/>
        </p:spPr>
        <p:txBody>
          <a:bodyPr wrap="square" lIns="0" tIns="0" rIns="0" bIns="0" rtlCol="0" anchor="ctr"/>
          <a:lstStyle/>
          <a:p>
            <a:pPr marL="0" indent="0" algn="ctr">
              <a:buNone/>
            </a:pPr>
            <a:r>
              <a:rPr lang="en-US" sz="800" dirty="0">
                <a:solidFill>
                  <a:srgbClr val="9AA3B5"/>
                </a:solidFill>
                <a:latin typeface="Calibri" pitchFamily="34" charset="0"/>
                <a:ea typeface="Calibri" pitchFamily="34" charset="-122"/>
                <a:cs typeface="Calibri" pitchFamily="34" charset="-120"/>
              </a:rPr>
              <a:t>S16</a:t>
            </a:r>
            <a:endParaRPr lang="en-US" sz="800" dirty="0"/>
          </a:p>
        </p:txBody>
      </p:sp>
      <p:sp>
        <p:nvSpPr>
          <p:cNvPr id="18" name="Shape 16"/>
          <p:cNvSpPr/>
          <p:nvPr/>
        </p:nvSpPr>
        <p:spPr>
          <a:xfrm>
            <a:off x="8260797" y="1417320"/>
            <a:ext cx="0" cy="3328416"/>
          </a:xfrm>
          <a:prstGeom prst="line">
            <a:avLst/>
          </a:prstGeom>
          <a:noFill/>
          <a:ln w="9525">
            <a:solidFill>
              <a:srgbClr val="E4E7EE"/>
            </a:solidFill>
            <a:prstDash val="solid"/>
          </a:ln>
        </p:spPr>
        <p:txBody>
          <a:bodyPr/>
          <a:lstStyle/>
          <a:p>
            <a:endParaRPr lang="fr-FR"/>
          </a:p>
        </p:txBody>
      </p:sp>
      <p:sp>
        <p:nvSpPr>
          <p:cNvPr id="19" name="Text 17"/>
          <p:cNvSpPr/>
          <p:nvPr/>
        </p:nvSpPr>
        <p:spPr>
          <a:xfrm>
            <a:off x="7986477" y="4800600"/>
            <a:ext cx="548640" cy="219456"/>
          </a:xfrm>
          <a:prstGeom prst="rect">
            <a:avLst/>
          </a:prstGeom>
          <a:noFill/>
          <a:ln/>
        </p:spPr>
        <p:txBody>
          <a:bodyPr wrap="square" lIns="0" tIns="0" rIns="0" bIns="0" rtlCol="0" anchor="ctr"/>
          <a:lstStyle/>
          <a:p>
            <a:pPr marL="0" indent="0" algn="ctr">
              <a:buNone/>
            </a:pPr>
            <a:r>
              <a:rPr lang="en-US" sz="800" dirty="0">
                <a:solidFill>
                  <a:srgbClr val="9AA3B5"/>
                </a:solidFill>
                <a:latin typeface="Calibri" pitchFamily="34" charset="0"/>
                <a:ea typeface="Calibri" pitchFamily="34" charset="-122"/>
                <a:cs typeface="Calibri" pitchFamily="34" charset="-120"/>
              </a:rPr>
              <a:t>S20</a:t>
            </a:r>
            <a:endParaRPr lang="en-US" sz="800" dirty="0"/>
          </a:p>
        </p:txBody>
      </p:sp>
      <p:sp>
        <p:nvSpPr>
          <p:cNvPr id="20" name="Shape 18"/>
          <p:cNvSpPr/>
          <p:nvPr/>
        </p:nvSpPr>
        <p:spPr>
          <a:xfrm>
            <a:off x="9227157" y="1417320"/>
            <a:ext cx="0" cy="3328416"/>
          </a:xfrm>
          <a:prstGeom prst="line">
            <a:avLst/>
          </a:prstGeom>
          <a:noFill/>
          <a:ln w="9525">
            <a:solidFill>
              <a:srgbClr val="E4E7EE"/>
            </a:solidFill>
            <a:prstDash val="solid"/>
          </a:ln>
        </p:spPr>
        <p:txBody>
          <a:bodyPr/>
          <a:lstStyle/>
          <a:p>
            <a:endParaRPr lang="fr-FR"/>
          </a:p>
        </p:txBody>
      </p:sp>
      <p:sp>
        <p:nvSpPr>
          <p:cNvPr id="21" name="Text 19"/>
          <p:cNvSpPr/>
          <p:nvPr/>
        </p:nvSpPr>
        <p:spPr>
          <a:xfrm>
            <a:off x="8952837" y="4800600"/>
            <a:ext cx="548640" cy="219456"/>
          </a:xfrm>
          <a:prstGeom prst="rect">
            <a:avLst/>
          </a:prstGeom>
          <a:noFill/>
          <a:ln/>
        </p:spPr>
        <p:txBody>
          <a:bodyPr wrap="square" lIns="0" tIns="0" rIns="0" bIns="0" rtlCol="0" anchor="ctr"/>
          <a:lstStyle/>
          <a:p>
            <a:pPr marL="0" indent="0" algn="ctr">
              <a:buNone/>
            </a:pPr>
            <a:r>
              <a:rPr lang="en-US" sz="800" dirty="0">
                <a:solidFill>
                  <a:srgbClr val="9AA3B5"/>
                </a:solidFill>
                <a:latin typeface="Calibri" pitchFamily="34" charset="0"/>
                <a:ea typeface="Calibri" pitchFamily="34" charset="-122"/>
                <a:cs typeface="Calibri" pitchFamily="34" charset="-120"/>
              </a:rPr>
              <a:t>S24</a:t>
            </a:r>
            <a:endParaRPr lang="en-US" sz="800" dirty="0"/>
          </a:p>
        </p:txBody>
      </p:sp>
      <p:sp>
        <p:nvSpPr>
          <p:cNvPr id="22" name="Shape 20"/>
          <p:cNvSpPr/>
          <p:nvPr/>
        </p:nvSpPr>
        <p:spPr>
          <a:xfrm>
            <a:off x="10193516" y="1417320"/>
            <a:ext cx="0" cy="3328416"/>
          </a:xfrm>
          <a:prstGeom prst="line">
            <a:avLst/>
          </a:prstGeom>
          <a:noFill/>
          <a:ln w="9525">
            <a:solidFill>
              <a:srgbClr val="E4E7EE"/>
            </a:solidFill>
            <a:prstDash val="solid"/>
          </a:ln>
        </p:spPr>
        <p:txBody>
          <a:bodyPr/>
          <a:lstStyle/>
          <a:p>
            <a:endParaRPr lang="fr-FR"/>
          </a:p>
        </p:txBody>
      </p:sp>
      <p:sp>
        <p:nvSpPr>
          <p:cNvPr id="23" name="Text 21"/>
          <p:cNvSpPr/>
          <p:nvPr/>
        </p:nvSpPr>
        <p:spPr>
          <a:xfrm>
            <a:off x="9919196" y="4800600"/>
            <a:ext cx="548640" cy="219456"/>
          </a:xfrm>
          <a:prstGeom prst="rect">
            <a:avLst/>
          </a:prstGeom>
          <a:noFill/>
          <a:ln/>
        </p:spPr>
        <p:txBody>
          <a:bodyPr wrap="square" lIns="0" tIns="0" rIns="0" bIns="0" rtlCol="0" anchor="ctr"/>
          <a:lstStyle/>
          <a:p>
            <a:pPr marL="0" indent="0" algn="ctr">
              <a:buNone/>
            </a:pPr>
            <a:r>
              <a:rPr lang="en-US" sz="800" dirty="0">
                <a:solidFill>
                  <a:srgbClr val="9AA3B5"/>
                </a:solidFill>
                <a:latin typeface="Calibri" pitchFamily="34" charset="0"/>
                <a:ea typeface="Calibri" pitchFamily="34" charset="-122"/>
                <a:cs typeface="Calibri" pitchFamily="34" charset="-120"/>
              </a:rPr>
              <a:t>S28</a:t>
            </a:r>
            <a:endParaRPr lang="en-US" sz="800" dirty="0"/>
          </a:p>
        </p:txBody>
      </p:sp>
      <p:sp>
        <p:nvSpPr>
          <p:cNvPr id="24" name="Shape 22"/>
          <p:cNvSpPr/>
          <p:nvPr/>
        </p:nvSpPr>
        <p:spPr>
          <a:xfrm>
            <a:off x="11159875" y="1417320"/>
            <a:ext cx="0" cy="3328416"/>
          </a:xfrm>
          <a:prstGeom prst="line">
            <a:avLst/>
          </a:prstGeom>
          <a:noFill/>
          <a:ln w="9525">
            <a:solidFill>
              <a:srgbClr val="E4E7EE"/>
            </a:solidFill>
            <a:prstDash val="solid"/>
          </a:ln>
        </p:spPr>
        <p:txBody>
          <a:bodyPr/>
          <a:lstStyle/>
          <a:p>
            <a:endParaRPr lang="fr-FR"/>
          </a:p>
        </p:txBody>
      </p:sp>
      <p:sp>
        <p:nvSpPr>
          <p:cNvPr id="25" name="Text 23"/>
          <p:cNvSpPr/>
          <p:nvPr/>
        </p:nvSpPr>
        <p:spPr>
          <a:xfrm>
            <a:off x="10885555" y="4800600"/>
            <a:ext cx="548640" cy="219456"/>
          </a:xfrm>
          <a:prstGeom prst="rect">
            <a:avLst/>
          </a:prstGeom>
          <a:noFill/>
          <a:ln/>
        </p:spPr>
        <p:txBody>
          <a:bodyPr wrap="square" lIns="0" tIns="0" rIns="0" bIns="0" rtlCol="0" anchor="ctr"/>
          <a:lstStyle/>
          <a:p>
            <a:pPr marL="0" indent="0" algn="ctr">
              <a:buNone/>
            </a:pPr>
            <a:r>
              <a:rPr lang="en-US" sz="800" dirty="0">
                <a:solidFill>
                  <a:srgbClr val="9AA3B5"/>
                </a:solidFill>
                <a:latin typeface="Calibri" pitchFamily="34" charset="0"/>
                <a:ea typeface="Calibri" pitchFamily="34" charset="-122"/>
                <a:cs typeface="Calibri" pitchFamily="34" charset="-120"/>
              </a:rPr>
              <a:t>S32</a:t>
            </a:r>
            <a:endParaRPr lang="en-US" sz="800" dirty="0"/>
          </a:p>
        </p:txBody>
      </p:sp>
      <p:sp>
        <p:nvSpPr>
          <p:cNvPr id="26" name="Text 24"/>
          <p:cNvSpPr/>
          <p:nvPr/>
        </p:nvSpPr>
        <p:spPr>
          <a:xfrm>
            <a:off x="548640" y="1417320"/>
            <a:ext cx="2743200" cy="457200"/>
          </a:xfrm>
          <a:prstGeom prst="rect">
            <a:avLst/>
          </a:prstGeom>
          <a:noFill/>
          <a:ln/>
        </p:spPr>
        <p:txBody>
          <a:bodyPr wrap="square" lIns="0" tIns="0" rIns="0" bIns="0" rtlCol="0" anchor="ctr"/>
          <a:lstStyle/>
          <a:p>
            <a:pPr marL="0" indent="0" algn="l">
              <a:buNone/>
            </a:pPr>
            <a:r>
              <a:rPr lang="en-US" sz="1000" b="1" dirty="0">
                <a:solidFill>
                  <a:srgbClr val="1E2761"/>
                </a:solidFill>
                <a:latin typeface="Calibri" pitchFamily="34" charset="0"/>
                <a:ea typeface="Calibri" pitchFamily="34" charset="-122"/>
                <a:cs typeface="Calibri" pitchFamily="34" charset="-120"/>
              </a:rPr>
              <a:t>M0  </a:t>
            </a:r>
            <a:r>
              <a:rPr lang="en-US" sz="1000" dirty="0">
                <a:solidFill>
                  <a:srgbClr val="3A3F4B"/>
                </a:solidFill>
                <a:latin typeface="Calibri" pitchFamily="34" charset="0"/>
                <a:ea typeface="Calibri" pitchFamily="34" charset="-122"/>
                <a:cs typeface="Calibri" pitchFamily="34" charset="-120"/>
              </a:rPr>
              <a:t>Explorer &amp; Architecturer</a:t>
            </a:r>
            <a:endParaRPr lang="en-US" sz="1000" dirty="0"/>
          </a:p>
        </p:txBody>
      </p:sp>
      <p:sp>
        <p:nvSpPr>
          <p:cNvPr id="27" name="Shape 25"/>
          <p:cNvSpPr/>
          <p:nvPr/>
        </p:nvSpPr>
        <p:spPr>
          <a:xfrm>
            <a:off x="3429000" y="1499616"/>
            <a:ext cx="1449539" cy="292608"/>
          </a:xfrm>
          <a:prstGeom prst="roundRect">
            <a:avLst>
              <a:gd name="adj" fmla="val 15625"/>
            </a:avLst>
          </a:prstGeom>
          <a:solidFill>
            <a:srgbClr val="0FA3B1"/>
          </a:solidFill>
          <a:ln/>
          <a:effectLst>
            <a:outerShdw blurRad="38100" dist="12700" dir="5400000" algn="bl" rotWithShape="0">
              <a:srgbClr val="9AA3B5">
                <a:alpha val="20000"/>
              </a:srgbClr>
            </a:outerShdw>
          </a:effectLst>
        </p:spPr>
        <p:txBody>
          <a:bodyPr/>
          <a:lstStyle/>
          <a:p>
            <a:endParaRPr lang="fr-FR"/>
          </a:p>
        </p:txBody>
      </p:sp>
      <p:sp>
        <p:nvSpPr>
          <p:cNvPr id="28" name="Text 26"/>
          <p:cNvSpPr/>
          <p:nvPr/>
        </p:nvSpPr>
        <p:spPr>
          <a:xfrm>
            <a:off x="3429000" y="1499616"/>
            <a:ext cx="1449539"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M0</a:t>
            </a:r>
            <a:endParaRPr lang="en-US" sz="900" dirty="0"/>
          </a:p>
        </p:txBody>
      </p:sp>
      <p:sp>
        <p:nvSpPr>
          <p:cNvPr id="29" name="Text 27"/>
          <p:cNvSpPr/>
          <p:nvPr/>
        </p:nvSpPr>
        <p:spPr>
          <a:xfrm>
            <a:off x="548640" y="1874520"/>
            <a:ext cx="2743200" cy="457200"/>
          </a:xfrm>
          <a:prstGeom prst="rect">
            <a:avLst/>
          </a:prstGeom>
          <a:noFill/>
          <a:ln/>
        </p:spPr>
        <p:txBody>
          <a:bodyPr wrap="square" lIns="0" tIns="0" rIns="0" bIns="0" rtlCol="0" anchor="ctr"/>
          <a:lstStyle/>
          <a:p>
            <a:pPr marL="0" indent="0" algn="l">
              <a:buNone/>
            </a:pPr>
            <a:r>
              <a:rPr lang="en-US" sz="1000" b="1" dirty="0">
                <a:solidFill>
                  <a:srgbClr val="1E2761"/>
                </a:solidFill>
                <a:latin typeface="Calibri" pitchFamily="34" charset="0"/>
                <a:ea typeface="Calibri" pitchFamily="34" charset="-122"/>
                <a:cs typeface="Calibri" pitchFamily="34" charset="-120"/>
              </a:rPr>
              <a:t>M1  </a:t>
            </a:r>
            <a:r>
              <a:rPr lang="en-US" sz="1000" dirty="0">
                <a:solidFill>
                  <a:srgbClr val="3A3F4B"/>
                </a:solidFill>
                <a:latin typeface="Calibri" pitchFamily="34" charset="0"/>
                <a:ea typeface="Calibri" pitchFamily="34" charset="-122"/>
                <a:cs typeface="Calibri" pitchFamily="34" charset="-120"/>
              </a:rPr>
              <a:t>Accélérer les Data Products</a:t>
            </a:r>
            <a:endParaRPr lang="en-US" sz="1000" dirty="0"/>
          </a:p>
        </p:txBody>
      </p:sp>
      <p:sp>
        <p:nvSpPr>
          <p:cNvPr id="30" name="Shape 28"/>
          <p:cNvSpPr/>
          <p:nvPr/>
        </p:nvSpPr>
        <p:spPr>
          <a:xfrm>
            <a:off x="4395359" y="1956816"/>
            <a:ext cx="1449539" cy="292608"/>
          </a:xfrm>
          <a:prstGeom prst="roundRect">
            <a:avLst>
              <a:gd name="adj" fmla="val 15625"/>
            </a:avLst>
          </a:prstGeom>
          <a:solidFill>
            <a:srgbClr val="E8A33D"/>
          </a:solidFill>
          <a:ln/>
          <a:effectLst>
            <a:outerShdw blurRad="38100" dist="12700" dir="5400000" algn="bl" rotWithShape="0">
              <a:srgbClr val="9AA3B5">
                <a:alpha val="20000"/>
              </a:srgbClr>
            </a:outerShdw>
          </a:effectLst>
        </p:spPr>
        <p:txBody>
          <a:bodyPr/>
          <a:lstStyle/>
          <a:p>
            <a:endParaRPr lang="fr-FR"/>
          </a:p>
        </p:txBody>
      </p:sp>
      <p:sp>
        <p:nvSpPr>
          <p:cNvPr id="31" name="Text 29"/>
          <p:cNvSpPr/>
          <p:nvPr/>
        </p:nvSpPr>
        <p:spPr>
          <a:xfrm>
            <a:off x="4395359" y="1956816"/>
            <a:ext cx="1449539"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M1</a:t>
            </a:r>
            <a:endParaRPr lang="en-US" sz="900" dirty="0"/>
          </a:p>
        </p:txBody>
      </p:sp>
      <p:sp>
        <p:nvSpPr>
          <p:cNvPr id="32" name="Text 30"/>
          <p:cNvSpPr/>
          <p:nvPr/>
        </p:nvSpPr>
        <p:spPr>
          <a:xfrm>
            <a:off x="5918051" y="1956816"/>
            <a:ext cx="1005840" cy="292608"/>
          </a:xfrm>
          <a:prstGeom prst="rect">
            <a:avLst/>
          </a:prstGeom>
          <a:noFill/>
          <a:ln/>
        </p:spPr>
        <p:txBody>
          <a:bodyPr wrap="square" lIns="0" tIns="0" rIns="0" bIns="0" rtlCol="0" anchor="ctr"/>
          <a:lstStyle/>
          <a:p>
            <a:pPr marL="0" indent="0" algn="l">
              <a:buNone/>
            </a:pPr>
            <a:r>
              <a:rPr lang="en-US" sz="750" b="1" dirty="0">
                <a:solidFill>
                  <a:srgbClr val="A6660B"/>
                </a:solidFill>
                <a:latin typeface="Calibri" pitchFamily="34" charset="0"/>
                <a:ea typeface="Calibri" pitchFamily="34" charset="-122"/>
                <a:cs typeface="Calibri" pitchFamily="34" charset="-120"/>
              </a:rPr>
              <a:t>EN COURS</a:t>
            </a:r>
            <a:endParaRPr lang="en-US" sz="750" dirty="0"/>
          </a:p>
        </p:txBody>
      </p:sp>
      <p:sp>
        <p:nvSpPr>
          <p:cNvPr id="33" name="Text 31"/>
          <p:cNvSpPr/>
          <p:nvPr/>
        </p:nvSpPr>
        <p:spPr>
          <a:xfrm>
            <a:off x="548640" y="2331720"/>
            <a:ext cx="2743200" cy="457200"/>
          </a:xfrm>
          <a:prstGeom prst="rect">
            <a:avLst/>
          </a:prstGeom>
          <a:noFill/>
          <a:ln/>
        </p:spPr>
        <p:txBody>
          <a:bodyPr wrap="square" lIns="0" tIns="0" rIns="0" bIns="0" rtlCol="0" anchor="ctr"/>
          <a:lstStyle/>
          <a:p>
            <a:pPr marL="0" indent="0" algn="l">
              <a:buNone/>
            </a:pPr>
            <a:r>
              <a:rPr lang="en-US" sz="1000" b="1" dirty="0">
                <a:solidFill>
                  <a:srgbClr val="1E2761"/>
                </a:solidFill>
                <a:latin typeface="Calibri" pitchFamily="34" charset="0"/>
                <a:ea typeface="Calibri" pitchFamily="34" charset="-122"/>
                <a:cs typeface="Calibri" pitchFamily="34" charset="-120"/>
              </a:rPr>
              <a:t>M2  </a:t>
            </a:r>
            <a:r>
              <a:rPr lang="en-US" sz="1000" dirty="0">
                <a:solidFill>
                  <a:srgbClr val="3A3F4B"/>
                </a:solidFill>
                <a:latin typeface="Calibri" pitchFamily="34" charset="0"/>
                <a:ea typeface="Calibri" pitchFamily="34" charset="-122"/>
                <a:cs typeface="Calibri" pitchFamily="34" charset="-120"/>
              </a:rPr>
              <a:t>Industrialiser le Data Delivery</a:t>
            </a:r>
            <a:endParaRPr lang="en-US" sz="1000" dirty="0"/>
          </a:p>
        </p:txBody>
      </p:sp>
      <p:sp>
        <p:nvSpPr>
          <p:cNvPr id="34" name="Shape 32"/>
          <p:cNvSpPr/>
          <p:nvPr/>
        </p:nvSpPr>
        <p:spPr>
          <a:xfrm>
            <a:off x="5603309" y="2414016"/>
            <a:ext cx="1932719" cy="292608"/>
          </a:xfrm>
          <a:prstGeom prst="roundRect">
            <a:avLst>
              <a:gd name="adj" fmla="val 15625"/>
            </a:avLst>
          </a:prstGeom>
          <a:solidFill>
            <a:srgbClr val="1E2761"/>
          </a:solidFill>
          <a:ln/>
          <a:effectLst>
            <a:outerShdw blurRad="38100" dist="12700" dir="5400000" algn="bl" rotWithShape="0">
              <a:srgbClr val="9AA3B5">
                <a:alpha val="20000"/>
              </a:srgbClr>
            </a:outerShdw>
          </a:effectLst>
        </p:spPr>
        <p:txBody>
          <a:bodyPr/>
          <a:lstStyle/>
          <a:p>
            <a:endParaRPr lang="fr-FR"/>
          </a:p>
        </p:txBody>
      </p:sp>
      <p:sp>
        <p:nvSpPr>
          <p:cNvPr id="35" name="Text 33"/>
          <p:cNvSpPr/>
          <p:nvPr/>
        </p:nvSpPr>
        <p:spPr>
          <a:xfrm>
            <a:off x="5603309" y="2414016"/>
            <a:ext cx="1932719"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M2</a:t>
            </a:r>
            <a:endParaRPr lang="en-US" sz="900" dirty="0"/>
          </a:p>
        </p:txBody>
      </p:sp>
      <p:sp>
        <p:nvSpPr>
          <p:cNvPr id="36" name="Text 34"/>
          <p:cNvSpPr/>
          <p:nvPr/>
        </p:nvSpPr>
        <p:spPr>
          <a:xfrm>
            <a:off x="548640" y="2788920"/>
            <a:ext cx="2743200" cy="457200"/>
          </a:xfrm>
          <a:prstGeom prst="rect">
            <a:avLst/>
          </a:prstGeom>
          <a:noFill/>
          <a:ln/>
        </p:spPr>
        <p:txBody>
          <a:bodyPr wrap="square" lIns="0" tIns="0" rIns="0" bIns="0" rtlCol="0" anchor="ctr"/>
          <a:lstStyle/>
          <a:p>
            <a:pPr marL="0" indent="0" algn="l">
              <a:buNone/>
            </a:pPr>
            <a:r>
              <a:rPr lang="en-US" sz="1000" b="1" dirty="0">
                <a:solidFill>
                  <a:srgbClr val="1E2761"/>
                </a:solidFill>
                <a:latin typeface="Calibri" pitchFamily="34" charset="0"/>
                <a:ea typeface="Calibri" pitchFamily="34" charset="-122"/>
                <a:cs typeface="Calibri" pitchFamily="34" charset="-120"/>
              </a:rPr>
              <a:t>M3  </a:t>
            </a:r>
            <a:r>
              <a:rPr lang="en-US" sz="1000" dirty="0">
                <a:solidFill>
                  <a:srgbClr val="3A3F4B"/>
                </a:solidFill>
                <a:latin typeface="Calibri" pitchFamily="34" charset="0"/>
                <a:ea typeface="Calibri" pitchFamily="34" charset="-122"/>
                <a:cs typeface="Calibri" pitchFamily="34" charset="-120"/>
              </a:rPr>
              <a:t>Fédérer &amp; Self-Servir</a:t>
            </a:r>
            <a:endParaRPr lang="en-US" sz="1000" dirty="0"/>
          </a:p>
        </p:txBody>
      </p:sp>
      <p:sp>
        <p:nvSpPr>
          <p:cNvPr id="37" name="Shape 35"/>
          <p:cNvSpPr/>
          <p:nvPr/>
        </p:nvSpPr>
        <p:spPr>
          <a:xfrm>
            <a:off x="7052848" y="2871216"/>
            <a:ext cx="1449539" cy="292608"/>
          </a:xfrm>
          <a:prstGeom prst="roundRect">
            <a:avLst>
              <a:gd name="adj" fmla="val 15625"/>
            </a:avLst>
          </a:prstGeom>
          <a:solidFill>
            <a:srgbClr val="1E2761"/>
          </a:solidFill>
          <a:ln/>
          <a:effectLst>
            <a:outerShdw blurRad="38100" dist="12700" dir="5400000" algn="bl" rotWithShape="0">
              <a:srgbClr val="9AA3B5">
                <a:alpha val="20000"/>
              </a:srgbClr>
            </a:outerShdw>
          </a:effectLst>
        </p:spPr>
        <p:txBody>
          <a:bodyPr/>
          <a:lstStyle/>
          <a:p>
            <a:endParaRPr lang="fr-FR"/>
          </a:p>
        </p:txBody>
      </p:sp>
      <p:sp>
        <p:nvSpPr>
          <p:cNvPr id="38" name="Text 36"/>
          <p:cNvSpPr/>
          <p:nvPr/>
        </p:nvSpPr>
        <p:spPr>
          <a:xfrm>
            <a:off x="7052848" y="2871216"/>
            <a:ext cx="1449539"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M3</a:t>
            </a:r>
            <a:endParaRPr lang="en-US" sz="900" dirty="0"/>
          </a:p>
        </p:txBody>
      </p:sp>
      <p:sp>
        <p:nvSpPr>
          <p:cNvPr id="39" name="Text 37"/>
          <p:cNvSpPr/>
          <p:nvPr/>
        </p:nvSpPr>
        <p:spPr>
          <a:xfrm>
            <a:off x="548640" y="3246120"/>
            <a:ext cx="2743200" cy="457200"/>
          </a:xfrm>
          <a:prstGeom prst="rect">
            <a:avLst/>
          </a:prstGeom>
          <a:noFill/>
          <a:ln/>
        </p:spPr>
        <p:txBody>
          <a:bodyPr wrap="square" lIns="0" tIns="0" rIns="0" bIns="0" rtlCol="0" anchor="ctr"/>
          <a:lstStyle/>
          <a:p>
            <a:pPr marL="0" indent="0" algn="l">
              <a:buNone/>
            </a:pPr>
            <a:r>
              <a:rPr lang="en-US" sz="1000" b="1" dirty="0">
                <a:solidFill>
                  <a:srgbClr val="1E2761"/>
                </a:solidFill>
                <a:latin typeface="Calibri" pitchFamily="34" charset="0"/>
                <a:ea typeface="Calibri" pitchFamily="34" charset="-122"/>
                <a:cs typeface="Calibri" pitchFamily="34" charset="-120"/>
              </a:rPr>
              <a:t>M4  </a:t>
            </a:r>
            <a:r>
              <a:rPr lang="en-US" sz="1000" dirty="0">
                <a:solidFill>
                  <a:srgbClr val="3A3F4B"/>
                </a:solidFill>
                <a:latin typeface="Calibri" pitchFamily="34" charset="0"/>
                <a:ea typeface="Calibri" pitchFamily="34" charset="-122"/>
                <a:cs typeface="Calibri" pitchFamily="34" charset="-120"/>
              </a:rPr>
              <a:t>Servir la Data</a:t>
            </a:r>
            <a:endParaRPr lang="en-US" sz="1000" dirty="0"/>
          </a:p>
        </p:txBody>
      </p:sp>
      <p:sp>
        <p:nvSpPr>
          <p:cNvPr id="40" name="Shape 38"/>
          <p:cNvSpPr/>
          <p:nvPr/>
        </p:nvSpPr>
        <p:spPr>
          <a:xfrm>
            <a:off x="7777617" y="3328416"/>
            <a:ext cx="1449539" cy="292608"/>
          </a:xfrm>
          <a:prstGeom prst="roundRect">
            <a:avLst>
              <a:gd name="adj" fmla="val 15625"/>
            </a:avLst>
          </a:prstGeom>
          <a:solidFill>
            <a:srgbClr val="1E2761"/>
          </a:solidFill>
          <a:ln/>
          <a:effectLst>
            <a:outerShdw blurRad="38100" dist="12700" dir="5400000" algn="bl" rotWithShape="0">
              <a:srgbClr val="9AA3B5">
                <a:alpha val="20000"/>
              </a:srgbClr>
            </a:outerShdw>
          </a:effectLst>
        </p:spPr>
        <p:txBody>
          <a:bodyPr/>
          <a:lstStyle/>
          <a:p>
            <a:endParaRPr lang="fr-FR"/>
          </a:p>
        </p:txBody>
      </p:sp>
      <p:sp>
        <p:nvSpPr>
          <p:cNvPr id="41" name="Text 39"/>
          <p:cNvSpPr/>
          <p:nvPr/>
        </p:nvSpPr>
        <p:spPr>
          <a:xfrm>
            <a:off x="7777617" y="3328416"/>
            <a:ext cx="1449539"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M4</a:t>
            </a:r>
            <a:endParaRPr lang="en-US" sz="900" dirty="0"/>
          </a:p>
        </p:txBody>
      </p:sp>
      <p:sp>
        <p:nvSpPr>
          <p:cNvPr id="42" name="Text 40"/>
          <p:cNvSpPr/>
          <p:nvPr/>
        </p:nvSpPr>
        <p:spPr>
          <a:xfrm>
            <a:off x="548640" y="3831336"/>
            <a:ext cx="2743200" cy="457200"/>
          </a:xfrm>
          <a:prstGeom prst="rect">
            <a:avLst/>
          </a:prstGeom>
          <a:noFill/>
          <a:ln/>
        </p:spPr>
        <p:txBody>
          <a:bodyPr wrap="square" lIns="0" tIns="0" rIns="0" bIns="0" rtlCol="0" anchor="ctr"/>
          <a:lstStyle/>
          <a:p>
            <a:pPr marL="0" indent="0" algn="l">
              <a:buNone/>
            </a:pPr>
            <a:r>
              <a:rPr lang="en-US" sz="1000" b="1" dirty="0">
                <a:solidFill>
                  <a:srgbClr val="6E5AA6"/>
                </a:solidFill>
                <a:latin typeface="Calibri" pitchFamily="34" charset="0"/>
                <a:ea typeface="Calibri" pitchFamily="34" charset="-122"/>
                <a:cs typeface="Calibri" pitchFamily="34" charset="-120"/>
              </a:rPr>
              <a:t>M5  </a:t>
            </a:r>
            <a:r>
              <a:rPr lang="en-US" sz="1000" dirty="0">
                <a:solidFill>
                  <a:srgbClr val="3A3F4B"/>
                </a:solidFill>
                <a:latin typeface="Calibri" pitchFamily="34" charset="0"/>
                <a:ea typeface="Calibri" pitchFamily="34" charset="-122"/>
                <a:cs typeface="Calibri" pitchFamily="34" charset="-120"/>
              </a:rPr>
              <a:t>Industrialiser les ML Products</a:t>
            </a:r>
            <a:endParaRPr lang="en-US" sz="1000" dirty="0"/>
          </a:p>
        </p:txBody>
      </p:sp>
      <p:sp>
        <p:nvSpPr>
          <p:cNvPr id="43" name="Shape 41"/>
          <p:cNvSpPr/>
          <p:nvPr/>
        </p:nvSpPr>
        <p:spPr>
          <a:xfrm>
            <a:off x="8260797" y="3913632"/>
            <a:ext cx="1932719" cy="292608"/>
          </a:xfrm>
          <a:prstGeom prst="roundRect">
            <a:avLst>
              <a:gd name="adj" fmla="val 15625"/>
            </a:avLst>
          </a:prstGeom>
          <a:solidFill>
            <a:srgbClr val="6E5AA6"/>
          </a:solidFill>
          <a:ln/>
          <a:effectLst>
            <a:outerShdw blurRad="38100" dist="12700" dir="5400000" algn="bl" rotWithShape="0">
              <a:srgbClr val="9AA3B5">
                <a:alpha val="20000"/>
              </a:srgbClr>
            </a:outerShdw>
          </a:effectLst>
        </p:spPr>
        <p:txBody>
          <a:bodyPr/>
          <a:lstStyle/>
          <a:p>
            <a:endParaRPr lang="fr-FR"/>
          </a:p>
        </p:txBody>
      </p:sp>
      <p:sp>
        <p:nvSpPr>
          <p:cNvPr id="44" name="Text 42"/>
          <p:cNvSpPr/>
          <p:nvPr/>
        </p:nvSpPr>
        <p:spPr>
          <a:xfrm>
            <a:off x="8260797" y="3913632"/>
            <a:ext cx="1932719"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M5</a:t>
            </a:r>
            <a:endParaRPr lang="en-US" sz="900" dirty="0"/>
          </a:p>
        </p:txBody>
      </p:sp>
      <p:sp>
        <p:nvSpPr>
          <p:cNvPr id="45" name="Text 43"/>
          <p:cNvSpPr/>
          <p:nvPr/>
        </p:nvSpPr>
        <p:spPr>
          <a:xfrm>
            <a:off x="548640" y="4288536"/>
            <a:ext cx="2743200" cy="457200"/>
          </a:xfrm>
          <a:prstGeom prst="rect">
            <a:avLst/>
          </a:prstGeom>
          <a:noFill/>
          <a:ln/>
        </p:spPr>
        <p:txBody>
          <a:bodyPr wrap="square" lIns="0" tIns="0" rIns="0" bIns="0" rtlCol="0" anchor="ctr"/>
          <a:lstStyle/>
          <a:p>
            <a:pPr marL="0" indent="0" algn="l">
              <a:buNone/>
            </a:pPr>
            <a:r>
              <a:rPr lang="en-US" sz="1000" b="1" dirty="0">
                <a:solidFill>
                  <a:srgbClr val="6E5AA6"/>
                </a:solidFill>
                <a:latin typeface="Calibri" pitchFamily="34" charset="0"/>
                <a:ea typeface="Calibri" pitchFamily="34" charset="-122"/>
                <a:cs typeface="Calibri" pitchFamily="34" charset="-120"/>
              </a:rPr>
              <a:t>M6  </a:t>
            </a:r>
            <a:r>
              <a:rPr lang="en-US" sz="1000" dirty="0">
                <a:solidFill>
                  <a:srgbClr val="3A3F4B"/>
                </a:solidFill>
                <a:latin typeface="Calibri" pitchFamily="34" charset="0"/>
                <a:ea typeface="Calibri" pitchFamily="34" charset="-122"/>
                <a:cs typeface="Calibri" pitchFamily="34" charset="-120"/>
              </a:rPr>
              <a:t>Servir &amp; Opérer les modèles</a:t>
            </a:r>
            <a:endParaRPr lang="en-US" sz="1000" dirty="0"/>
          </a:p>
        </p:txBody>
      </p:sp>
      <p:sp>
        <p:nvSpPr>
          <p:cNvPr id="46" name="Shape 44"/>
          <p:cNvSpPr/>
          <p:nvPr/>
        </p:nvSpPr>
        <p:spPr>
          <a:xfrm>
            <a:off x="9710336" y="4370832"/>
            <a:ext cx="1932719" cy="292608"/>
          </a:xfrm>
          <a:prstGeom prst="roundRect">
            <a:avLst>
              <a:gd name="adj" fmla="val 15625"/>
            </a:avLst>
          </a:prstGeom>
          <a:solidFill>
            <a:srgbClr val="6E5AA6"/>
          </a:solidFill>
          <a:ln/>
          <a:effectLst>
            <a:outerShdw blurRad="38100" dist="12700" dir="5400000" algn="bl" rotWithShape="0">
              <a:srgbClr val="9AA3B5">
                <a:alpha val="20000"/>
              </a:srgbClr>
            </a:outerShdw>
          </a:effectLst>
        </p:spPr>
        <p:txBody>
          <a:bodyPr/>
          <a:lstStyle/>
          <a:p>
            <a:endParaRPr lang="fr-FR"/>
          </a:p>
        </p:txBody>
      </p:sp>
      <p:sp>
        <p:nvSpPr>
          <p:cNvPr id="47" name="Text 45"/>
          <p:cNvSpPr/>
          <p:nvPr/>
        </p:nvSpPr>
        <p:spPr>
          <a:xfrm>
            <a:off x="9710336" y="4370832"/>
            <a:ext cx="1932719"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M6</a:t>
            </a:r>
            <a:endParaRPr lang="en-US" sz="900" dirty="0"/>
          </a:p>
        </p:txBody>
      </p:sp>
      <p:sp>
        <p:nvSpPr>
          <p:cNvPr id="48" name="Shape 46"/>
          <p:cNvSpPr/>
          <p:nvPr/>
        </p:nvSpPr>
        <p:spPr>
          <a:xfrm>
            <a:off x="548640" y="5129784"/>
            <a:ext cx="256032" cy="164592"/>
          </a:xfrm>
          <a:prstGeom prst="roundRect">
            <a:avLst>
              <a:gd name="adj" fmla="val 16667"/>
            </a:avLst>
          </a:prstGeom>
          <a:solidFill>
            <a:srgbClr val="0FA3B1"/>
          </a:solidFill>
          <a:ln/>
        </p:spPr>
        <p:txBody>
          <a:bodyPr/>
          <a:lstStyle/>
          <a:p>
            <a:endParaRPr lang="fr-FR"/>
          </a:p>
        </p:txBody>
      </p:sp>
      <p:sp>
        <p:nvSpPr>
          <p:cNvPr id="49" name="Text 47"/>
          <p:cNvSpPr/>
          <p:nvPr/>
        </p:nvSpPr>
        <p:spPr>
          <a:xfrm>
            <a:off x="877824" y="5084064"/>
            <a:ext cx="2468880" cy="256032"/>
          </a:xfrm>
          <a:prstGeom prst="rect">
            <a:avLst/>
          </a:prstGeom>
          <a:noFill/>
          <a:ln/>
        </p:spPr>
        <p:txBody>
          <a:bodyPr wrap="square" lIns="0" tIns="0" rIns="0" bIns="0" rtlCol="0" anchor="ctr"/>
          <a:lstStyle/>
          <a:p>
            <a:pPr marL="0" indent="0" algn="l">
              <a:buNone/>
            </a:pPr>
            <a:r>
              <a:rPr lang="en-US" sz="900" dirty="0">
                <a:solidFill>
                  <a:srgbClr val="3A3F4B"/>
                </a:solidFill>
                <a:latin typeface="Calibri" pitchFamily="34" charset="0"/>
                <a:ea typeface="Calibri" pitchFamily="34" charset="-122"/>
                <a:cs typeface="Calibri" pitchFamily="34" charset="-120"/>
              </a:rPr>
              <a:t>Fait (Data Engineering)</a:t>
            </a:r>
            <a:endParaRPr lang="en-US" sz="900" dirty="0"/>
          </a:p>
        </p:txBody>
      </p:sp>
      <p:sp>
        <p:nvSpPr>
          <p:cNvPr id="50" name="Shape 48"/>
          <p:cNvSpPr/>
          <p:nvPr/>
        </p:nvSpPr>
        <p:spPr>
          <a:xfrm>
            <a:off x="3246120" y="5129784"/>
            <a:ext cx="256032" cy="164592"/>
          </a:xfrm>
          <a:prstGeom prst="roundRect">
            <a:avLst>
              <a:gd name="adj" fmla="val 16667"/>
            </a:avLst>
          </a:prstGeom>
          <a:solidFill>
            <a:srgbClr val="E8A33D"/>
          </a:solidFill>
          <a:ln/>
        </p:spPr>
        <p:txBody>
          <a:bodyPr/>
          <a:lstStyle/>
          <a:p>
            <a:endParaRPr lang="fr-FR"/>
          </a:p>
        </p:txBody>
      </p:sp>
      <p:sp>
        <p:nvSpPr>
          <p:cNvPr id="51" name="Text 49"/>
          <p:cNvSpPr/>
          <p:nvPr/>
        </p:nvSpPr>
        <p:spPr>
          <a:xfrm>
            <a:off x="3575304" y="5084064"/>
            <a:ext cx="2468880" cy="256032"/>
          </a:xfrm>
          <a:prstGeom prst="rect">
            <a:avLst/>
          </a:prstGeom>
          <a:noFill/>
          <a:ln/>
        </p:spPr>
        <p:txBody>
          <a:bodyPr wrap="square" lIns="0" tIns="0" rIns="0" bIns="0" rtlCol="0" anchor="ctr"/>
          <a:lstStyle/>
          <a:p>
            <a:pPr marL="0" indent="0" algn="l">
              <a:buNone/>
            </a:pPr>
            <a:r>
              <a:rPr lang="en-US" sz="900" dirty="0">
                <a:solidFill>
                  <a:srgbClr val="3A3F4B"/>
                </a:solidFill>
                <a:latin typeface="Calibri" pitchFamily="34" charset="0"/>
                <a:ea typeface="Calibri" pitchFamily="34" charset="-122"/>
                <a:cs typeface="Calibri" pitchFamily="34" charset="-120"/>
              </a:rPr>
              <a:t>En cours</a:t>
            </a:r>
            <a:endParaRPr lang="en-US" sz="900" dirty="0"/>
          </a:p>
        </p:txBody>
      </p:sp>
      <p:sp>
        <p:nvSpPr>
          <p:cNvPr id="52" name="Shape 50"/>
          <p:cNvSpPr/>
          <p:nvPr/>
        </p:nvSpPr>
        <p:spPr>
          <a:xfrm>
            <a:off x="5943600" y="5129784"/>
            <a:ext cx="256032" cy="164592"/>
          </a:xfrm>
          <a:prstGeom prst="roundRect">
            <a:avLst>
              <a:gd name="adj" fmla="val 16667"/>
            </a:avLst>
          </a:prstGeom>
          <a:solidFill>
            <a:srgbClr val="1E2761"/>
          </a:solidFill>
          <a:ln/>
        </p:spPr>
        <p:txBody>
          <a:bodyPr/>
          <a:lstStyle/>
          <a:p>
            <a:endParaRPr lang="fr-FR"/>
          </a:p>
        </p:txBody>
      </p:sp>
      <p:sp>
        <p:nvSpPr>
          <p:cNvPr id="53" name="Text 51"/>
          <p:cNvSpPr/>
          <p:nvPr/>
        </p:nvSpPr>
        <p:spPr>
          <a:xfrm>
            <a:off x="6272784" y="5084064"/>
            <a:ext cx="2468880" cy="256032"/>
          </a:xfrm>
          <a:prstGeom prst="rect">
            <a:avLst/>
          </a:prstGeom>
          <a:noFill/>
          <a:ln/>
        </p:spPr>
        <p:txBody>
          <a:bodyPr wrap="square" lIns="0" tIns="0" rIns="0" bIns="0" rtlCol="0" anchor="ctr"/>
          <a:lstStyle/>
          <a:p>
            <a:pPr marL="0" indent="0" algn="l">
              <a:buNone/>
            </a:pPr>
            <a:r>
              <a:rPr lang="en-US" sz="900" dirty="0">
                <a:solidFill>
                  <a:srgbClr val="3A3F4B"/>
                </a:solidFill>
                <a:latin typeface="Calibri" pitchFamily="34" charset="0"/>
                <a:ea typeface="Calibri" pitchFamily="34" charset="-122"/>
                <a:cs typeface="Calibri" pitchFamily="34" charset="-120"/>
              </a:rPr>
              <a:t>Planifié — Data Engineering</a:t>
            </a:r>
            <a:endParaRPr lang="en-US" sz="900" dirty="0"/>
          </a:p>
        </p:txBody>
      </p:sp>
      <p:sp>
        <p:nvSpPr>
          <p:cNvPr id="54" name="Shape 52"/>
          <p:cNvSpPr/>
          <p:nvPr/>
        </p:nvSpPr>
        <p:spPr>
          <a:xfrm>
            <a:off x="8641080" y="5129784"/>
            <a:ext cx="256032" cy="164592"/>
          </a:xfrm>
          <a:prstGeom prst="roundRect">
            <a:avLst>
              <a:gd name="adj" fmla="val 16667"/>
            </a:avLst>
          </a:prstGeom>
          <a:solidFill>
            <a:srgbClr val="6E5AA6"/>
          </a:solidFill>
          <a:ln/>
        </p:spPr>
        <p:txBody>
          <a:bodyPr/>
          <a:lstStyle/>
          <a:p>
            <a:endParaRPr lang="fr-FR"/>
          </a:p>
        </p:txBody>
      </p:sp>
      <p:sp>
        <p:nvSpPr>
          <p:cNvPr id="55" name="Text 53"/>
          <p:cNvSpPr/>
          <p:nvPr/>
        </p:nvSpPr>
        <p:spPr>
          <a:xfrm>
            <a:off x="8970264" y="5084064"/>
            <a:ext cx="2468880" cy="256032"/>
          </a:xfrm>
          <a:prstGeom prst="rect">
            <a:avLst/>
          </a:prstGeom>
          <a:noFill/>
          <a:ln/>
        </p:spPr>
        <p:txBody>
          <a:bodyPr wrap="square" lIns="0" tIns="0" rIns="0" bIns="0" rtlCol="0" anchor="ctr"/>
          <a:lstStyle/>
          <a:p>
            <a:pPr marL="0" indent="0" algn="l">
              <a:buNone/>
            </a:pPr>
            <a:r>
              <a:rPr lang="en-US" sz="900" dirty="0">
                <a:solidFill>
                  <a:srgbClr val="3A3F4B"/>
                </a:solidFill>
                <a:latin typeface="Calibri" pitchFamily="34" charset="0"/>
                <a:ea typeface="Calibri" pitchFamily="34" charset="-122"/>
                <a:cs typeface="Calibri" pitchFamily="34" charset="-120"/>
              </a:rPr>
              <a:t>Planifié — ML</a:t>
            </a:r>
            <a:endParaRPr lang="en-US" sz="900" dirty="0"/>
          </a:p>
        </p:txBody>
      </p:sp>
      <p:sp>
        <p:nvSpPr>
          <p:cNvPr id="56" name="Shape 54"/>
          <p:cNvSpPr/>
          <p:nvPr/>
        </p:nvSpPr>
        <p:spPr>
          <a:xfrm>
            <a:off x="0" y="6309360"/>
            <a:ext cx="12191695" cy="548640"/>
          </a:xfrm>
          <a:prstGeom prst="rect">
            <a:avLst/>
          </a:prstGeom>
          <a:solidFill>
            <a:srgbClr val="1E2761"/>
          </a:solidFill>
          <a:ln/>
        </p:spPr>
        <p:txBody>
          <a:bodyPr/>
          <a:lstStyle/>
          <a:p>
            <a:endParaRPr lang="fr-FR"/>
          </a:p>
        </p:txBody>
      </p:sp>
      <p:sp>
        <p:nvSpPr>
          <p:cNvPr id="57" name="Text 55"/>
          <p:cNvSpPr/>
          <p:nvPr/>
        </p:nvSpPr>
        <p:spPr>
          <a:xfrm>
            <a:off x="548640" y="6309360"/>
            <a:ext cx="11094415" cy="548640"/>
          </a:xfrm>
          <a:prstGeom prst="rect">
            <a:avLst/>
          </a:prstGeom>
          <a:noFill/>
          <a:ln/>
        </p:spPr>
        <p:txBody>
          <a:bodyPr wrap="square" lIns="0" tIns="0" rIns="0" bIns="0" rtlCol="0" anchor="ctr"/>
          <a:lstStyle/>
          <a:p>
            <a:pPr marL="0" indent="0" algn="ctr">
              <a:buNone/>
            </a:pPr>
            <a:r>
              <a:rPr lang="en-US" sz="1250" i="1" dirty="0">
                <a:solidFill>
                  <a:srgbClr val="FFFFFF"/>
                </a:solidFill>
                <a:latin typeface="Cambria" pitchFamily="34" charset="0"/>
                <a:ea typeface="Cambria" pitchFamily="34" charset="-122"/>
                <a:cs typeface="Cambria" pitchFamily="34" charset="-120"/>
              </a:rPr>
              <a:t>Scénario baseline — 2 développeurs plateforme. Les plages varient selon les ressources allouées (1, 2 ou 3 devs).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1874</TotalTime>
  <Words>2462</Words>
  <Application>Microsoft Office PowerPoint</Application>
  <PresentationFormat>Grand écran</PresentationFormat>
  <Paragraphs>414</Paragraphs>
  <Slides>11</Slides>
  <Notes>11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11</vt:i4>
      </vt:variant>
    </vt:vector>
  </HeadingPairs>
  <TitlesOfParts>
    <vt:vector size="15"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Sofiane Zairi</cp:lastModifiedBy>
  <cp:revision>27</cp:revision>
  <dcterms:created xsi:type="dcterms:W3CDTF">2026-09-10T09:42:18Z</dcterms:created>
  <dcterms:modified xsi:type="dcterms:W3CDTF">2026-09-11T16:59:13Z</dcterms:modified>
</cp:coreProperties>
</file>